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Mx1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5876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Relationship Id="rId9" Type="http://schemas.openxmlformats.org/officeDocument/2006/relationships/image" Target="../media/image2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Relationship Id="rId9" Type="http://schemas.openxmlformats.org/officeDocument/2006/relationships/image" Target="../media/image3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svg"/><Relationship Id="rId11" Type="http://schemas.openxmlformats.org/officeDocument/2006/relationships/image" Target="../media/image41.svg"/><Relationship Id="rId5" Type="http://schemas.openxmlformats.org/officeDocument/2006/relationships/image" Target="../media/image35.sv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svg"/><Relationship Id="rId7" Type="http://schemas.openxmlformats.org/officeDocument/2006/relationships/image" Target="../media/image4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svg"/><Relationship Id="rId5" Type="http://schemas.openxmlformats.org/officeDocument/2006/relationships/image" Target="../media/image44.svg"/><Relationship Id="rId4" Type="http://schemas.openxmlformats.org/officeDocument/2006/relationships/image" Target="../media/image43.svg"/><Relationship Id="rId9" Type="http://schemas.openxmlformats.org/officeDocument/2006/relationships/image" Target="../media/image4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svg"/><Relationship Id="rId5" Type="http://schemas.openxmlformats.org/officeDocument/2006/relationships/image" Target="../media/image51.svg"/><Relationship Id="rId4" Type="http://schemas.openxmlformats.org/officeDocument/2006/relationships/image" Target="../media/image5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714500" y="1286470"/>
            <a:ext cx="5715000" cy="2857500"/>
          </a:xfrm>
          <a:prstGeom prst="rect">
            <a:avLst/>
          </a:prstGeom>
          <a:gradFill rotWithShape="1">
            <a:gsLst>
              <a:gs pos="0">
                <a:srgbClr val="38BDF8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5129659"/>
            <a:ext cx="9144000" cy="13841"/>
          </a:xfrm>
          <a:prstGeom prst="rect">
            <a:avLst/>
          </a:prstGeom>
          <a:gradFill rotWithShape="1">
            <a:gsLst>
              <a:gs pos="5000">
                <a:srgbClr val="000000">
                  <a:alpha val="0"/>
                </a:srgbClr>
              </a:gs>
              <a:gs pos="50000">
                <a:srgbClr val="38BDF8">
                  <a:alpha val="50000"/>
                </a:srgbClr>
              </a:gs>
              <a:gs pos="95000">
                <a:srgbClr val="000000">
                  <a:alpha val="0"/>
                </a:srgbClr>
              </a:gs>
            </a:gsLst>
            <a:lin ang="0" scaled="1"/>
          </a:gradFill>
          <a:ln/>
          <a:effectLst>
            <a:outerShdw blurRad="143510" dist="50800" dir="16200000" algn="bl" rotWithShape="0">
              <a:srgbClr val="38BDF8">
                <a:alpha val="3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9617" y="1003855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79036" y="1535311"/>
            <a:ext cx="3585779" cy="1133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53"/>
              </a:lnSpc>
              <a:spcAft>
                <a:spcPts val="900"/>
              </a:spcAft>
              <a:buNone/>
            </a:pPr>
            <a:r>
              <a:rPr lang="en-US" sz="4050" kern="0" spc="-8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Web Has a</a:t>
            </a:r>
            <a:br/>
            <a:r>
              <a:rPr lang="en-US" sz="4050" kern="0" spc="-8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New Audience</a:t>
            </a:r>
            <a:endParaRPr lang="en-US" sz="4050" dirty="0"/>
          </a:p>
        </p:txBody>
      </p:sp>
      <p:sp>
        <p:nvSpPr>
          <p:cNvPr id="9" name="Text 6"/>
          <p:cNvSpPr/>
          <p:nvPr/>
        </p:nvSpPr>
        <p:spPr>
          <a:xfrm>
            <a:off x="4143375" y="2900958"/>
            <a:ext cx="85725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  <a:effectLst>
            <a:outerShdw blurRad="114300" dist="50800" dir="16200000" algn="bl" rotWithShape="0">
              <a:srgbClr val="38BDF8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867830" y="3123158"/>
            <a:ext cx="540819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3150"/>
              </a:spcAft>
              <a:buNone/>
            </a:pPr>
            <a:r>
              <a:rPr lang="en-US" sz="1350" kern="0" spc="14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Experience (MX) — Open Standards for the Next Web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985096" y="3763119"/>
            <a:ext cx="1173807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95"/>
              </a:lnSpc>
              <a:buNone/>
            </a:pPr>
            <a:r>
              <a:rPr lang="en-US" sz="1130" b="1" kern="0" spc="1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Cranstoun</a:t>
            </a:r>
            <a:endParaRPr lang="en-US" sz="1130" dirty="0"/>
          </a:p>
        </p:txBody>
      </p:sp>
      <p:sp>
        <p:nvSpPr>
          <p:cNvPr id="12" name="Text 9"/>
          <p:cNvSpPr/>
          <p:nvPr/>
        </p:nvSpPr>
        <p:spPr>
          <a:xfrm>
            <a:off x="3562871" y="4035475"/>
            <a:ext cx="1242566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The Gathering</a:t>
            </a:r>
            <a:endParaRPr lang="en-US" sz="8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129659"/>
            <a:ext cx="9144000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38BDF8">
                  <a:alpha val="40000"/>
                </a:srgbClr>
              </a:gs>
              <a:gs pos="70000">
                <a:srgbClr val="38BDF8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38BDF8">
                  <a:alpha val="2000"/>
                </a:srgbClr>
              </a:gs>
              <a:gs pos="100000">
                <a:srgbClr val="38BDF8">
                  <a:alpha val="200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342900"/>
            <a:ext cx="8805672" cy="40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10"/>
              </a:lnSpc>
              <a:spcAft>
                <a:spcPts val="340"/>
              </a:spcAft>
              <a:buNone/>
            </a:pPr>
            <a:r>
              <a:rPr lang="en-US" sz="2140" b="1" kern="0" spc="-30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Your Website Had a Visitor This Morning</a:t>
            </a:r>
            <a:endParaRPr lang="en-US" sz="2140" dirty="0"/>
          </a:p>
        </p:txBody>
      </p:sp>
      <p:sp>
        <p:nvSpPr>
          <p:cNvPr id="5" name="Text 3"/>
          <p:cNvSpPr/>
          <p:nvPr/>
        </p:nvSpPr>
        <p:spPr>
          <a:xfrm>
            <a:off x="457200" y="793700"/>
            <a:ext cx="429220" cy="21580"/>
          </a:xfrm>
          <a:prstGeom prst="roundRect">
            <a:avLst>
              <a:gd name="adj" fmla="val 64736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073051"/>
            <a:ext cx="3000970" cy="2355354"/>
          </a:xfrm>
          <a:prstGeom prst="roundRect">
            <a:avLst>
              <a:gd name="adj" fmla="val 3667"/>
            </a:avLst>
          </a:prstGeom>
          <a:solidFill>
            <a:srgbClr val="1E293B"/>
          </a:solidFill>
          <a:ln w="9525">
            <a:solidFill>
              <a:srgbClr val="38BDF8">
                <a:alpha val="15000"/>
              </a:srgbClr>
            </a:solidFill>
          </a:ln>
          <a:effectLst>
            <a:outerShdw blurRad="571500" dist="50800" dir="16200000" algn="bl" rotWithShape="0">
              <a:srgbClr val="38BDF8">
                <a:alpha val="8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6725" y="1082576"/>
            <a:ext cx="2981920" cy="380405"/>
          </a:xfrm>
          <a:prstGeom prst="rect">
            <a:avLst/>
          </a:prstGeom>
          <a:solidFill>
            <a:srgbClr val="0F172A">
              <a:alpha val="8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6725" y="1453455"/>
            <a:ext cx="2981920" cy="9525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1025" y="1232446"/>
            <a:ext cx="70991" cy="70991"/>
          </a:xfrm>
          <a:prstGeom prst="ellipse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3007" y="1232446"/>
            <a:ext cx="70991" cy="70991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64989" y="1232446"/>
            <a:ext cx="70991" cy="70991"/>
          </a:xfrm>
          <a:prstGeom prst="ellipse">
            <a:avLst/>
          </a:prstGeom>
          <a:solidFill>
            <a:srgbClr val="22C55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06971" y="1153567"/>
            <a:ext cx="2373922" cy="228898"/>
          </a:xfrm>
          <a:prstGeom prst="roundRect">
            <a:avLst>
              <a:gd name="adj" fmla="val 18864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94A3B8">
                <a:alpha val="15000"/>
              </a:srgbClr>
            </a:solidFill>
          </a:ln>
        </p:spPr>
        <p:txBody>
          <a:bodyPr wrap="none" lIns="100330" tIns="35560" rIns="100330" bIns="3556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yoursite.com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695325" y="1663601"/>
            <a:ext cx="1388566" cy="100310"/>
          </a:xfrm>
          <a:prstGeom prst="roundRect">
            <a:avLst>
              <a:gd name="adj" fmla="val 29120"/>
            </a:avLst>
          </a:prstGeom>
          <a:solidFill>
            <a:srgbClr val="94A3B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95325" y="1878211"/>
            <a:ext cx="2272159" cy="57150"/>
          </a:xfrm>
          <a:prstGeom prst="roundRect">
            <a:avLst>
              <a:gd name="adj" fmla="val 51111"/>
            </a:avLst>
          </a:prstGeom>
          <a:solidFill>
            <a:srgbClr val="94A3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5325" y="2006352"/>
            <a:ext cx="2524720" cy="57150"/>
          </a:xfrm>
          <a:prstGeom prst="roundRect">
            <a:avLst>
              <a:gd name="adj" fmla="val 51111"/>
            </a:avLst>
          </a:prstGeom>
          <a:solidFill>
            <a:srgbClr val="94A3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5325" y="2134493"/>
            <a:ext cx="1767185" cy="57150"/>
          </a:xfrm>
          <a:prstGeom prst="roundRect">
            <a:avLst>
              <a:gd name="adj" fmla="val 51111"/>
            </a:avLst>
          </a:prstGeom>
          <a:solidFill>
            <a:srgbClr val="94A3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5325" y="2262634"/>
            <a:ext cx="1009799" cy="57150"/>
          </a:xfrm>
          <a:prstGeom prst="roundRect">
            <a:avLst>
              <a:gd name="adj" fmla="val 51111"/>
            </a:avLst>
          </a:prstGeom>
          <a:solidFill>
            <a:srgbClr val="94A3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5325" y="2491085"/>
            <a:ext cx="1009799" cy="100310"/>
          </a:xfrm>
          <a:prstGeom prst="roundRect">
            <a:avLst>
              <a:gd name="adj" fmla="val 29120"/>
            </a:avLst>
          </a:prstGeom>
          <a:solidFill>
            <a:srgbClr val="94A3B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5325" y="2705695"/>
            <a:ext cx="2524720" cy="57150"/>
          </a:xfrm>
          <a:prstGeom prst="roundRect">
            <a:avLst>
              <a:gd name="adj" fmla="val 51111"/>
            </a:avLst>
          </a:prstGeom>
          <a:solidFill>
            <a:srgbClr val="94A3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5325" y="2833836"/>
            <a:ext cx="2272159" cy="57150"/>
          </a:xfrm>
          <a:prstGeom prst="roundRect">
            <a:avLst>
              <a:gd name="adj" fmla="val 51111"/>
            </a:avLst>
          </a:prstGeom>
          <a:solidFill>
            <a:srgbClr val="94A3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5325" y="2961977"/>
            <a:ext cx="1767185" cy="57150"/>
          </a:xfrm>
          <a:prstGeom prst="roundRect">
            <a:avLst>
              <a:gd name="adj" fmla="val 51111"/>
            </a:avLst>
          </a:prstGeom>
          <a:solidFill>
            <a:srgbClr val="94A3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95325" y="3090118"/>
            <a:ext cx="1009799" cy="57150"/>
          </a:xfrm>
          <a:prstGeom prst="roundRect">
            <a:avLst>
              <a:gd name="adj" fmla="val 51111"/>
            </a:avLst>
          </a:prstGeom>
          <a:solidFill>
            <a:srgbClr val="94A3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529060" y="2012305"/>
            <a:ext cx="857250" cy="857250"/>
          </a:xfrm>
          <a:prstGeom prst="ellipse">
            <a:avLst/>
          </a:prstGeom>
          <a:noFill/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529060" y="2012305"/>
            <a:ext cx="857250" cy="857250"/>
          </a:xfrm>
          <a:prstGeom prst="ellipse">
            <a:avLst/>
          </a:prstGeom>
          <a:noFill/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529060" y="2012305"/>
            <a:ext cx="857250" cy="857250"/>
          </a:xfrm>
          <a:prstGeom prst="ellipse">
            <a:avLst/>
          </a:prstGeom>
          <a:noFill/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64804" y="2248049"/>
            <a:ext cx="385763" cy="385763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203171" y="3514725"/>
            <a:ext cx="161320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5"/>
              </a:lnSpc>
              <a:buNone/>
            </a:pPr>
            <a:r>
              <a:rPr lang="en-US" sz="730" kern="0" spc="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IN MILLISECONDS</a:t>
            </a:r>
            <a:endParaRPr lang="en-US" sz="73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455" y="3519943"/>
            <a:ext cx="132588" cy="13258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858220" y="1494086"/>
            <a:ext cx="4828580" cy="888026"/>
          </a:xfrm>
          <a:prstGeom prst="rect">
            <a:avLst/>
          </a:prstGeom>
          <a:noFill/>
          <a:ln/>
        </p:spPr>
        <p:txBody>
          <a:bodyPr wrap="square" lIns="200660" tIns="0" rIns="0" bIns="0" rtlCol="0" anchor="t"/>
          <a:lstStyle/>
          <a:p>
            <a:pPr marL="0" indent="0" algn="l">
              <a:lnSpc>
                <a:spcPts val="2263"/>
              </a:lnSpc>
              <a:buNone/>
            </a:pPr>
            <a:r>
              <a:rPr lang="en-US" sz="1460" i="1" dirty="0">
                <a:solidFill>
                  <a:srgbClr val="F8FAFC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It didn't have eyes. It didn't scroll. It didn't click your cookie banner. It </a:t>
            </a:r>
            <a:r>
              <a:rPr lang="en-US" sz="1460" i="1" dirty="0">
                <a:solidFill>
                  <a:srgbClr val="38BD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parsed your HTML in milliseconds</a:t>
            </a:r>
            <a:r>
              <a:rPr lang="en-US" sz="1460" i="1" dirty="0">
                <a:solidFill>
                  <a:srgbClr val="F8FAFC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 — and moved on.</a:t>
            </a:r>
            <a:endParaRPr lang="en-US" sz="1460" dirty="0"/>
          </a:p>
        </p:txBody>
      </p:sp>
      <p:sp>
        <p:nvSpPr>
          <p:cNvPr id="30" name="Text 26"/>
          <p:cNvSpPr/>
          <p:nvPr/>
        </p:nvSpPr>
        <p:spPr>
          <a:xfrm>
            <a:off x="3858220" y="1494086"/>
            <a:ext cx="19050" cy="862161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3858220" y="2641997"/>
            <a:ext cx="4828580" cy="590550"/>
          </a:xfrm>
          <a:prstGeom prst="roundRect">
            <a:avLst>
              <a:gd name="adj" fmla="val 9677"/>
            </a:avLst>
          </a:prstGeom>
          <a:solidFill>
            <a:srgbClr val="38BDF8">
              <a:alpha val="5000"/>
            </a:srgbClr>
          </a:solidFill>
          <a:ln w="9525">
            <a:solidFill>
              <a:srgbClr val="38BDF8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98723" y="2767170"/>
            <a:ext cx="132588" cy="13258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205139" y="2765822"/>
            <a:ext cx="4415239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don't render JavaScript, don't interact with visual UI, and rely entirely on HTML structure and metadata to make decisions.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805672" cy="32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96"/>
              </a:lnSpc>
              <a:buNone/>
            </a:pPr>
            <a:r>
              <a:rPr lang="en-US" sz="2360" b="1" kern="0" spc="-47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Problem</a:t>
            </a:r>
            <a:endParaRPr lang="en-US" sz="2360" dirty="0"/>
          </a:p>
        </p:txBody>
      </p:sp>
      <p:sp>
        <p:nvSpPr>
          <p:cNvPr id="3" name="Text 1"/>
          <p:cNvSpPr/>
          <p:nvPr/>
        </p:nvSpPr>
        <p:spPr>
          <a:xfrm>
            <a:off x="457200" y="758875"/>
            <a:ext cx="342900" cy="29170"/>
          </a:xfrm>
          <a:prstGeom prst="roundRect">
            <a:avLst>
              <a:gd name="adj" fmla="val 47892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231255"/>
            <a:ext cx="285750" cy="28575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707" y="1307762"/>
            <a:ext cx="132588" cy="1325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9270" y="1255961"/>
            <a:ext cx="1449497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Humans</a:t>
            </a:r>
            <a:endParaRPr lang="en-US" sz="1240" dirty="0"/>
          </a:p>
        </p:txBody>
      </p:sp>
      <p:sp>
        <p:nvSpPr>
          <p:cNvPr id="7" name="Text 4"/>
          <p:cNvSpPr/>
          <p:nvPr/>
        </p:nvSpPr>
        <p:spPr>
          <a:xfrm>
            <a:off x="457200" y="1717625"/>
            <a:ext cx="57150" cy="57150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00670" y="1660475"/>
            <a:ext cx="1723549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visuals and JavaScript</a:t>
            </a:r>
            <a:endParaRPr lang="en-US" sz="1010" dirty="0"/>
          </a:p>
        </p:txBody>
      </p:sp>
      <p:sp>
        <p:nvSpPr>
          <p:cNvPr id="9" name="Text 6"/>
          <p:cNvSpPr/>
          <p:nvPr/>
        </p:nvSpPr>
        <p:spPr>
          <a:xfrm>
            <a:off x="457200" y="2010370"/>
            <a:ext cx="57150" cy="57150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00670" y="1953220"/>
            <a:ext cx="1809988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 for eyes and thumbs</a:t>
            </a:r>
            <a:endParaRPr lang="en-US" sz="1010" dirty="0"/>
          </a:p>
        </p:txBody>
      </p:sp>
      <p:sp>
        <p:nvSpPr>
          <p:cNvPr id="11" name="Text 8"/>
          <p:cNvSpPr/>
          <p:nvPr/>
        </p:nvSpPr>
        <p:spPr>
          <a:xfrm>
            <a:off x="457200" y="2303115"/>
            <a:ext cx="57150" cy="57150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00670" y="2245965"/>
            <a:ext cx="181801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years of design for people</a:t>
            </a:r>
            <a:endParaRPr lang="en-US" sz="1010" dirty="0"/>
          </a:p>
        </p:txBody>
      </p:sp>
      <p:sp>
        <p:nvSpPr>
          <p:cNvPr id="13" name="Text 10"/>
          <p:cNvSpPr/>
          <p:nvPr/>
        </p:nvSpPr>
        <p:spPr>
          <a:xfrm>
            <a:off x="4439245" y="1002655"/>
            <a:ext cx="7590" cy="3231803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704606" y="1231255"/>
            <a:ext cx="285750" cy="285750"/>
          </a:xfrm>
          <a:prstGeom prst="ellipse">
            <a:avLst/>
          </a:prstGeom>
          <a:solidFill>
            <a:srgbClr val="F87171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1112" y="1307762"/>
            <a:ext cx="132588" cy="1325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76676" y="1255961"/>
            <a:ext cx="1565404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by Machines</a:t>
            </a:r>
            <a:endParaRPr lang="en-US" sz="1240" dirty="0"/>
          </a:p>
        </p:txBody>
      </p:sp>
      <p:sp>
        <p:nvSpPr>
          <p:cNvPr id="17" name="Text 13"/>
          <p:cNvSpPr/>
          <p:nvPr/>
        </p:nvSpPr>
        <p:spPr>
          <a:xfrm>
            <a:off x="4704606" y="1717625"/>
            <a:ext cx="57150" cy="57150"/>
          </a:xfrm>
          <a:prstGeom prst="ellipse">
            <a:avLst/>
          </a:prstGeom>
          <a:solidFill>
            <a:srgbClr val="F8717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848076" y="1660475"/>
            <a:ext cx="1882839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parse HTML literally</a:t>
            </a:r>
            <a:endParaRPr lang="en-US" sz="1010" dirty="0"/>
          </a:p>
        </p:txBody>
      </p:sp>
      <p:sp>
        <p:nvSpPr>
          <p:cNvPr id="19" name="Text 15"/>
          <p:cNvSpPr/>
          <p:nvPr/>
        </p:nvSpPr>
        <p:spPr>
          <a:xfrm>
            <a:off x="4704606" y="2010370"/>
            <a:ext cx="57150" cy="57150"/>
          </a:xfrm>
          <a:prstGeom prst="ellipse">
            <a:avLst/>
          </a:prstGeom>
          <a:solidFill>
            <a:srgbClr val="F8717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848076" y="1953220"/>
            <a:ext cx="1433944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charitable guessing</a:t>
            </a:r>
            <a:endParaRPr lang="en-US" sz="1010" dirty="0"/>
          </a:p>
        </p:txBody>
      </p:sp>
      <p:sp>
        <p:nvSpPr>
          <p:cNvPr id="21" name="Text 17"/>
          <p:cNvSpPr/>
          <p:nvPr/>
        </p:nvSpPr>
        <p:spPr>
          <a:xfrm>
            <a:off x="4704606" y="2303115"/>
            <a:ext cx="57150" cy="57150"/>
          </a:xfrm>
          <a:prstGeom prst="ellipse">
            <a:avLst/>
          </a:prstGeom>
          <a:solidFill>
            <a:srgbClr val="F8717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848076" y="2245965"/>
            <a:ext cx="1551161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compound silently</a:t>
            </a:r>
            <a:endParaRPr lang="en-US" sz="1010" dirty="0"/>
          </a:p>
        </p:txBody>
      </p:sp>
      <p:sp>
        <p:nvSpPr>
          <p:cNvPr id="23" name="Text 19"/>
          <p:cNvSpPr/>
          <p:nvPr/>
        </p:nvSpPr>
        <p:spPr>
          <a:xfrm>
            <a:off x="457200" y="4291608"/>
            <a:ext cx="4043065" cy="594122"/>
          </a:xfrm>
          <a:prstGeom prst="roundRect">
            <a:avLst>
              <a:gd name="adj" fmla="val 14536"/>
            </a:avLst>
          </a:prstGeom>
          <a:solidFill>
            <a:srgbClr val="F87171">
              <a:alpha val="8000"/>
            </a:srgbClr>
          </a:solidFill>
          <a:ln w="9525">
            <a:solidFill>
              <a:srgbClr val="F87171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624185" y="4445794"/>
            <a:ext cx="285750" cy="285750"/>
          </a:xfrm>
          <a:prstGeom prst="ellipse">
            <a:avLst/>
          </a:prstGeom>
          <a:solidFill>
            <a:srgbClr val="F87171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0692" y="4522300"/>
            <a:ext cx="132588" cy="1325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24235" y="4429274"/>
            <a:ext cx="3585761" cy="149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£2,030 river cruise → misread as £203,000</a:t>
            </a:r>
            <a:endParaRPr lang="en-US" sz="840" dirty="0"/>
          </a:p>
        </p:txBody>
      </p:sp>
      <p:sp>
        <p:nvSpPr>
          <p:cNvPr id="27" name="Text 22"/>
          <p:cNvSpPr/>
          <p:nvPr/>
        </p:nvSpPr>
        <p:spPr>
          <a:xfrm>
            <a:off x="1024235" y="4607719"/>
            <a:ext cx="3585761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6"/>
              </a:lnSpc>
              <a:buNone/>
            </a:pPr>
            <a:r>
              <a:rPr lang="en-US" sz="79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misinterpreted by 100× — a formatting error became a financial one</a:t>
            </a:r>
            <a:endParaRPr lang="en-US" sz="790" dirty="0"/>
          </a:p>
        </p:txBody>
      </p:sp>
      <p:sp>
        <p:nvSpPr>
          <p:cNvPr id="28" name="Text 23"/>
          <p:cNvSpPr/>
          <p:nvPr/>
        </p:nvSpPr>
        <p:spPr>
          <a:xfrm>
            <a:off x="4643735" y="4291608"/>
            <a:ext cx="4043065" cy="594122"/>
          </a:xfrm>
          <a:prstGeom prst="roundRect">
            <a:avLst>
              <a:gd name="adj" fmla="val 14536"/>
            </a:avLst>
          </a:prstGeom>
          <a:solidFill>
            <a:srgbClr val="F87171">
              <a:alpha val="8000"/>
            </a:srgbClr>
          </a:solidFill>
          <a:ln w="9525">
            <a:solidFill>
              <a:srgbClr val="F87171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4810720" y="4445794"/>
            <a:ext cx="285750" cy="285750"/>
          </a:xfrm>
          <a:prstGeom prst="ellipse">
            <a:avLst/>
          </a:prstGeom>
          <a:solidFill>
            <a:srgbClr val="F87171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87227" y="4522300"/>
            <a:ext cx="132588" cy="13258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210770" y="4429274"/>
            <a:ext cx="3582323" cy="149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200-token answer → 40,000 tokens burned arguing</a:t>
            </a:r>
            <a:endParaRPr lang="en-US" sz="840" dirty="0"/>
          </a:p>
        </p:txBody>
      </p:sp>
      <p:sp>
        <p:nvSpPr>
          <p:cNvPr id="32" name="Text 26"/>
          <p:cNvSpPr/>
          <p:nvPr/>
        </p:nvSpPr>
        <p:spPr>
          <a:xfrm>
            <a:off x="5210770" y="4607719"/>
            <a:ext cx="3582323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6"/>
              </a:lnSpc>
              <a:buNone/>
            </a:pPr>
            <a:r>
              <a:rPr lang="en-US" sz="79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200× wasted compute — the correct answer existed but wasn't structured</a:t>
            </a:r>
            <a:endParaRPr lang="en-US" sz="7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400050" cy="21580"/>
          </a:xfrm>
          <a:prstGeom prst="roundRect">
            <a:avLst>
              <a:gd name="adj" fmla="val 64736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35471"/>
            <a:ext cx="8805672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75"/>
              </a:lnSpc>
              <a:spcAft>
                <a:spcPts val="230"/>
              </a:spcAft>
              <a:buNone/>
            </a:pPr>
            <a:r>
              <a:rPr lang="en-US" sz="2250" kern="0" spc="-30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January 2026: </a:t>
            </a:r>
            <a:r>
              <a:rPr lang="en-US" sz="2250" b="1" kern="0" spc="-30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Tipping Point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57200" y="1151037"/>
            <a:ext cx="4043065" cy="1579364"/>
          </a:xfrm>
          <a:prstGeom prst="roundRect">
            <a:avLst>
              <a:gd name="adj" fmla="val 7237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7345" y="1389162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437" y="1480253"/>
            <a:ext cx="132588" cy="1325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345" y="1804392"/>
            <a:ext cx="398505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4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730" dirty="0"/>
          </a:p>
        </p:txBody>
      </p:sp>
      <p:sp>
        <p:nvSpPr>
          <p:cNvPr id="8" name="Text 5"/>
          <p:cNvSpPr/>
          <p:nvPr/>
        </p:nvSpPr>
        <p:spPr>
          <a:xfrm>
            <a:off x="667345" y="1986558"/>
            <a:ext cx="3876368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9"/>
              </a:lnSpc>
              <a:buNone/>
            </a:pPr>
            <a:r>
              <a:rPr lang="en-US" sz="146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Alexa+</a:t>
            </a:r>
            <a:endParaRPr lang="en-US" sz="1460" dirty="0"/>
          </a:p>
        </p:txBody>
      </p:sp>
      <p:sp>
        <p:nvSpPr>
          <p:cNvPr id="9" name="Text 6"/>
          <p:cNvSpPr/>
          <p:nvPr/>
        </p:nvSpPr>
        <p:spPr>
          <a:xfrm>
            <a:off x="667345" y="2270671"/>
            <a:ext cx="3985052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assistant that transacts across third-party sites</a:t>
            </a:r>
            <a:endParaRPr lang="en-US" sz="840" dirty="0"/>
          </a:p>
        </p:txBody>
      </p:sp>
      <p:sp>
        <p:nvSpPr>
          <p:cNvPr id="10" name="Text 7"/>
          <p:cNvSpPr/>
          <p:nvPr/>
        </p:nvSpPr>
        <p:spPr>
          <a:xfrm>
            <a:off x="4643735" y="1151037"/>
            <a:ext cx="4043065" cy="1579364"/>
          </a:xfrm>
          <a:prstGeom prst="roundRect">
            <a:avLst>
              <a:gd name="adj" fmla="val 7237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853880" y="1389162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44972" y="1480253"/>
            <a:ext cx="132588" cy="132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53880" y="1804392"/>
            <a:ext cx="398505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4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730" dirty="0"/>
          </a:p>
        </p:txBody>
      </p:sp>
      <p:sp>
        <p:nvSpPr>
          <p:cNvPr id="14" name="Text 10"/>
          <p:cNvSpPr/>
          <p:nvPr/>
        </p:nvSpPr>
        <p:spPr>
          <a:xfrm>
            <a:off x="4853880" y="1986558"/>
            <a:ext cx="3876368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9"/>
              </a:lnSpc>
              <a:buNone/>
            </a:pPr>
            <a:r>
              <a:rPr lang="en-US" sz="146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Copilot Checkout</a:t>
            </a:r>
            <a:endParaRPr lang="en-US" sz="1460" dirty="0"/>
          </a:p>
        </p:txBody>
      </p:sp>
      <p:sp>
        <p:nvSpPr>
          <p:cNvPr id="15" name="Text 11"/>
          <p:cNvSpPr/>
          <p:nvPr/>
        </p:nvSpPr>
        <p:spPr>
          <a:xfrm>
            <a:off x="4853880" y="2270671"/>
            <a:ext cx="3985052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Agent-mediated purchases in Edge and Windows</a:t>
            </a:r>
            <a:endParaRPr lang="en-US" sz="840" dirty="0"/>
          </a:p>
        </p:txBody>
      </p:sp>
      <p:sp>
        <p:nvSpPr>
          <p:cNvPr id="16" name="Text 12"/>
          <p:cNvSpPr/>
          <p:nvPr/>
        </p:nvSpPr>
        <p:spPr>
          <a:xfrm>
            <a:off x="457200" y="2873871"/>
            <a:ext cx="4043065" cy="1579513"/>
          </a:xfrm>
          <a:prstGeom prst="roundRect">
            <a:avLst>
              <a:gd name="adj" fmla="val 7236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667345" y="3111996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437" y="3203088"/>
            <a:ext cx="132588" cy="1325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7345" y="3527227"/>
            <a:ext cx="398505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4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730" dirty="0"/>
          </a:p>
        </p:txBody>
      </p:sp>
      <p:sp>
        <p:nvSpPr>
          <p:cNvPr id="20" name="Text 15"/>
          <p:cNvSpPr/>
          <p:nvPr/>
        </p:nvSpPr>
        <p:spPr>
          <a:xfrm>
            <a:off x="667345" y="3709392"/>
            <a:ext cx="3876368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9"/>
              </a:lnSpc>
              <a:buNone/>
            </a:pPr>
            <a:r>
              <a:rPr lang="en-US" sz="146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Universal Commerce Protocol</a:t>
            </a:r>
            <a:endParaRPr lang="en-US" sz="1460" dirty="0"/>
          </a:p>
        </p:txBody>
      </p:sp>
      <p:sp>
        <p:nvSpPr>
          <p:cNvPr id="21" name="Text 16"/>
          <p:cNvSpPr/>
          <p:nvPr/>
        </p:nvSpPr>
        <p:spPr>
          <a:xfrm>
            <a:off x="667345" y="3993505"/>
            <a:ext cx="3985052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contracts between retailers and agents</a:t>
            </a:r>
            <a:endParaRPr lang="en-US" sz="840" dirty="0"/>
          </a:p>
        </p:txBody>
      </p:sp>
      <p:sp>
        <p:nvSpPr>
          <p:cNvPr id="22" name="Text 17"/>
          <p:cNvSpPr/>
          <p:nvPr/>
        </p:nvSpPr>
        <p:spPr>
          <a:xfrm>
            <a:off x="4643735" y="2873871"/>
            <a:ext cx="4043065" cy="1579513"/>
          </a:xfrm>
          <a:prstGeom prst="roundRect">
            <a:avLst>
              <a:gd name="adj" fmla="val 7236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4853880" y="3111996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44972" y="3203088"/>
            <a:ext cx="132588" cy="1325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853880" y="3527227"/>
            <a:ext cx="398505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4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730" dirty="0"/>
          </a:p>
        </p:txBody>
      </p:sp>
      <p:sp>
        <p:nvSpPr>
          <p:cNvPr id="26" name="Text 20"/>
          <p:cNvSpPr/>
          <p:nvPr/>
        </p:nvSpPr>
        <p:spPr>
          <a:xfrm>
            <a:off x="4853880" y="3709392"/>
            <a:ext cx="3876368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9"/>
              </a:lnSpc>
              <a:buNone/>
            </a:pPr>
            <a:r>
              <a:rPr lang="en-US" sz="146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Claude Cowork</a:t>
            </a:r>
            <a:endParaRPr lang="en-US" sz="1460" dirty="0"/>
          </a:p>
        </p:txBody>
      </p:sp>
      <p:sp>
        <p:nvSpPr>
          <p:cNvPr id="27" name="Text 21"/>
          <p:cNvSpPr/>
          <p:nvPr/>
        </p:nvSpPr>
        <p:spPr>
          <a:xfrm>
            <a:off x="4853880" y="3993505"/>
            <a:ext cx="3985052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agent sessions across documents and services</a:t>
            </a:r>
            <a:endParaRPr lang="en-US" sz="840" dirty="0"/>
          </a:p>
        </p:txBody>
      </p:sp>
      <p:sp>
        <p:nvSpPr>
          <p:cNvPr id="28" name="Text 22"/>
          <p:cNvSpPr/>
          <p:nvPr/>
        </p:nvSpPr>
        <p:spPr>
          <a:xfrm>
            <a:off x="234315" y="4654004"/>
            <a:ext cx="8675370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5"/>
              </a:lnSpc>
              <a:buNone/>
            </a:pPr>
            <a:r>
              <a:rPr lang="en-US" sz="107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platforms. One month. One message:</a:t>
            </a:r>
            <a:r>
              <a:rPr lang="en-US" sz="107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7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now act on pages, not just index them.</a:t>
            </a:r>
            <a:endParaRPr lang="en-US" sz="1070" dirty="0"/>
          </a:p>
        </p:txBody>
      </p:sp>
      <p:sp>
        <p:nvSpPr>
          <p:cNvPr id="29" name="Text 23"/>
          <p:cNvSpPr/>
          <p:nvPr/>
        </p:nvSpPr>
        <p:spPr>
          <a:xfrm>
            <a:off x="3429000" y="435174"/>
            <a:ext cx="2286000" cy="429220"/>
          </a:xfrm>
          <a:prstGeom prst="rect">
            <a:avLst/>
          </a:prstGeom>
          <a:gradFill rotWithShape="1">
            <a:gsLst>
              <a:gs pos="0">
                <a:srgbClr val="38BDF8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466725" y="1160562"/>
            <a:ext cx="4024017" cy="21580"/>
          </a:xfrm>
          <a:custGeom>
            <a:avLst/>
            <a:gdLst/>
            <a:ahLst/>
            <a:cxnLst/>
            <a:rect l="l" t="t" r="r" b="b"/>
            <a:pathLst>
              <a:path w="4024017" h="21580">
                <a:moveTo>
                  <a:pt x="114300" y="0"/>
                </a:moveTo>
                <a:lnTo>
                  <a:pt x="3909717" y="0"/>
                </a:lnTo>
                <a:lnTo>
                  <a:pt x="3934403" y="2698"/>
                </a:lnTo>
                <a:lnTo>
                  <a:pt x="3944419" y="5395"/>
                </a:lnTo>
                <a:lnTo>
                  <a:pt x="3951960" y="8093"/>
                </a:lnTo>
                <a:lnTo>
                  <a:pt x="3958196" y="10790"/>
                </a:lnTo>
                <a:lnTo>
                  <a:pt x="3963581" y="13488"/>
                </a:lnTo>
                <a:lnTo>
                  <a:pt x="3968351" y="16185"/>
                </a:lnTo>
                <a:lnTo>
                  <a:pt x="3972646" y="18883"/>
                </a:lnTo>
                <a:lnTo>
                  <a:pt x="3976557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solidFill>
            <a:srgbClr val="38BDF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4653260" y="1160562"/>
            <a:ext cx="4024017" cy="21580"/>
          </a:xfrm>
          <a:custGeom>
            <a:avLst/>
            <a:gdLst/>
            <a:ahLst/>
            <a:cxnLst/>
            <a:rect l="l" t="t" r="r" b="b"/>
            <a:pathLst>
              <a:path w="4024017" h="21580">
                <a:moveTo>
                  <a:pt x="114300" y="0"/>
                </a:moveTo>
                <a:lnTo>
                  <a:pt x="3909717" y="0"/>
                </a:lnTo>
                <a:lnTo>
                  <a:pt x="3934403" y="2698"/>
                </a:lnTo>
                <a:lnTo>
                  <a:pt x="3944419" y="5395"/>
                </a:lnTo>
                <a:lnTo>
                  <a:pt x="3951960" y="8093"/>
                </a:lnTo>
                <a:lnTo>
                  <a:pt x="3958196" y="10790"/>
                </a:lnTo>
                <a:lnTo>
                  <a:pt x="3963581" y="13488"/>
                </a:lnTo>
                <a:lnTo>
                  <a:pt x="3968351" y="16185"/>
                </a:lnTo>
                <a:lnTo>
                  <a:pt x="3972646" y="18883"/>
                </a:lnTo>
                <a:lnTo>
                  <a:pt x="3976557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solidFill>
            <a:srgbClr val="38BDF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466725" y="2883396"/>
            <a:ext cx="4024017" cy="21580"/>
          </a:xfrm>
          <a:custGeom>
            <a:avLst/>
            <a:gdLst/>
            <a:ahLst/>
            <a:cxnLst/>
            <a:rect l="l" t="t" r="r" b="b"/>
            <a:pathLst>
              <a:path w="4024017" h="21580">
                <a:moveTo>
                  <a:pt x="114300" y="0"/>
                </a:moveTo>
                <a:lnTo>
                  <a:pt x="3909717" y="0"/>
                </a:lnTo>
                <a:lnTo>
                  <a:pt x="3934403" y="2698"/>
                </a:lnTo>
                <a:lnTo>
                  <a:pt x="3944419" y="5395"/>
                </a:lnTo>
                <a:lnTo>
                  <a:pt x="3951960" y="8093"/>
                </a:lnTo>
                <a:lnTo>
                  <a:pt x="3958196" y="10790"/>
                </a:lnTo>
                <a:lnTo>
                  <a:pt x="3963581" y="13488"/>
                </a:lnTo>
                <a:lnTo>
                  <a:pt x="3968351" y="16185"/>
                </a:lnTo>
                <a:lnTo>
                  <a:pt x="3972646" y="18883"/>
                </a:lnTo>
                <a:lnTo>
                  <a:pt x="3976557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solidFill>
            <a:srgbClr val="38BDF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4653260" y="2883396"/>
            <a:ext cx="4024017" cy="21580"/>
          </a:xfrm>
          <a:custGeom>
            <a:avLst/>
            <a:gdLst/>
            <a:ahLst/>
            <a:cxnLst/>
            <a:rect l="l" t="t" r="r" b="b"/>
            <a:pathLst>
              <a:path w="4024017" h="21580">
                <a:moveTo>
                  <a:pt x="114300" y="0"/>
                </a:moveTo>
                <a:lnTo>
                  <a:pt x="3909717" y="0"/>
                </a:lnTo>
                <a:lnTo>
                  <a:pt x="3934403" y="2698"/>
                </a:lnTo>
                <a:lnTo>
                  <a:pt x="3944419" y="5395"/>
                </a:lnTo>
                <a:lnTo>
                  <a:pt x="3951960" y="8093"/>
                </a:lnTo>
                <a:lnTo>
                  <a:pt x="3958196" y="10790"/>
                </a:lnTo>
                <a:lnTo>
                  <a:pt x="3963581" y="13488"/>
                </a:lnTo>
                <a:lnTo>
                  <a:pt x="3968351" y="16185"/>
                </a:lnTo>
                <a:lnTo>
                  <a:pt x="3972646" y="18883"/>
                </a:lnTo>
                <a:lnTo>
                  <a:pt x="3976557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solidFill>
            <a:srgbClr val="38BDF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500" y="0"/>
            <a:ext cx="2857500" cy="2715220"/>
          </a:xfrm>
          <a:prstGeom prst="ellipse">
            <a:avLst/>
          </a:prstGeom>
          <a:gradFill rotWithShape="1">
            <a:gsLst>
              <a:gs pos="0">
                <a:srgbClr val="38BDF8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857500"/>
            <a:ext cx="3000970" cy="2286000"/>
          </a:xfrm>
          <a:prstGeom prst="ellipse">
            <a:avLst/>
          </a:prstGeom>
          <a:gradFill rotWithShape="1">
            <a:gsLst>
              <a:gs pos="0">
                <a:srgbClr val="38BDF8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991741" y="1062038"/>
            <a:ext cx="5160370" cy="449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3540"/>
              </a:lnSpc>
              <a:spcAft>
                <a:spcPts val="340"/>
              </a:spcAft>
              <a:buNone/>
            </a:pPr>
            <a:r>
              <a:rPr lang="en-US" sz="2360" kern="0" spc="-30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What is </a:t>
            </a:r>
            <a:r>
              <a:rPr lang="en-US" sz="2360" b="1" kern="0" spc="-30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Machine Experience (MX)</a:t>
            </a:r>
            <a:r>
              <a:rPr lang="en-US" sz="2360" kern="0" spc="-30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?</a:t>
            </a:r>
            <a:endParaRPr lang="en-US" sz="2360" dirty="0"/>
          </a:p>
        </p:txBody>
      </p:sp>
      <p:sp>
        <p:nvSpPr>
          <p:cNvPr id="5" name="Text 3"/>
          <p:cNvSpPr/>
          <p:nvPr/>
        </p:nvSpPr>
        <p:spPr>
          <a:xfrm>
            <a:off x="4286250" y="1669107"/>
            <a:ext cx="571500" cy="29170"/>
          </a:xfrm>
          <a:prstGeom prst="roundRect">
            <a:avLst>
              <a:gd name="adj" fmla="val 47892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92715" y="1926878"/>
            <a:ext cx="6558570" cy="58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90"/>
              </a:lnSpc>
              <a:spcAft>
                <a:spcPts val="2700"/>
              </a:spcAft>
              <a:buNone/>
            </a:pPr>
            <a:r>
              <a:rPr lang="en-US" sz="146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practice of designing content so it remains </a:t>
            </a:r>
            <a:r>
              <a:rPr lang="en-US" sz="146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for people</a:t>
            </a:r>
            <a:r>
              <a:rPr lang="en-US" sz="146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while also being </a:t>
            </a:r>
            <a:r>
              <a:rPr lang="en-US" sz="146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discoverable</a:t>
            </a:r>
            <a:r>
              <a:rPr lang="en-US" sz="146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46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for machines</a:t>
            </a:r>
            <a:r>
              <a:rPr lang="en-US" sz="146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."</a:t>
            </a:r>
            <a:endParaRPr lang="en-US" sz="1460" dirty="0"/>
          </a:p>
        </p:txBody>
      </p:sp>
      <p:sp>
        <p:nvSpPr>
          <p:cNvPr id="7" name="Text 5"/>
          <p:cNvSpPr/>
          <p:nvPr/>
        </p:nvSpPr>
        <p:spPr>
          <a:xfrm>
            <a:off x="1143000" y="2826097"/>
            <a:ext cx="298117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 IS NOT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43000" y="3079403"/>
            <a:ext cx="257770" cy="257770"/>
          </a:xfrm>
          <a:prstGeom prst="ellipse">
            <a:avLst/>
          </a:prstGeom>
          <a:solidFill>
            <a:srgbClr val="EF4444">
              <a:alpha val="15000"/>
            </a:srgbClr>
          </a:solidFill>
          <a:ln w="9525">
            <a:solidFill>
              <a:srgbClr val="EF4444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5591" y="3141994"/>
            <a:ext cx="132588" cy="1325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1080" y="3113187"/>
            <a:ext cx="1369278" cy="190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98"/>
              </a:lnSpc>
              <a:buNone/>
            </a:pPr>
            <a:r>
              <a:rPr lang="en-US" sz="107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new file format</a:t>
            </a:r>
            <a:endParaRPr lang="en-US" sz="1070" dirty="0"/>
          </a:p>
        </p:txBody>
      </p:sp>
      <p:sp>
        <p:nvSpPr>
          <p:cNvPr id="11" name="Text 8"/>
          <p:cNvSpPr/>
          <p:nvPr/>
        </p:nvSpPr>
        <p:spPr>
          <a:xfrm>
            <a:off x="1143000" y="3451473"/>
            <a:ext cx="257770" cy="257770"/>
          </a:xfrm>
          <a:prstGeom prst="ellipse">
            <a:avLst/>
          </a:prstGeom>
          <a:solidFill>
            <a:srgbClr val="EF4444">
              <a:alpha val="15000"/>
            </a:srgbClr>
          </a:solidFill>
          <a:ln w="9525">
            <a:solidFill>
              <a:srgbClr val="EF4444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5591" y="3514064"/>
            <a:ext cx="132588" cy="132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1080" y="3485257"/>
            <a:ext cx="1883658" cy="190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98"/>
              </a:lnSpc>
              <a:buNone/>
            </a:pPr>
            <a:r>
              <a:rPr lang="en-US" sz="107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replacement for HTML</a:t>
            </a:r>
            <a:endParaRPr lang="en-US" sz="1070" dirty="0"/>
          </a:p>
        </p:txBody>
      </p:sp>
      <p:sp>
        <p:nvSpPr>
          <p:cNvPr id="14" name="Text 10"/>
          <p:cNvSpPr/>
          <p:nvPr/>
        </p:nvSpPr>
        <p:spPr>
          <a:xfrm>
            <a:off x="1143000" y="3823543"/>
            <a:ext cx="257770" cy="257770"/>
          </a:xfrm>
          <a:prstGeom prst="ellipse">
            <a:avLst/>
          </a:prstGeom>
          <a:solidFill>
            <a:srgbClr val="EF4444">
              <a:alpha val="15000"/>
            </a:srgbClr>
          </a:solidFill>
          <a:ln w="9525">
            <a:solidFill>
              <a:srgbClr val="EF4444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5591" y="3886135"/>
            <a:ext cx="132588" cy="1325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1080" y="3857327"/>
            <a:ext cx="987504" cy="190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98"/>
              </a:lnSpc>
              <a:buNone/>
            </a:pPr>
            <a:r>
              <a:rPr lang="en-US" sz="107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proprietary</a:t>
            </a:r>
            <a:endParaRPr lang="en-US" sz="1070" dirty="0"/>
          </a:p>
        </p:txBody>
      </p:sp>
      <p:sp>
        <p:nvSpPr>
          <p:cNvPr id="17" name="Text 12"/>
          <p:cNvSpPr/>
          <p:nvPr/>
        </p:nvSpPr>
        <p:spPr>
          <a:xfrm>
            <a:off x="4568130" y="2826097"/>
            <a:ext cx="7590" cy="1255216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94A3B8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5290691" y="2826097"/>
            <a:ext cx="298134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</a:t>
            </a:r>
            <a:endParaRPr lang="en-US" sz="730" dirty="0"/>
          </a:p>
        </p:txBody>
      </p:sp>
      <p:sp>
        <p:nvSpPr>
          <p:cNvPr id="19" name="Text 14"/>
          <p:cNvSpPr/>
          <p:nvPr/>
        </p:nvSpPr>
        <p:spPr>
          <a:xfrm>
            <a:off x="5290691" y="3079403"/>
            <a:ext cx="257770" cy="257770"/>
          </a:xfrm>
          <a:prstGeom prst="ellipse">
            <a:avLst/>
          </a:prstGeom>
          <a:solidFill>
            <a:srgbClr val="22C55E">
              <a:alpha val="15000"/>
            </a:srgbClr>
          </a:solidFill>
          <a:ln w="9525">
            <a:solidFill>
              <a:srgbClr val="22C55E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53282" y="3141994"/>
            <a:ext cx="132588" cy="1325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48771" y="3113187"/>
            <a:ext cx="472797" cy="190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98"/>
              </a:lnSpc>
              <a:buNone/>
            </a:pPr>
            <a:r>
              <a:rPr lang="en-US" sz="107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</a:t>
            </a:r>
            <a:endParaRPr lang="en-US" sz="1070" dirty="0"/>
          </a:p>
        </p:txBody>
      </p:sp>
      <p:sp>
        <p:nvSpPr>
          <p:cNvPr id="22" name="Text 16"/>
          <p:cNvSpPr/>
          <p:nvPr/>
        </p:nvSpPr>
        <p:spPr>
          <a:xfrm>
            <a:off x="5290691" y="3451473"/>
            <a:ext cx="257770" cy="257770"/>
          </a:xfrm>
          <a:prstGeom prst="ellipse">
            <a:avLst/>
          </a:prstGeom>
          <a:solidFill>
            <a:srgbClr val="22C55E">
              <a:alpha val="15000"/>
            </a:srgbClr>
          </a:solidFill>
          <a:ln w="9525">
            <a:solidFill>
              <a:srgbClr val="22C55E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53282" y="3514064"/>
            <a:ext cx="132588" cy="1325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648771" y="3485257"/>
            <a:ext cx="854735" cy="190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98"/>
              </a:lnSpc>
              <a:buNone/>
            </a:pPr>
            <a:r>
              <a:rPr lang="en-US" sz="107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Schema.org</a:t>
            </a:r>
            <a:endParaRPr lang="en-US" sz="1070" dirty="0"/>
          </a:p>
        </p:txBody>
      </p:sp>
      <p:sp>
        <p:nvSpPr>
          <p:cNvPr id="25" name="Text 18"/>
          <p:cNvSpPr/>
          <p:nvPr/>
        </p:nvSpPr>
        <p:spPr>
          <a:xfrm>
            <a:off x="5290691" y="3823543"/>
            <a:ext cx="257770" cy="257770"/>
          </a:xfrm>
          <a:prstGeom prst="ellipse">
            <a:avLst/>
          </a:prstGeom>
          <a:solidFill>
            <a:srgbClr val="22C55E">
              <a:alpha val="15000"/>
            </a:srgbClr>
          </a:solidFill>
          <a:ln w="9525">
            <a:solidFill>
              <a:srgbClr val="22C55E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53282" y="3886135"/>
            <a:ext cx="132588" cy="13258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648771" y="3857327"/>
            <a:ext cx="1119947" cy="190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98"/>
              </a:lnSpc>
              <a:buNone/>
            </a:pPr>
            <a:r>
              <a:rPr lang="en-US" sz="107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</a:t>
            </a:r>
            <a:endParaRPr lang="en-US" sz="10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57021" y="0"/>
            <a:ext cx="1786979" cy="1428750"/>
          </a:xfrm>
          <a:prstGeom prst="rect">
            <a:avLst/>
          </a:prstGeom>
          <a:gradFill rotWithShape="1">
            <a:gsLst>
              <a:gs pos="0">
                <a:srgbClr val="38BDF8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000970"/>
            <a:ext cx="2286000" cy="2142530"/>
          </a:xfrm>
          <a:prstGeom prst="rect">
            <a:avLst/>
          </a:prstGeom>
          <a:gradFill rotWithShape="1">
            <a:gsLst>
              <a:gs pos="0">
                <a:srgbClr val="38BDF8">
                  <a:alpha val="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342900"/>
            <a:ext cx="2472296" cy="449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40"/>
              </a:lnSpc>
              <a:buNone/>
            </a:pPr>
            <a:r>
              <a:rPr lang="en-US" sz="2360" b="1" kern="0" spc="-30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What MX Covers</a:t>
            </a:r>
            <a:endParaRPr lang="en-US" sz="2360" dirty="0"/>
          </a:p>
        </p:txBody>
      </p:sp>
      <p:sp>
        <p:nvSpPr>
          <p:cNvPr id="5" name="Text 3"/>
          <p:cNvSpPr/>
          <p:nvPr/>
        </p:nvSpPr>
        <p:spPr>
          <a:xfrm>
            <a:off x="2882057" y="659160"/>
            <a:ext cx="5804743" cy="7590"/>
          </a:xfrm>
          <a:prstGeom prst="rect">
            <a:avLst/>
          </a:prstGeom>
          <a:gradFill rotWithShape="1">
            <a:gsLst>
              <a:gs pos="0">
                <a:srgbClr val="38BDF8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6971" y="1050280"/>
            <a:ext cx="143470" cy="388813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769" y="5095512"/>
            <a:ext cx="132588" cy="479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9245" y="5081885"/>
            <a:ext cx="367481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kern="0" spc="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machine can parse MX-structured content — without guessing.</a:t>
            </a:r>
            <a:endParaRPr lang="en-US" sz="840" dirty="0"/>
          </a:p>
        </p:txBody>
      </p:sp>
      <p:sp>
        <p:nvSpPr>
          <p:cNvPr id="9" name="Text 5"/>
          <p:cNvSpPr/>
          <p:nvPr/>
        </p:nvSpPr>
        <p:spPr>
          <a:xfrm>
            <a:off x="457200" y="1050280"/>
            <a:ext cx="8229600" cy="708571"/>
          </a:xfrm>
          <a:prstGeom prst="roundRect">
            <a:avLst>
              <a:gd name="adj" fmla="val 12188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57200" y="1050280"/>
            <a:ext cx="19050" cy="708571"/>
          </a:xfrm>
          <a:custGeom>
            <a:avLst/>
            <a:gdLst/>
            <a:ahLst/>
            <a:cxnLst/>
            <a:rect l="l" t="t" r="r" b="b"/>
            <a:pathLst>
              <a:path w="19050" h="708571">
                <a:moveTo>
                  <a:pt x="0" y="86360"/>
                </a:moveTo>
                <a:lnTo>
                  <a:pt x="2381" y="66220"/>
                </a:lnTo>
                <a:lnTo>
                  <a:pt x="4763" y="58078"/>
                </a:lnTo>
                <a:lnTo>
                  <a:pt x="7144" y="51968"/>
                </a:lnTo>
                <a:lnTo>
                  <a:pt x="9525" y="46934"/>
                </a:lnTo>
                <a:lnTo>
                  <a:pt x="11906" y="42603"/>
                </a:lnTo>
                <a:lnTo>
                  <a:pt x="14288" y="38783"/>
                </a:lnTo>
                <a:lnTo>
                  <a:pt x="16669" y="35358"/>
                </a:lnTo>
                <a:lnTo>
                  <a:pt x="19050" y="32254"/>
                </a:lnTo>
                <a:lnTo>
                  <a:pt x="19050" y="676316"/>
                </a:lnTo>
                <a:lnTo>
                  <a:pt x="16669" y="673212"/>
                </a:lnTo>
                <a:lnTo>
                  <a:pt x="14288" y="669788"/>
                </a:lnTo>
                <a:lnTo>
                  <a:pt x="11906" y="665968"/>
                </a:lnTo>
                <a:lnTo>
                  <a:pt x="9525" y="661637"/>
                </a:lnTo>
                <a:lnTo>
                  <a:pt x="7144" y="656603"/>
                </a:lnTo>
                <a:lnTo>
                  <a:pt x="4763" y="650493"/>
                </a:lnTo>
                <a:lnTo>
                  <a:pt x="2381" y="642351"/>
                </a:lnTo>
                <a:lnTo>
                  <a:pt x="0" y="622211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76870" y="1221581"/>
            <a:ext cx="200620" cy="220682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73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0961" y="1221581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35881" y="1207740"/>
            <a:ext cx="3199567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Document Structure</a:t>
            </a:r>
            <a:endParaRPr lang="en-US" sz="1130" dirty="0"/>
          </a:p>
        </p:txBody>
      </p:sp>
      <p:sp>
        <p:nvSpPr>
          <p:cNvPr id="14" name="Text 9"/>
          <p:cNvSpPr/>
          <p:nvPr/>
        </p:nvSpPr>
        <p:spPr>
          <a:xfrm>
            <a:off x="1335881" y="1452116"/>
            <a:ext cx="3199567" cy="149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6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Sections, headings, and relationships between content blocks</a:t>
            </a:r>
            <a:endParaRPr lang="en-US" sz="840" dirty="0"/>
          </a:p>
        </p:txBody>
      </p:sp>
      <p:sp>
        <p:nvSpPr>
          <p:cNvPr id="15" name="Text 10"/>
          <p:cNvSpPr/>
          <p:nvPr/>
        </p:nvSpPr>
        <p:spPr>
          <a:xfrm>
            <a:off x="457200" y="1845171"/>
            <a:ext cx="8229600" cy="708571"/>
          </a:xfrm>
          <a:prstGeom prst="roundRect">
            <a:avLst>
              <a:gd name="adj" fmla="val 12188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457200" y="1845171"/>
            <a:ext cx="19050" cy="708571"/>
          </a:xfrm>
          <a:custGeom>
            <a:avLst/>
            <a:gdLst/>
            <a:ahLst/>
            <a:cxnLst/>
            <a:rect l="l" t="t" r="r" b="b"/>
            <a:pathLst>
              <a:path w="19050" h="708571">
                <a:moveTo>
                  <a:pt x="0" y="86360"/>
                </a:moveTo>
                <a:lnTo>
                  <a:pt x="2381" y="66220"/>
                </a:lnTo>
                <a:lnTo>
                  <a:pt x="4763" y="58078"/>
                </a:lnTo>
                <a:lnTo>
                  <a:pt x="7144" y="51968"/>
                </a:lnTo>
                <a:lnTo>
                  <a:pt x="9525" y="46934"/>
                </a:lnTo>
                <a:lnTo>
                  <a:pt x="11906" y="42603"/>
                </a:lnTo>
                <a:lnTo>
                  <a:pt x="14288" y="38783"/>
                </a:lnTo>
                <a:lnTo>
                  <a:pt x="16669" y="35358"/>
                </a:lnTo>
                <a:lnTo>
                  <a:pt x="19050" y="32254"/>
                </a:lnTo>
                <a:lnTo>
                  <a:pt x="19050" y="676316"/>
                </a:lnTo>
                <a:lnTo>
                  <a:pt x="16669" y="673212"/>
                </a:lnTo>
                <a:lnTo>
                  <a:pt x="14288" y="669788"/>
                </a:lnTo>
                <a:lnTo>
                  <a:pt x="11906" y="665968"/>
                </a:lnTo>
                <a:lnTo>
                  <a:pt x="9525" y="661637"/>
                </a:lnTo>
                <a:lnTo>
                  <a:pt x="7144" y="656603"/>
                </a:lnTo>
                <a:lnTo>
                  <a:pt x="4763" y="650493"/>
                </a:lnTo>
                <a:lnTo>
                  <a:pt x="2381" y="642351"/>
                </a:lnTo>
                <a:lnTo>
                  <a:pt x="0" y="622211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676870" y="2016472"/>
            <a:ext cx="200620" cy="220682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73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0961" y="2016472"/>
            <a:ext cx="171450" cy="1714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35881" y="2002631"/>
            <a:ext cx="2899648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Metadata</a:t>
            </a:r>
            <a:endParaRPr lang="en-US" sz="1130" dirty="0"/>
          </a:p>
        </p:txBody>
      </p:sp>
      <p:sp>
        <p:nvSpPr>
          <p:cNvPr id="20" name="Text 14"/>
          <p:cNvSpPr/>
          <p:nvPr/>
        </p:nvSpPr>
        <p:spPr>
          <a:xfrm>
            <a:off x="1335881" y="2247007"/>
            <a:ext cx="2899648" cy="149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6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Authorship, status, version, and provenance information</a:t>
            </a:r>
            <a:endParaRPr lang="en-US" sz="840" dirty="0"/>
          </a:p>
        </p:txBody>
      </p:sp>
      <p:sp>
        <p:nvSpPr>
          <p:cNvPr id="21" name="Text 15"/>
          <p:cNvSpPr/>
          <p:nvPr/>
        </p:nvSpPr>
        <p:spPr>
          <a:xfrm>
            <a:off x="457200" y="2640062"/>
            <a:ext cx="8229600" cy="708571"/>
          </a:xfrm>
          <a:prstGeom prst="roundRect">
            <a:avLst>
              <a:gd name="adj" fmla="val 12188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457200" y="2640062"/>
            <a:ext cx="19050" cy="708571"/>
          </a:xfrm>
          <a:custGeom>
            <a:avLst/>
            <a:gdLst/>
            <a:ahLst/>
            <a:cxnLst/>
            <a:rect l="l" t="t" r="r" b="b"/>
            <a:pathLst>
              <a:path w="19050" h="708571">
                <a:moveTo>
                  <a:pt x="0" y="86360"/>
                </a:moveTo>
                <a:lnTo>
                  <a:pt x="2381" y="66220"/>
                </a:lnTo>
                <a:lnTo>
                  <a:pt x="4763" y="58078"/>
                </a:lnTo>
                <a:lnTo>
                  <a:pt x="7144" y="51968"/>
                </a:lnTo>
                <a:lnTo>
                  <a:pt x="9525" y="46934"/>
                </a:lnTo>
                <a:lnTo>
                  <a:pt x="11906" y="42603"/>
                </a:lnTo>
                <a:lnTo>
                  <a:pt x="14288" y="38783"/>
                </a:lnTo>
                <a:lnTo>
                  <a:pt x="16669" y="35358"/>
                </a:lnTo>
                <a:lnTo>
                  <a:pt x="19050" y="32254"/>
                </a:lnTo>
                <a:lnTo>
                  <a:pt x="19050" y="676316"/>
                </a:lnTo>
                <a:lnTo>
                  <a:pt x="16669" y="673212"/>
                </a:lnTo>
                <a:lnTo>
                  <a:pt x="14288" y="669788"/>
                </a:lnTo>
                <a:lnTo>
                  <a:pt x="11906" y="665968"/>
                </a:lnTo>
                <a:lnTo>
                  <a:pt x="9525" y="661637"/>
                </a:lnTo>
                <a:lnTo>
                  <a:pt x="7144" y="656603"/>
                </a:lnTo>
                <a:lnTo>
                  <a:pt x="4763" y="650493"/>
                </a:lnTo>
                <a:lnTo>
                  <a:pt x="2381" y="642351"/>
                </a:lnTo>
                <a:lnTo>
                  <a:pt x="0" y="622211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676870" y="2811363"/>
            <a:ext cx="200620" cy="220682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73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0961" y="2811363"/>
            <a:ext cx="171450" cy="17145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35881" y="2797522"/>
            <a:ext cx="3397493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Stable Identifiers</a:t>
            </a:r>
            <a:endParaRPr lang="en-US" sz="1130" dirty="0"/>
          </a:p>
        </p:txBody>
      </p:sp>
      <p:sp>
        <p:nvSpPr>
          <p:cNvPr id="26" name="Text 19"/>
          <p:cNvSpPr/>
          <p:nvPr/>
        </p:nvSpPr>
        <p:spPr>
          <a:xfrm>
            <a:off x="1335881" y="3041898"/>
            <a:ext cx="3397493" cy="149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6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that survive change — URLs and IDs that don't break</a:t>
            </a:r>
            <a:endParaRPr lang="en-US" sz="840" dirty="0"/>
          </a:p>
        </p:txBody>
      </p:sp>
      <p:sp>
        <p:nvSpPr>
          <p:cNvPr id="27" name="Text 20"/>
          <p:cNvSpPr/>
          <p:nvPr/>
        </p:nvSpPr>
        <p:spPr>
          <a:xfrm>
            <a:off x="457200" y="3434953"/>
            <a:ext cx="8229600" cy="708571"/>
          </a:xfrm>
          <a:prstGeom prst="roundRect">
            <a:avLst>
              <a:gd name="adj" fmla="val 12188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457200" y="3434953"/>
            <a:ext cx="19050" cy="708571"/>
          </a:xfrm>
          <a:custGeom>
            <a:avLst/>
            <a:gdLst/>
            <a:ahLst/>
            <a:cxnLst/>
            <a:rect l="l" t="t" r="r" b="b"/>
            <a:pathLst>
              <a:path w="19050" h="708571">
                <a:moveTo>
                  <a:pt x="0" y="86360"/>
                </a:moveTo>
                <a:lnTo>
                  <a:pt x="2381" y="66220"/>
                </a:lnTo>
                <a:lnTo>
                  <a:pt x="4763" y="58078"/>
                </a:lnTo>
                <a:lnTo>
                  <a:pt x="7144" y="51968"/>
                </a:lnTo>
                <a:lnTo>
                  <a:pt x="9525" y="46934"/>
                </a:lnTo>
                <a:lnTo>
                  <a:pt x="11906" y="42603"/>
                </a:lnTo>
                <a:lnTo>
                  <a:pt x="14288" y="38783"/>
                </a:lnTo>
                <a:lnTo>
                  <a:pt x="16669" y="35358"/>
                </a:lnTo>
                <a:lnTo>
                  <a:pt x="19050" y="32254"/>
                </a:lnTo>
                <a:lnTo>
                  <a:pt x="19050" y="676316"/>
                </a:lnTo>
                <a:lnTo>
                  <a:pt x="16669" y="673212"/>
                </a:lnTo>
                <a:lnTo>
                  <a:pt x="14288" y="669788"/>
                </a:lnTo>
                <a:lnTo>
                  <a:pt x="11906" y="665968"/>
                </a:lnTo>
                <a:lnTo>
                  <a:pt x="9525" y="661637"/>
                </a:lnTo>
                <a:lnTo>
                  <a:pt x="7144" y="656603"/>
                </a:lnTo>
                <a:lnTo>
                  <a:pt x="4763" y="650493"/>
                </a:lnTo>
                <a:lnTo>
                  <a:pt x="2381" y="642351"/>
                </a:lnTo>
                <a:lnTo>
                  <a:pt x="0" y="622211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676870" y="3606254"/>
            <a:ext cx="200620" cy="220682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73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0961" y="3606254"/>
            <a:ext cx="171450" cy="17145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335881" y="3592413"/>
            <a:ext cx="2847424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Clear Definitions</a:t>
            </a:r>
            <a:endParaRPr lang="en-US" sz="1130" dirty="0"/>
          </a:p>
        </p:txBody>
      </p:sp>
      <p:sp>
        <p:nvSpPr>
          <p:cNvPr id="32" name="Text 24"/>
          <p:cNvSpPr/>
          <p:nvPr/>
        </p:nvSpPr>
        <p:spPr>
          <a:xfrm>
            <a:off x="1335881" y="3836789"/>
            <a:ext cx="2847424" cy="149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6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terminology and meaning across all content</a:t>
            </a:r>
            <a:endParaRPr lang="en-US" sz="840" dirty="0"/>
          </a:p>
        </p:txBody>
      </p:sp>
      <p:sp>
        <p:nvSpPr>
          <p:cNvPr id="33" name="Text 25"/>
          <p:cNvSpPr/>
          <p:nvPr/>
        </p:nvSpPr>
        <p:spPr>
          <a:xfrm>
            <a:off x="457200" y="4229844"/>
            <a:ext cx="8229600" cy="708571"/>
          </a:xfrm>
          <a:prstGeom prst="roundRect">
            <a:avLst>
              <a:gd name="adj" fmla="val 12188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6"/>
          <p:cNvSpPr/>
          <p:nvPr/>
        </p:nvSpPr>
        <p:spPr>
          <a:xfrm>
            <a:off x="457200" y="4229844"/>
            <a:ext cx="19050" cy="708571"/>
          </a:xfrm>
          <a:custGeom>
            <a:avLst/>
            <a:gdLst/>
            <a:ahLst/>
            <a:cxnLst/>
            <a:rect l="l" t="t" r="r" b="b"/>
            <a:pathLst>
              <a:path w="19050" h="708571">
                <a:moveTo>
                  <a:pt x="0" y="86360"/>
                </a:moveTo>
                <a:lnTo>
                  <a:pt x="2381" y="66220"/>
                </a:lnTo>
                <a:lnTo>
                  <a:pt x="4763" y="58078"/>
                </a:lnTo>
                <a:lnTo>
                  <a:pt x="7144" y="51968"/>
                </a:lnTo>
                <a:lnTo>
                  <a:pt x="9525" y="46934"/>
                </a:lnTo>
                <a:lnTo>
                  <a:pt x="11906" y="42603"/>
                </a:lnTo>
                <a:lnTo>
                  <a:pt x="14288" y="38783"/>
                </a:lnTo>
                <a:lnTo>
                  <a:pt x="16669" y="35358"/>
                </a:lnTo>
                <a:lnTo>
                  <a:pt x="19050" y="32254"/>
                </a:lnTo>
                <a:lnTo>
                  <a:pt x="19050" y="676316"/>
                </a:lnTo>
                <a:lnTo>
                  <a:pt x="16669" y="673212"/>
                </a:lnTo>
                <a:lnTo>
                  <a:pt x="14288" y="669788"/>
                </a:lnTo>
                <a:lnTo>
                  <a:pt x="11906" y="665968"/>
                </a:lnTo>
                <a:lnTo>
                  <a:pt x="9525" y="661637"/>
                </a:lnTo>
                <a:lnTo>
                  <a:pt x="7144" y="656603"/>
                </a:lnTo>
                <a:lnTo>
                  <a:pt x="4763" y="650493"/>
                </a:lnTo>
                <a:lnTo>
                  <a:pt x="2381" y="642351"/>
                </a:lnTo>
                <a:lnTo>
                  <a:pt x="0" y="622211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7"/>
          <p:cNvSpPr/>
          <p:nvPr/>
        </p:nvSpPr>
        <p:spPr>
          <a:xfrm>
            <a:off x="676870" y="4401145"/>
            <a:ext cx="200620" cy="220682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</a:t>
            </a:r>
            <a:endParaRPr lang="en-US" sz="73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0961" y="4401145"/>
            <a:ext cx="171450" cy="17145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335881" y="4387304"/>
            <a:ext cx="3576920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Test Cases</a:t>
            </a:r>
            <a:endParaRPr lang="en-US" sz="1130" dirty="0"/>
          </a:p>
        </p:txBody>
      </p:sp>
      <p:sp>
        <p:nvSpPr>
          <p:cNvPr id="38" name="Text 29"/>
          <p:cNvSpPr/>
          <p:nvPr/>
        </p:nvSpPr>
        <p:spPr>
          <a:xfrm>
            <a:off x="1335881" y="4631680"/>
            <a:ext cx="3576920" cy="149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6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conformance — verify that content is machine-parseable</a:t>
            </a:r>
            <a:endParaRPr lang="en-US" sz="8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4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80000" t="20000" r="20000" b="8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3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20000" t="80000" r="80000" b="2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286720" cy="314325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142530"/>
            <a:ext cx="3429000" cy="3000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725" y="1391096"/>
            <a:ext cx="4024017" cy="21580"/>
          </a:xfrm>
          <a:custGeom>
            <a:avLst/>
            <a:gdLst/>
            <a:ahLst/>
            <a:cxnLst/>
            <a:rect l="l" t="t" r="r" b="b"/>
            <a:pathLst>
              <a:path w="4024017" h="21580">
                <a:moveTo>
                  <a:pt x="86360" y="0"/>
                </a:moveTo>
                <a:lnTo>
                  <a:pt x="3937657" y="0"/>
                </a:lnTo>
                <a:lnTo>
                  <a:pt x="3959073" y="2698"/>
                </a:lnTo>
                <a:lnTo>
                  <a:pt x="3967702" y="5395"/>
                </a:lnTo>
                <a:lnTo>
                  <a:pt x="3974157" y="8093"/>
                </a:lnTo>
                <a:lnTo>
                  <a:pt x="3979457" y="10790"/>
                </a:lnTo>
                <a:lnTo>
                  <a:pt x="3984000" y="13488"/>
                </a:lnTo>
                <a:lnTo>
                  <a:pt x="3987991" y="16185"/>
                </a:lnTo>
                <a:lnTo>
                  <a:pt x="3991554" y="18883"/>
                </a:lnTo>
                <a:lnTo>
                  <a:pt x="3994768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100000">
                <a:srgbClr val="38BDF8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653260" y="1391096"/>
            <a:ext cx="4024017" cy="21580"/>
          </a:xfrm>
          <a:custGeom>
            <a:avLst/>
            <a:gdLst/>
            <a:ahLst/>
            <a:cxnLst/>
            <a:rect l="l" t="t" r="r" b="b"/>
            <a:pathLst>
              <a:path w="4024017" h="21580">
                <a:moveTo>
                  <a:pt x="86360" y="0"/>
                </a:moveTo>
                <a:lnTo>
                  <a:pt x="3937657" y="0"/>
                </a:lnTo>
                <a:lnTo>
                  <a:pt x="3959073" y="2698"/>
                </a:lnTo>
                <a:lnTo>
                  <a:pt x="3967702" y="5395"/>
                </a:lnTo>
                <a:lnTo>
                  <a:pt x="3974157" y="8093"/>
                </a:lnTo>
                <a:lnTo>
                  <a:pt x="3979457" y="10790"/>
                </a:lnTo>
                <a:lnTo>
                  <a:pt x="3984000" y="13488"/>
                </a:lnTo>
                <a:lnTo>
                  <a:pt x="3987991" y="16185"/>
                </a:lnTo>
                <a:lnTo>
                  <a:pt x="3991554" y="18883"/>
                </a:lnTo>
                <a:lnTo>
                  <a:pt x="3994768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100000">
                <a:srgbClr val="38BDF8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66725" y="2851696"/>
            <a:ext cx="4024017" cy="21580"/>
          </a:xfrm>
          <a:custGeom>
            <a:avLst/>
            <a:gdLst/>
            <a:ahLst/>
            <a:cxnLst/>
            <a:rect l="l" t="t" r="r" b="b"/>
            <a:pathLst>
              <a:path w="4024017" h="21580">
                <a:moveTo>
                  <a:pt x="86360" y="0"/>
                </a:moveTo>
                <a:lnTo>
                  <a:pt x="3937657" y="0"/>
                </a:lnTo>
                <a:lnTo>
                  <a:pt x="3959073" y="2698"/>
                </a:lnTo>
                <a:lnTo>
                  <a:pt x="3967702" y="5395"/>
                </a:lnTo>
                <a:lnTo>
                  <a:pt x="3974157" y="8093"/>
                </a:lnTo>
                <a:lnTo>
                  <a:pt x="3979457" y="10790"/>
                </a:lnTo>
                <a:lnTo>
                  <a:pt x="3984000" y="13488"/>
                </a:lnTo>
                <a:lnTo>
                  <a:pt x="3987991" y="16185"/>
                </a:lnTo>
                <a:lnTo>
                  <a:pt x="3991554" y="18883"/>
                </a:lnTo>
                <a:lnTo>
                  <a:pt x="3994768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100000">
                <a:srgbClr val="38BDF8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653260" y="2851696"/>
            <a:ext cx="4024017" cy="21580"/>
          </a:xfrm>
          <a:custGeom>
            <a:avLst/>
            <a:gdLst/>
            <a:ahLst/>
            <a:cxnLst/>
            <a:rect l="l" t="t" r="r" b="b"/>
            <a:pathLst>
              <a:path w="4024017" h="21580">
                <a:moveTo>
                  <a:pt x="86360" y="0"/>
                </a:moveTo>
                <a:lnTo>
                  <a:pt x="3937657" y="0"/>
                </a:lnTo>
                <a:lnTo>
                  <a:pt x="3959073" y="2698"/>
                </a:lnTo>
                <a:lnTo>
                  <a:pt x="3967702" y="5395"/>
                </a:lnTo>
                <a:lnTo>
                  <a:pt x="3974157" y="8093"/>
                </a:lnTo>
                <a:lnTo>
                  <a:pt x="3979457" y="10790"/>
                </a:lnTo>
                <a:lnTo>
                  <a:pt x="3984000" y="13488"/>
                </a:lnTo>
                <a:lnTo>
                  <a:pt x="3987991" y="16185"/>
                </a:lnTo>
                <a:lnTo>
                  <a:pt x="3991554" y="18883"/>
                </a:lnTo>
                <a:lnTo>
                  <a:pt x="3994768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100000">
                <a:srgbClr val="38BDF8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57200" y="461218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366" y="552385"/>
            <a:ext cx="132588" cy="1325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2430" y="372070"/>
            <a:ext cx="2235904" cy="4933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885"/>
              </a:lnSpc>
              <a:buNone/>
            </a:pPr>
            <a:r>
              <a:rPr lang="en-US" sz="2590" b="1" kern="0" spc="-60" dirty="0">
                <a:solidFill>
                  <a:srgbClr val="F8FA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Gathering</a:t>
            </a:r>
            <a:endParaRPr lang="en-US" sz="2590" dirty="0"/>
          </a:p>
        </p:txBody>
      </p:sp>
      <p:sp>
        <p:nvSpPr>
          <p:cNvPr id="15" name="Text 10"/>
          <p:cNvSpPr/>
          <p:nvPr/>
        </p:nvSpPr>
        <p:spPr>
          <a:xfrm>
            <a:off x="871091" y="908596"/>
            <a:ext cx="8597280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95"/>
              </a:lnSpc>
              <a:buNone/>
            </a:pPr>
            <a:r>
              <a:rPr lang="en-US" sz="113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independent, community-governed standards body</a:t>
            </a:r>
            <a:endParaRPr lang="en-US" sz="1130" dirty="0"/>
          </a:p>
        </p:txBody>
      </p:sp>
      <p:sp>
        <p:nvSpPr>
          <p:cNvPr id="16" name="Text 11"/>
          <p:cNvSpPr/>
          <p:nvPr/>
        </p:nvSpPr>
        <p:spPr>
          <a:xfrm>
            <a:off x="457200" y="1381571"/>
            <a:ext cx="4043065" cy="1317129"/>
          </a:xfrm>
          <a:prstGeom prst="roundRect">
            <a:avLst>
              <a:gd name="adj" fmla="val 6557"/>
            </a:avLst>
          </a:prstGeom>
          <a:solidFill>
            <a:srgbClr val="1E293B"/>
          </a:solidFill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4220468" y="1505396"/>
            <a:ext cx="13948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38BDF8">
                    <a:alpha val="3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73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5325" y="1605558"/>
            <a:ext cx="150465" cy="15046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090" y="1591717"/>
            <a:ext cx="2088353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0"/>
              </a:lnSpc>
              <a:spcAft>
                <a:spcPts val="340"/>
              </a:spcAft>
              <a:buNone/>
            </a:pPr>
            <a:r>
              <a:rPr lang="en-US" sz="1460" b="1" kern="0" spc="-2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W3C Model</a:t>
            </a:r>
            <a:endParaRPr lang="en-US" sz="1460" dirty="0"/>
          </a:p>
        </p:txBody>
      </p:sp>
      <p:sp>
        <p:nvSpPr>
          <p:cNvPr id="20" name="Text 14"/>
          <p:cNvSpPr/>
          <p:nvPr/>
        </p:nvSpPr>
        <p:spPr>
          <a:xfrm>
            <a:off x="960090" y="1913037"/>
            <a:ext cx="2146905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2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consensus and running code</a:t>
            </a:r>
            <a:endParaRPr lang="en-US" sz="960" dirty="0"/>
          </a:p>
        </p:txBody>
      </p:sp>
      <p:sp>
        <p:nvSpPr>
          <p:cNvPr id="21" name="Text 15"/>
          <p:cNvSpPr/>
          <p:nvPr/>
        </p:nvSpPr>
        <p:spPr>
          <a:xfrm>
            <a:off x="4643735" y="1381571"/>
            <a:ext cx="4043065" cy="1317129"/>
          </a:xfrm>
          <a:prstGeom prst="roundRect">
            <a:avLst>
              <a:gd name="adj" fmla="val 6557"/>
            </a:avLst>
          </a:prstGeom>
          <a:solidFill>
            <a:srgbClr val="1E293B"/>
          </a:solidFill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8407003" y="1505396"/>
            <a:ext cx="13948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38BDF8">
                    <a:alpha val="3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73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81860" y="1605558"/>
            <a:ext cx="150465" cy="15046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46625" y="1591717"/>
            <a:ext cx="2341555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0"/>
              </a:lnSpc>
              <a:spcAft>
                <a:spcPts val="340"/>
              </a:spcAft>
              <a:buNone/>
            </a:pPr>
            <a:r>
              <a:rPr lang="en-US" sz="1460" b="1" kern="0" spc="-2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MIT Licensed</a:t>
            </a:r>
            <a:endParaRPr lang="en-US" sz="1460" dirty="0"/>
          </a:p>
        </p:txBody>
      </p:sp>
      <p:sp>
        <p:nvSpPr>
          <p:cNvPr id="25" name="Text 18"/>
          <p:cNvSpPr/>
          <p:nvPr/>
        </p:nvSpPr>
        <p:spPr>
          <a:xfrm>
            <a:off x="5146625" y="1913037"/>
            <a:ext cx="2407206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2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implement — no restrictions</a:t>
            </a:r>
            <a:endParaRPr lang="en-US" sz="960" dirty="0"/>
          </a:p>
        </p:txBody>
      </p:sp>
      <p:sp>
        <p:nvSpPr>
          <p:cNvPr id="26" name="Text 19"/>
          <p:cNvSpPr/>
          <p:nvPr/>
        </p:nvSpPr>
        <p:spPr>
          <a:xfrm>
            <a:off x="457200" y="2842171"/>
            <a:ext cx="4043065" cy="1317129"/>
          </a:xfrm>
          <a:prstGeom prst="roundRect">
            <a:avLst>
              <a:gd name="adj" fmla="val 6557"/>
            </a:avLst>
          </a:prstGeom>
          <a:solidFill>
            <a:srgbClr val="1E293B"/>
          </a:solidFill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4220468" y="2965996"/>
            <a:ext cx="13948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38BDF8">
                    <a:alpha val="3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73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5325" y="3066157"/>
            <a:ext cx="150465" cy="15046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60090" y="3052316"/>
            <a:ext cx="2189475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0"/>
              </a:lnSpc>
              <a:spcAft>
                <a:spcPts val="340"/>
              </a:spcAft>
              <a:buNone/>
            </a:pPr>
            <a:r>
              <a:rPr lang="en-US" sz="1460" b="1" kern="0" spc="-2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Public Drafting</a:t>
            </a:r>
            <a:endParaRPr lang="en-US" sz="1460" dirty="0"/>
          </a:p>
        </p:txBody>
      </p:sp>
      <p:sp>
        <p:nvSpPr>
          <p:cNvPr id="30" name="Text 22"/>
          <p:cNvSpPr/>
          <p:nvPr/>
        </p:nvSpPr>
        <p:spPr>
          <a:xfrm>
            <a:off x="960090" y="3373636"/>
            <a:ext cx="2250862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2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Stream, our open workspace</a:t>
            </a:r>
            <a:endParaRPr lang="en-US" sz="960" dirty="0"/>
          </a:p>
        </p:txBody>
      </p:sp>
      <p:sp>
        <p:nvSpPr>
          <p:cNvPr id="31" name="Text 23"/>
          <p:cNvSpPr/>
          <p:nvPr/>
        </p:nvSpPr>
        <p:spPr>
          <a:xfrm>
            <a:off x="4643735" y="2842171"/>
            <a:ext cx="4043065" cy="1317129"/>
          </a:xfrm>
          <a:prstGeom prst="roundRect">
            <a:avLst>
              <a:gd name="adj" fmla="val 6557"/>
            </a:avLst>
          </a:prstGeom>
          <a:solidFill>
            <a:srgbClr val="1E293B"/>
          </a:solidFill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4"/>
          <p:cNvSpPr/>
          <p:nvPr/>
        </p:nvSpPr>
        <p:spPr>
          <a:xfrm>
            <a:off x="8407003" y="2965996"/>
            <a:ext cx="13948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38BDF8">
                    <a:alpha val="3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73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81860" y="3066157"/>
            <a:ext cx="150465" cy="15046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146625" y="3052316"/>
            <a:ext cx="2902738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0"/>
              </a:lnSpc>
              <a:spcAft>
                <a:spcPts val="340"/>
              </a:spcAft>
              <a:buNone/>
            </a:pPr>
            <a:r>
              <a:rPr lang="en-US" sz="1460" b="1" kern="0" spc="-2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Fees, No Barriers</a:t>
            </a:r>
            <a:endParaRPr lang="en-US" sz="1460" dirty="0"/>
          </a:p>
        </p:txBody>
      </p:sp>
      <p:sp>
        <p:nvSpPr>
          <p:cNvPr id="35" name="Text 26"/>
          <p:cNvSpPr/>
          <p:nvPr/>
        </p:nvSpPr>
        <p:spPr>
          <a:xfrm>
            <a:off x="5146625" y="3373636"/>
            <a:ext cx="2984123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2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implementers contribute, don't control</a:t>
            </a:r>
            <a:endParaRPr lang="en-US" sz="960" dirty="0"/>
          </a:p>
        </p:txBody>
      </p:sp>
      <p:sp>
        <p:nvSpPr>
          <p:cNvPr id="36" name="Text 27"/>
          <p:cNvSpPr/>
          <p:nvPr/>
        </p:nvSpPr>
        <p:spPr>
          <a:xfrm>
            <a:off x="3580358" y="4387900"/>
            <a:ext cx="1983284" cy="469850"/>
          </a:xfrm>
          <a:prstGeom prst="roundRect">
            <a:avLst>
              <a:gd name="adj" fmla="val 15137"/>
            </a:avLst>
          </a:prstGeom>
          <a:solidFill>
            <a:srgbClr val="38BDF8">
              <a:alpha val="8000"/>
            </a:srgbClr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78011" y="4556531"/>
            <a:ext cx="132588" cy="13258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3969097" y="4483745"/>
            <a:ext cx="1481307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90"/>
              </a:lnSpc>
              <a:buNone/>
            </a:pPr>
            <a:r>
              <a:rPr lang="en-US" sz="146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tg.community</a:t>
            </a:r>
            <a:endParaRPr lang="en-US" sz="14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3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85206" y="2000845"/>
            <a:ext cx="1286470" cy="1286470"/>
          </a:xfrm>
          <a:prstGeom prst="ellipse">
            <a:avLst/>
          </a:prstGeom>
          <a:noFill/>
          <a:ln w="9525">
            <a:solidFill>
              <a:srgbClr val="38BDF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778571" y="1894210"/>
            <a:ext cx="1499741" cy="1499741"/>
          </a:xfrm>
          <a:prstGeom prst="ellipse">
            <a:avLst/>
          </a:prstGeom>
          <a:noFill/>
          <a:ln w="9525">
            <a:solidFill>
              <a:srgbClr val="38BDF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512192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38BDF8">
                  <a:alpha val="30000"/>
                </a:srgbClr>
              </a:gs>
              <a:gs pos="70000">
                <a:srgbClr val="38BDF8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714970"/>
            <a:ext cx="3107978" cy="28936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56941" y="2072580"/>
            <a:ext cx="1143000" cy="1143000"/>
          </a:xfrm>
          <a:prstGeom prst="ellipse">
            <a:avLst/>
          </a:prstGeom>
          <a:gradFill rotWithShape="1">
            <a:gsLst>
              <a:gs pos="0">
                <a:srgbClr val="38BDF8"/>
              </a:gs>
              <a:gs pos="50000">
                <a:srgbClr val="0EA5E9"/>
              </a:gs>
              <a:gs pos="100000">
                <a:srgbClr val="0284C7"/>
              </a:gs>
            </a:gsLst>
            <a:lin ang="2700000" scaled="1"/>
          </a:gradFill>
          <a:ln/>
          <a:effectLst>
            <a:outerShdw blurRad="429260" dist="50800" dir="16200000" algn="bl" rotWithShape="0">
              <a:srgbClr val="38BDF8">
                <a:alpha val="3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221111" y="2374255"/>
            <a:ext cx="657527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030" b="1" kern="0" spc="110" dirty="0">
                <a:solidFill>
                  <a:srgbClr val="0F172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CMS</a:t>
            </a:r>
            <a:endParaRPr lang="en-US" sz="2030" dirty="0"/>
          </a:p>
        </p:txBody>
      </p:sp>
      <p:sp>
        <p:nvSpPr>
          <p:cNvPr id="11" name="Text 8"/>
          <p:cNvSpPr/>
          <p:nvPr/>
        </p:nvSpPr>
        <p:spPr>
          <a:xfrm>
            <a:off x="2146102" y="2774752"/>
            <a:ext cx="84114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0F172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POINT</a:t>
            </a:r>
            <a:endParaRPr lang="en-US" sz="730" dirty="0"/>
          </a:p>
        </p:txBody>
      </p:sp>
      <p:sp>
        <p:nvSpPr>
          <p:cNvPr id="12" name="Text 9"/>
          <p:cNvSpPr/>
          <p:nvPr/>
        </p:nvSpPr>
        <p:spPr>
          <a:xfrm>
            <a:off x="778371" y="894011"/>
            <a:ext cx="786110" cy="786110"/>
          </a:xfrm>
          <a:prstGeom prst="ellipse">
            <a:avLst/>
          </a:prstGeom>
          <a:solidFill>
            <a:srgbClr val="1E293B"/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6119" y="1138386"/>
            <a:ext cx="150465" cy="1504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90526" y="1332012"/>
            <a:ext cx="36180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Website</a:t>
            </a:r>
            <a:endParaRPr lang="en-US" sz="680" dirty="0"/>
          </a:p>
        </p:txBody>
      </p:sp>
      <p:sp>
        <p:nvSpPr>
          <p:cNvPr id="15" name="Text 11"/>
          <p:cNvSpPr/>
          <p:nvPr/>
        </p:nvSpPr>
        <p:spPr>
          <a:xfrm>
            <a:off x="3493740" y="894011"/>
            <a:ext cx="786110" cy="786110"/>
          </a:xfrm>
          <a:prstGeom prst="ellipse">
            <a:avLst/>
          </a:prstGeom>
          <a:solidFill>
            <a:srgbClr val="1E293B"/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1488" y="1138386"/>
            <a:ext cx="150465" cy="1504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67266" y="1332012"/>
            <a:ext cx="43890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 Agents</a:t>
            </a:r>
            <a:endParaRPr lang="en-US" sz="680" dirty="0"/>
          </a:p>
        </p:txBody>
      </p:sp>
      <p:sp>
        <p:nvSpPr>
          <p:cNvPr id="18" name="Text 13"/>
          <p:cNvSpPr/>
          <p:nvPr/>
        </p:nvSpPr>
        <p:spPr>
          <a:xfrm>
            <a:off x="3779490" y="2429470"/>
            <a:ext cx="786110" cy="786110"/>
          </a:xfrm>
          <a:prstGeom prst="ellipse">
            <a:avLst/>
          </a:prstGeom>
          <a:solidFill>
            <a:srgbClr val="1E293B"/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97238" y="2622054"/>
            <a:ext cx="150465" cy="15046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001463" y="2815679"/>
            <a:ext cx="342016" cy="217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SearchEngines</a:t>
            </a:r>
            <a:endParaRPr lang="en-US" sz="680" dirty="0"/>
          </a:p>
        </p:txBody>
      </p:sp>
      <p:sp>
        <p:nvSpPr>
          <p:cNvPr id="21" name="Text 15"/>
          <p:cNvSpPr/>
          <p:nvPr/>
        </p:nvSpPr>
        <p:spPr>
          <a:xfrm>
            <a:off x="3207990" y="3572470"/>
            <a:ext cx="786110" cy="786110"/>
          </a:xfrm>
          <a:prstGeom prst="ellipse">
            <a:avLst/>
          </a:prstGeom>
          <a:solidFill>
            <a:srgbClr val="1E293B"/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25738" y="3765054"/>
            <a:ext cx="150465" cy="15046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378653" y="3958679"/>
            <a:ext cx="444636" cy="217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VoiceAssistants</a:t>
            </a:r>
            <a:endParaRPr lang="en-US" sz="680" dirty="0"/>
          </a:p>
        </p:txBody>
      </p:sp>
      <p:sp>
        <p:nvSpPr>
          <p:cNvPr id="24" name="Text 17"/>
          <p:cNvSpPr/>
          <p:nvPr/>
        </p:nvSpPr>
        <p:spPr>
          <a:xfrm>
            <a:off x="778371" y="3430191"/>
            <a:ext cx="786110" cy="786110"/>
          </a:xfrm>
          <a:prstGeom prst="ellipse">
            <a:avLst/>
          </a:prstGeom>
          <a:solidFill>
            <a:srgbClr val="1E293B"/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6119" y="3622774"/>
            <a:ext cx="150465" cy="15046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27174" y="3816400"/>
            <a:ext cx="488356" cy="217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AutomationTools</a:t>
            </a:r>
            <a:endParaRPr lang="en-US" sz="680" dirty="0"/>
          </a:p>
        </p:txBody>
      </p:sp>
      <p:sp>
        <p:nvSpPr>
          <p:cNvPr id="27" name="Text 19"/>
          <p:cNvSpPr/>
          <p:nvPr/>
        </p:nvSpPr>
        <p:spPr>
          <a:xfrm>
            <a:off x="457200" y="257770"/>
            <a:ext cx="420027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 kern="0" spc="-30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Why CMS Is the Control Point</a:t>
            </a:r>
            <a:endParaRPr lang="en-US" sz="2250" dirty="0"/>
          </a:p>
        </p:txBody>
      </p:sp>
      <p:sp>
        <p:nvSpPr>
          <p:cNvPr id="28" name="Text 20"/>
          <p:cNvSpPr/>
          <p:nvPr/>
        </p:nvSpPr>
        <p:spPr>
          <a:xfrm>
            <a:off x="457200" y="757386"/>
            <a:ext cx="571500" cy="29170"/>
          </a:xfrm>
          <a:prstGeom prst="roundRect">
            <a:avLst>
              <a:gd name="adj" fmla="val 47892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1"/>
          <p:cNvSpPr/>
          <p:nvPr/>
        </p:nvSpPr>
        <p:spPr>
          <a:xfrm>
            <a:off x="4972050" y="1000720"/>
            <a:ext cx="3714750" cy="1135901"/>
          </a:xfrm>
          <a:prstGeom prst="roundRect">
            <a:avLst>
              <a:gd name="adj" fmla="val 5031"/>
            </a:avLst>
          </a:prstGeom>
          <a:gradFill rotWithShape="1">
            <a:gsLst>
              <a:gs pos="0">
                <a:srgbClr val="1E293B">
                  <a:alpha val="90000"/>
                </a:srgbClr>
              </a:gs>
              <a:gs pos="100000">
                <a:srgbClr val="1E293B">
                  <a:alpha val="60000"/>
                </a:srgbClr>
              </a:gs>
            </a:gsLst>
            <a:lin ang="2700000" scaled="1"/>
          </a:gradFill>
          <a:ln/>
        </p:spPr>
        <p:txBody>
          <a:bodyPr wrap="square" lIns="257810" tIns="228600" rIns="257810" bIns="228600" rtlCol="0" anchor="t"/>
          <a:lstStyle/>
          <a:p>
            <a:pPr marL="0" indent="0" algn="l">
              <a:buNone/>
            </a:pPr>
            <a:r>
              <a:rPr lang="en-US" sz="113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CMS in production today either </a:t>
            </a:r>
            <a:r>
              <a:rPr lang="en-US" sz="11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</a:t>
            </a:r>
            <a:r>
              <a:rPr lang="en-US" sz="113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r>
              <a:rPr lang="en-US" sz="11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hinders</a:t>
            </a:r>
            <a:r>
              <a:rPr lang="en-US" sz="113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AI agent's ability to read the content it serves.</a:t>
            </a:r>
            <a:endParaRPr lang="en-US" sz="1130" dirty="0"/>
          </a:p>
        </p:txBody>
      </p:sp>
      <p:sp>
        <p:nvSpPr>
          <p:cNvPr id="30" name="Text 22"/>
          <p:cNvSpPr/>
          <p:nvPr/>
        </p:nvSpPr>
        <p:spPr>
          <a:xfrm>
            <a:off x="4972050" y="1000720"/>
            <a:ext cx="28575" cy="1102816"/>
          </a:xfrm>
          <a:custGeom>
            <a:avLst/>
            <a:gdLst/>
            <a:ahLst/>
            <a:cxnLst/>
            <a:rect l="l" t="t" r="r" b="b"/>
            <a:pathLst>
              <a:path w="28575" h="1102816">
                <a:moveTo>
                  <a:pt x="0" y="57150"/>
                </a:moveTo>
                <a:lnTo>
                  <a:pt x="3572" y="37263"/>
                </a:lnTo>
                <a:lnTo>
                  <a:pt x="7144" y="29482"/>
                </a:lnTo>
                <a:lnTo>
                  <a:pt x="10716" y="23834"/>
                </a:lnTo>
                <a:lnTo>
                  <a:pt x="14288" y="19349"/>
                </a:lnTo>
                <a:lnTo>
                  <a:pt x="17859" y="15649"/>
                </a:lnTo>
                <a:lnTo>
                  <a:pt x="21431" y="12537"/>
                </a:lnTo>
                <a:lnTo>
                  <a:pt x="25003" y="9899"/>
                </a:lnTo>
                <a:lnTo>
                  <a:pt x="28575" y="7657"/>
                </a:lnTo>
                <a:lnTo>
                  <a:pt x="28575" y="1095160"/>
                </a:lnTo>
                <a:lnTo>
                  <a:pt x="25003" y="1092918"/>
                </a:lnTo>
                <a:lnTo>
                  <a:pt x="21431" y="1090279"/>
                </a:lnTo>
                <a:lnTo>
                  <a:pt x="17859" y="1087168"/>
                </a:lnTo>
                <a:lnTo>
                  <a:pt x="14288" y="1083468"/>
                </a:lnTo>
                <a:lnTo>
                  <a:pt x="10716" y="1078983"/>
                </a:lnTo>
                <a:lnTo>
                  <a:pt x="7144" y="1073334"/>
                </a:lnTo>
                <a:lnTo>
                  <a:pt x="3572" y="1065554"/>
                </a:lnTo>
                <a:lnTo>
                  <a:pt x="0" y="1045666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3"/>
          <p:cNvSpPr/>
          <p:nvPr/>
        </p:nvSpPr>
        <p:spPr>
          <a:xfrm>
            <a:off x="5229820" y="2332137"/>
            <a:ext cx="3263194" cy="58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90"/>
              </a:lnSpc>
              <a:buNone/>
            </a:pPr>
            <a:r>
              <a:rPr lang="en-US" sz="146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You already control the layer that matters.</a:t>
            </a:r>
            <a:endParaRPr lang="en-US" sz="1460" dirty="0"/>
          </a:p>
        </p:txBody>
      </p:sp>
      <p:sp>
        <p:nvSpPr>
          <p:cNvPr id="32" name="Text 24"/>
          <p:cNvSpPr/>
          <p:nvPr/>
        </p:nvSpPr>
        <p:spPr>
          <a:xfrm>
            <a:off x="5229820" y="3188047"/>
            <a:ext cx="228600" cy="2286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77826" y="3236053"/>
            <a:ext cx="132588" cy="13258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558730" y="3174206"/>
            <a:ext cx="2927705" cy="383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rebuild — you need to </a:t>
            </a:r>
            <a:r>
              <a:rPr lang="en-US" sz="96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what you already have</a:t>
            </a:r>
            <a:endParaRPr lang="en-US" sz="960" dirty="0"/>
          </a:p>
        </p:txBody>
      </p:sp>
      <p:sp>
        <p:nvSpPr>
          <p:cNvPr id="35" name="Text 26"/>
          <p:cNvSpPr/>
          <p:nvPr/>
        </p:nvSpPr>
        <p:spPr>
          <a:xfrm>
            <a:off x="5229820" y="3681710"/>
            <a:ext cx="228600" cy="2286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77826" y="3729716"/>
            <a:ext cx="132588" cy="13258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558730" y="3667869"/>
            <a:ext cx="2927705" cy="383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is the single layer where </a:t>
            </a:r>
            <a:r>
              <a:rPr lang="en-US" sz="96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audience converges</a:t>
            </a: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human and machine</a:t>
            </a:r>
            <a:endParaRPr lang="en-US" sz="960" dirty="0"/>
          </a:p>
        </p:txBody>
      </p:sp>
      <p:sp>
        <p:nvSpPr>
          <p:cNvPr id="38" name="Text 28"/>
          <p:cNvSpPr/>
          <p:nvPr/>
        </p:nvSpPr>
        <p:spPr>
          <a:xfrm>
            <a:off x="5229820" y="4175373"/>
            <a:ext cx="228600" cy="2286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77826" y="4223379"/>
            <a:ext cx="132588" cy="13258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5558730" y="4161532"/>
            <a:ext cx="2927705" cy="383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 conventions fit </a:t>
            </a:r>
            <a:r>
              <a:rPr lang="en-US" sz="96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your existing templates</a:t>
            </a: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new stack required</a:t>
            </a:r>
            <a:endParaRPr lang="en-US" sz="9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905256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7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457200" y="511076"/>
            <a:ext cx="8805672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spcAft>
                <a:spcPts val="900"/>
              </a:spcAft>
              <a:buNone/>
            </a:pPr>
            <a:r>
              <a:rPr lang="en-US" sz="2250" b="1" dirty="0">
                <a:solidFill>
                  <a:srgbClr val="F8FA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Sustainability Case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57200" y="939701"/>
            <a:ext cx="5628614" cy="64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36"/>
              </a:lnSpc>
              <a:buNone/>
            </a:pPr>
            <a:r>
              <a:rPr lang="en-US" sz="2030" b="1" dirty="0">
                <a:solidFill>
                  <a:srgbClr val="34D3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"The greenest kilowatt-hour is the one you never use."</a:t>
            </a:r>
            <a:endParaRPr lang="en-US" sz="203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1163241"/>
            <a:ext cx="171450" cy="17145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2978795"/>
            <a:ext cx="150465" cy="1504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7975" y="2964954"/>
            <a:ext cx="3922514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5"/>
              </a:lnSpc>
              <a:buNone/>
            </a:pPr>
            <a:r>
              <a:rPr lang="en-US" sz="107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wrong AI answer burns electricity</a:t>
            </a:r>
            <a:endParaRPr lang="en-US" sz="1070" dirty="0"/>
          </a:p>
        </p:txBody>
      </p:sp>
      <p:sp>
        <p:nvSpPr>
          <p:cNvPr id="8" name="Text 4"/>
          <p:cNvSpPr/>
          <p:nvPr/>
        </p:nvSpPr>
        <p:spPr>
          <a:xfrm>
            <a:off x="707975" y="3182541"/>
            <a:ext cx="3922514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responses consume compute cycles that produce nothing of value</a:t>
            </a:r>
            <a:endParaRPr lang="en-US" sz="84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" y="3556992"/>
            <a:ext cx="150465" cy="15046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7975" y="3543151"/>
            <a:ext cx="3555147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5"/>
              </a:lnSpc>
              <a:buNone/>
            </a:pPr>
            <a:r>
              <a:rPr lang="en-US" sz="107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content = fewer tokens = less energy</a:t>
            </a:r>
            <a:endParaRPr lang="en-US" sz="1070" dirty="0"/>
          </a:p>
        </p:txBody>
      </p:sp>
      <p:sp>
        <p:nvSpPr>
          <p:cNvPr id="11" name="Text 6"/>
          <p:cNvSpPr/>
          <p:nvPr/>
        </p:nvSpPr>
        <p:spPr>
          <a:xfrm>
            <a:off x="707975" y="3760738"/>
            <a:ext cx="3555147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machines find the right answer immediately, waste disappears</a:t>
            </a:r>
            <a:endParaRPr lang="en-US" sz="84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4135189"/>
            <a:ext cx="150465" cy="15046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07975" y="4121348"/>
            <a:ext cx="3642077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5"/>
              </a:lnSpc>
              <a:buNone/>
            </a:pPr>
            <a:r>
              <a:rPr lang="en-US" sz="107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 reduces the guessing that drives AI waste</a:t>
            </a:r>
            <a:endParaRPr lang="en-US" sz="1070" dirty="0"/>
          </a:p>
        </p:txBody>
      </p:sp>
      <p:sp>
        <p:nvSpPr>
          <p:cNvPr id="14" name="Text 8"/>
          <p:cNvSpPr/>
          <p:nvPr/>
        </p:nvSpPr>
        <p:spPr>
          <a:xfrm>
            <a:off x="707975" y="4338935"/>
            <a:ext cx="3642077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structure means predictable — and minimal — energy use</a:t>
            </a:r>
            <a:endParaRPr lang="en-US" sz="840" dirty="0"/>
          </a:p>
        </p:txBody>
      </p:sp>
      <p:sp>
        <p:nvSpPr>
          <p:cNvPr id="15" name="Text 9"/>
          <p:cNvSpPr/>
          <p:nvPr/>
        </p:nvSpPr>
        <p:spPr>
          <a:xfrm>
            <a:off x="4714875" y="1786830"/>
            <a:ext cx="3971925" cy="1677442"/>
          </a:xfrm>
          <a:prstGeom prst="roundRect">
            <a:avLst>
              <a:gd name="adj" fmla="val 6814"/>
            </a:avLst>
          </a:prstGeom>
          <a:gradFill rotWithShape="1">
            <a:gsLst>
              <a:gs pos="0">
                <a:srgbClr val="F87171">
                  <a:alpha val="12000"/>
                </a:srgbClr>
              </a:gs>
              <a:gs pos="100000">
                <a:srgbClr val="1E293B">
                  <a:alpha val="95000"/>
                </a:srgbClr>
              </a:gs>
            </a:gsLst>
            <a:lin ang="2700000" scaled="1"/>
          </a:gradFill>
          <a:ln w="9525">
            <a:solidFill>
              <a:srgbClr val="F87171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06439" y="2033894"/>
            <a:ext cx="132588" cy="132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358265" y="2024955"/>
            <a:ext cx="86373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MX</a:t>
            </a:r>
            <a:endParaRPr lang="en-US" sz="790" dirty="0"/>
          </a:p>
        </p:txBody>
      </p:sp>
      <p:sp>
        <p:nvSpPr>
          <p:cNvPr id="18" name="Text 11"/>
          <p:cNvSpPr/>
          <p:nvPr/>
        </p:nvSpPr>
        <p:spPr>
          <a:xfrm>
            <a:off x="6058413" y="2232571"/>
            <a:ext cx="128484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</a:t>
            </a:r>
            <a:endParaRPr lang="en-US" sz="3150" dirty="0"/>
          </a:p>
        </p:txBody>
      </p:sp>
      <p:sp>
        <p:nvSpPr>
          <p:cNvPr id="19" name="Text 12"/>
          <p:cNvSpPr/>
          <p:nvPr/>
        </p:nvSpPr>
        <p:spPr>
          <a:xfrm>
            <a:off x="6053688" y="2675781"/>
            <a:ext cx="129429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kern="0" spc="11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WASTED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4925020" y="2947541"/>
            <a:ext cx="3551634" cy="70991"/>
          </a:xfrm>
          <a:prstGeom prst="roundRect">
            <a:avLst>
              <a:gd name="adj" fmla="val 50091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4"/>
          <p:cNvSpPr/>
          <p:nvPr/>
        </p:nvSpPr>
        <p:spPr>
          <a:xfrm>
            <a:off x="4925020" y="2947541"/>
            <a:ext cx="3551634" cy="70991"/>
          </a:xfrm>
          <a:prstGeom prst="roundRect">
            <a:avLst>
              <a:gd name="adj" fmla="val 50091"/>
            </a:avLst>
          </a:prstGeom>
          <a:gradFill rotWithShape="1">
            <a:gsLst>
              <a:gs pos="0">
                <a:srgbClr val="F87171"/>
              </a:gs>
              <a:gs pos="100000">
                <a:srgbClr val="F87171">
                  <a:alpha val="4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5252331" y="3075682"/>
            <a:ext cx="289686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85"/>
              </a:lnSpc>
              <a:buNone/>
            </a:pPr>
            <a:r>
              <a:rPr lang="en-US" sz="79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argues, retries, and hallucinates trying to find the answer</a:t>
            </a:r>
            <a:endParaRPr lang="en-US" sz="790" dirty="0"/>
          </a:p>
        </p:txBody>
      </p:sp>
      <p:sp>
        <p:nvSpPr>
          <p:cNvPr id="23" name="Text 16"/>
          <p:cNvSpPr/>
          <p:nvPr/>
        </p:nvSpPr>
        <p:spPr>
          <a:xfrm>
            <a:off x="5998666" y="3578572"/>
            <a:ext cx="1432277" cy="306735"/>
          </a:xfrm>
          <a:prstGeom prst="roundRect">
            <a:avLst>
              <a:gd name="adj" fmla="val 116345"/>
            </a:avLst>
          </a:prstGeom>
          <a:gradFill rotWithShape="1">
            <a:gsLst>
              <a:gs pos="0">
                <a:srgbClr val="34D399"/>
              </a:gs>
              <a:gs pos="100000">
                <a:srgbClr val="059669"/>
              </a:gs>
            </a:gsLst>
            <a:lin ang="2700000" scaled="1"/>
          </a:gradFill>
          <a:ln/>
        </p:spPr>
        <p:txBody>
          <a:bodyPr wrap="none" lIns="324743" tIns="57150" rIns="171450" bIns="5715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200× reduction</a:t>
            </a:r>
            <a:endParaRPr lang="en-US" sz="101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1894" y="3665571"/>
            <a:ext cx="132588" cy="13258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714875" y="3999607"/>
            <a:ext cx="3971925" cy="1143893"/>
          </a:xfrm>
          <a:prstGeom prst="roundRect">
            <a:avLst>
              <a:gd name="adj" fmla="val 9992"/>
            </a:avLst>
          </a:prstGeom>
          <a:gradFill rotWithShape="1">
            <a:gsLst>
              <a:gs pos="0">
                <a:srgbClr val="34D399">
                  <a:alpha val="12000"/>
                </a:srgbClr>
              </a:gs>
              <a:gs pos="100000">
                <a:srgbClr val="1E293B">
                  <a:alpha val="95000"/>
                </a:srgbClr>
              </a:gs>
            </a:gsLst>
            <a:lin ang="2700000" scaled="1"/>
          </a:gradFill>
          <a:ln w="9525">
            <a:solidFill>
              <a:srgbClr val="34D399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33092" y="4246671"/>
            <a:ext cx="132588" cy="13258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497590" y="4237732"/>
            <a:ext cx="58493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MX</a:t>
            </a:r>
            <a:endParaRPr lang="en-US" sz="790" dirty="0"/>
          </a:p>
        </p:txBody>
      </p:sp>
      <p:sp>
        <p:nvSpPr>
          <p:cNvPr id="28" name="Text 19"/>
          <p:cNvSpPr/>
          <p:nvPr/>
        </p:nvSpPr>
        <p:spPr>
          <a:xfrm>
            <a:off x="6350329" y="4445347"/>
            <a:ext cx="700869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3150" dirty="0"/>
          </a:p>
        </p:txBody>
      </p:sp>
      <p:sp>
        <p:nvSpPr>
          <p:cNvPr id="29" name="Text 20"/>
          <p:cNvSpPr/>
          <p:nvPr/>
        </p:nvSpPr>
        <p:spPr>
          <a:xfrm>
            <a:off x="6060571" y="4888557"/>
            <a:ext cx="128038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kern="0" spc="11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NEEDED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5329104" y="5288459"/>
            <a:ext cx="2743468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85"/>
              </a:lnSpc>
              <a:buNone/>
            </a:pPr>
            <a:r>
              <a:rPr lang="en-US" sz="79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content delivers the right answer immediately</a:t>
            </a:r>
            <a:endParaRPr lang="en-US" sz="79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905256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spcAft>
                <a:spcPts val="450"/>
              </a:spcAft>
              <a:buNone/>
            </a:pPr>
            <a:r>
              <a:rPr lang="en-US" sz="730" b="1" kern="0" spc="17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COMMUNITY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457200" y="539055"/>
            <a:ext cx="8641080" cy="346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28"/>
              </a:lnSpc>
              <a:buNone/>
            </a:pPr>
            <a:r>
              <a:rPr lang="en-US" sz="2480" kern="0" spc="-74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Get Involved: </a:t>
            </a:r>
            <a:r>
              <a:rPr lang="en-US" sz="2480" b="1" kern="0" spc="-74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Volunteers</a:t>
            </a:r>
            <a:endParaRPr lang="en-US" sz="2480" dirty="0"/>
          </a:p>
        </p:txBody>
      </p:sp>
      <p:sp>
        <p:nvSpPr>
          <p:cNvPr id="4" name="Text 2"/>
          <p:cNvSpPr/>
          <p:nvPr/>
        </p:nvSpPr>
        <p:spPr>
          <a:xfrm>
            <a:off x="457200" y="1143149"/>
            <a:ext cx="2609404" cy="2689622"/>
          </a:xfrm>
          <a:prstGeom prst="roundRect">
            <a:avLst>
              <a:gd name="adj" fmla="val 4380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4495" y="1438424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7370" y="1581299"/>
            <a:ext cx="171450" cy="171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4495" y="2039094"/>
            <a:ext cx="2220050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0"/>
              </a:lnSpc>
              <a:spcAft>
                <a:spcPts val="560"/>
              </a:spcAft>
              <a:buNone/>
            </a:pPr>
            <a:r>
              <a:rPr lang="en-US" sz="1460" b="1" kern="0" spc="-29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Writers</a:t>
            </a:r>
            <a:endParaRPr lang="en-US" sz="1460" dirty="0"/>
          </a:p>
        </p:txBody>
      </p:sp>
      <p:sp>
        <p:nvSpPr>
          <p:cNvPr id="8" name="Text 5"/>
          <p:cNvSpPr/>
          <p:nvPr/>
        </p:nvSpPr>
        <p:spPr>
          <a:xfrm>
            <a:off x="724495" y="2388245"/>
            <a:ext cx="2116309" cy="606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clearly, shape the standard's language. Turn complex ideas into precise, implementable text.</a:t>
            </a:r>
            <a:endParaRPr lang="en-US" sz="1010" dirty="0"/>
          </a:p>
        </p:txBody>
      </p:sp>
      <p:sp>
        <p:nvSpPr>
          <p:cNvPr id="9" name="Text 6"/>
          <p:cNvSpPr/>
          <p:nvPr/>
        </p:nvSpPr>
        <p:spPr>
          <a:xfrm>
            <a:off x="2313384" y="3194596"/>
            <a:ext cx="60085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4050" b="1" dirty="0">
                <a:solidFill>
                  <a:srgbClr val="38BDF8">
                    <a:alpha val="6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01</a:t>
            </a:r>
            <a:endParaRPr lang="en-US" sz="4050" dirty="0"/>
          </a:p>
        </p:txBody>
      </p:sp>
      <p:sp>
        <p:nvSpPr>
          <p:cNvPr id="10" name="Text 7"/>
          <p:cNvSpPr/>
          <p:nvPr/>
        </p:nvSpPr>
        <p:spPr>
          <a:xfrm>
            <a:off x="3267224" y="1143149"/>
            <a:ext cx="2609552" cy="2689622"/>
          </a:xfrm>
          <a:prstGeom prst="roundRect">
            <a:avLst>
              <a:gd name="adj" fmla="val 4380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534519" y="1438424"/>
            <a:ext cx="457200" cy="457200"/>
          </a:xfrm>
          <a:prstGeom prst="ellipse">
            <a:avLst/>
          </a:prstGeom>
          <a:solidFill>
            <a:srgbClr val="A855F7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77394" y="1581299"/>
            <a:ext cx="171450" cy="1714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34519" y="2039094"/>
            <a:ext cx="2220209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0"/>
              </a:lnSpc>
              <a:spcAft>
                <a:spcPts val="560"/>
              </a:spcAft>
              <a:buNone/>
            </a:pPr>
            <a:r>
              <a:rPr lang="en-US" sz="1460" b="1" kern="0" spc="-29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Reviewers</a:t>
            </a:r>
            <a:endParaRPr lang="en-US" sz="1460" dirty="0"/>
          </a:p>
        </p:txBody>
      </p:sp>
      <p:sp>
        <p:nvSpPr>
          <p:cNvPr id="14" name="Text 10"/>
          <p:cNvSpPr/>
          <p:nvPr/>
        </p:nvSpPr>
        <p:spPr>
          <a:xfrm>
            <a:off x="3534519" y="2388245"/>
            <a:ext cx="2116461" cy="606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ambiguity, ensure precision. Challenge assumptions and strengthen every clause.</a:t>
            </a:r>
            <a:endParaRPr lang="en-US" sz="1010" dirty="0"/>
          </a:p>
        </p:txBody>
      </p:sp>
      <p:sp>
        <p:nvSpPr>
          <p:cNvPr id="15" name="Text 11"/>
          <p:cNvSpPr/>
          <p:nvPr/>
        </p:nvSpPr>
        <p:spPr>
          <a:xfrm>
            <a:off x="5123557" y="3194596"/>
            <a:ext cx="60085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4050" b="1" dirty="0">
                <a:solidFill>
                  <a:srgbClr val="A855F7">
                    <a:alpha val="6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02</a:t>
            </a:r>
            <a:endParaRPr lang="en-US" sz="4050" dirty="0"/>
          </a:p>
        </p:txBody>
      </p:sp>
      <p:sp>
        <p:nvSpPr>
          <p:cNvPr id="16" name="Text 12"/>
          <p:cNvSpPr/>
          <p:nvPr/>
        </p:nvSpPr>
        <p:spPr>
          <a:xfrm>
            <a:off x="6077396" y="1143149"/>
            <a:ext cx="2609404" cy="2689622"/>
          </a:xfrm>
          <a:prstGeom prst="roundRect">
            <a:avLst>
              <a:gd name="adj" fmla="val 4380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6344692" y="1438424"/>
            <a:ext cx="457200" cy="457200"/>
          </a:xfrm>
          <a:prstGeom prst="ellipse">
            <a:avLst/>
          </a:prstGeom>
          <a:solidFill>
            <a:srgbClr val="22C55E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7567" y="1581299"/>
            <a:ext cx="171450" cy="1714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44692" y="2039094"/>
            <a:ext cx="2220050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0"/>
              </a:lnSpc>
              <a:spcAft>
                <a:spcPts val="560"/>
              </a:spcAft>
              <a:buNone/>
            </a:pPr>
            <a:r>
              <a:rPr lang="en-US" sz="1460" b="1" kern="0" spc="-29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Implementers</a:t>
            </a:r>
            <a:endParaRPr lang="en-US" sz="1460" dirty="0"/>
          </a:p>
        </p:txBody>
      </p:sp>
      <p:sp>
        <p:nvSpPr>
          <p:cNvPr id="20" name="Text 15"/>
          <p:cNvSpPr/>
          <p:nvPr/>
        </p:nvSpPr>
        <p:spPr>
          <a:xfrm>
            <a:off x="6344692" y="2388245"/>
            <a:ext cx="2116309" cy="606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conventions against real CMS platforms. Prove the standard works in production.</a:t>
            </a:r>
            <a:endParaRPr lang="en-US" sz="1010" dirty="0"/>
          </a:p>
        </p:txBody>
      </p:sp>
      <p:sp>
        <p:nvSpPr>
          <p:cNvPr id="21" name="Text 16"/>
          <p:cNvSpPr/>
          <p:nvPr/>
        </p:nvSpPr>
        <p:spPr>
          <a:xfrm>
            <a:off x="7933581" y="3194596"/>
            <a:ext cx="60085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4050" b="1" dirty="0">
                <a:solidFill>
                  <a:srgbClr val="22C55E">
                    <a:alpha val="6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03</a:t>
            </a:r>
            <a:endParaRPr lang="en-US" sz="4050" dirty="0"/>
          </a:p>
        </p:txBody>
      </p:sp>
      <p:sp>
        <p:nvSpPr>
          <p:cNvPr id="22" name="Text 17"/>
          <p:cNvSpPr/>
          <p:nvPr/>
        </p:nvSpPr>
        <p:spPr>
          <a:xfrm>
            <a:off x="4286250" y="4061371"/>
            <a:ext cx="57150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1262911" y="4197251"/>
            <a:ext cx="6618178" cy="220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36"/>
              </a:lnSpc>
              <a:buNone/>
            </a:pPr>
            <a:r>
              <a:rPr lang="en-US" sz="124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r>
              <a:rPr lang="en-US" sz="124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web standard instead of just implementing one. Your name goes on the work.</a:t>
            </a:r>
            <a:endParaRPr lang="en-US" sz="1240" dirty="0"/>
          </a:p>
        </p:txBody>
      </p:sp>
      <p:sp>
        <p:nvSpPr>
          <p:cNvPr id="24" name="Text 19"/>
          <p:cNvSpPr/>
          <p:nvPr/>
        </p:nvSpPr>
        <p:spPr>
          <a:xfrm>
            <a:off x="3914626" y="4531965"/>
            <a:ext cx="1341043" cy="325785"/>
          </a:xfrm>
          <a:prstGeom prst="roundRect">
            <a:avLst>
              <a:gd name="adj" fmla="val 17542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none" lIns="296803" tIns="57150" rIns="143510" bIns="57150" rtlCol="0" anchor="ctr"/>
          <a:lstStyle/>
          <a:p>
            <a:pPr marL="0" indent="0" algn="l">
              <a:buNone/>
            </a:pPr>
            <a:r>
              <a:rPr lang="en-US" sz="1010" b="1" kern="0" spc="1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tg.community</a:t>
            </a:r>
            <a:endParaRPr lang="en-US" sz="101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49399" y="4628489"/>
            <a:ext cx="132588" cy="1325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66725" y="1152674"/>
            <a:ext cx="2590352" cy="29170"/>
          </a:xfrm>
          <a:custGeom>
            <a:avLst/>
            <a:gdLst/>
            <a:ahLst/>
            <a:cxnLst/>
            <a:rect l="l" t="t" r="r" b="b"/>
            <a:pathLst>
              <a:path w="2590352" h="29170">
                <a:moveTo>
                  <a:pt x="114300" y="0"/>
                </a:moveTo>
                <a:lnTo>
                  <a:pt x="2476052" y="0"/>
                </a:lnTo>
                <a:lnTo>
                  <a:pt x="2504692" y="3646"/>
                </a:lnTo>
                <a:lnTo>
                  <a:pt x="2516226" y="7293"/>
                </a:lnTo>
                <a:lnTo>
                  <a:pt x="2524847" y="10939"/>
                </a:lnTo>
                <a:lnTo>
                  <a:pt x="2531922" y="14585"/>
                </a:lnTo>
                <a:lnTo>
                  <a:pt x="2537982" y="18231"/>
                </a:lnTo>
                <a:lnTo>
                  <a:pt x="2543303" y="21878"/>
                </a:lnTo>
                <a:lnTo>
                  <a:pt x="2548048" y="25524"/>
                </a:lnTo>
                <a:lnTo>
                  <a:pt x="2552324" y="29170"/>
                </a:lnTo>
                <a:lnTo>
                  <a:pt x="38028" y="29170"/>
                </a:lnTo>
                <a:lnTo>
                  <a:pt x="42305" y="25524"/>
                </a:lnTo>
                <a:lnTo>
                  <a:pt x="47050" y="21878"/>
                </a:lnTo>
                <a:lnTo>
                  <a:pt x="52370" y="18231"/>
                </a:lnTo>
                <a:lnTo>
                  <a:pt x="58430" y="14585"/>
                </a:lnTo>
                <a:lnTo>
                  <a:pt x="65505" y="10939"/>
                </a:lnTo>
                <a:lnTo>
                  <a:pt x="74127" y="7293"/>
                </a:lnTo>
                <a:lnTo>
                  <a:pt x="85660" y="3646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3276749" y="1152674"/>
            <a:ext cx="2590505" cy="29170"/>
          </a:xfrm>
          <a:custGeom>
            <a:avLst/>
            <a:gdLst/>
            <a:ahLst/>
            <a:cxnLst/>
            <a:rect l="l" t="t" r="r" b="b"/>
            <a:pathLst>
              <a:path w="2590505" h="29170">
                <a:moveTo>
                  <a:pt x="114300" y="0"/>
                </a:moveTo>
                <a:lnTo>
                  <a:pt x="2476205" y="0"/>
                </a:lnTo>
                <a:lnTo>
                  <a:pt x="2504845" y="3646"/>
                </a:lnTo>
                <a:lnTo>
                  <a:pt x="2516378" y="7293"/>
                </a:lnTo>
                <a:lnTo>
                  <a:pt x="2525000" y="10939"/>
                </a:lnTo>
                <a:lnTo>
                  <a:pt x="2532075" y="14585"/>
                </a:lnTo>
                <a:lnTo>
                  <a:pt x="2538135" y="18231"/>
                </a:lnTo>
                <a:lnTo>
                  <a:pt x="2543455" y="21878"/>
                </a:lnTo>
                <a:lnTo>
                  <a:pt x="2548200" y="25524"/>
                </a:lnTo>
                <a:lnTo>
                  <a:pt x="2552477" y="29170"/>
                </a:lnTo>
                <a:lnTo>
                  <a:pt x="38028" y="29170"/>
                </a:lnTo>
                <a:lnTo>
                  <a:pt x="42305" y="25524"/>
                </a:lnTo>
                <a:lnTo>
                  <a:pt x="47050" y="21878"/>
                </a:lnTo>
                <a:lnTo>
                  <a:pt x="52370" y="18231"/>
                </a:lnTo>
                <a:lnTo>
                  <a:pt x="58430" y="14585"/>
                </a:lnTo>
                <a:lnTo>
                  <a:pt x="65505" y="10939"/>
                </a:lnTo>
                <a:lnTo>
                  <a:pt x="74127" y="7293"/>
                </a:lnTo>
                <a:lnTo>
                  <a:pt x="85660" y="3646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6086921" y="1152674"/>
            <a:ext cx="2590352" cy="29170"/>
          </a:xfrm>
          <a:custGeom>
            <a:avLst/>
            <a:gdLst/>
            <a:ahLst/>
            <a:cxnLst/>
            <a:rect l="l" t="t" r="r" b="b"/>
            <a:pathLst>
              <a:path w="2590352" h="29170">
                <a:moveTo>
                  <a:pt x="114300" y="0"/>
                </a:moveTo>
                <a:lnTo>
                  <a:pt x="2476052" y="0"/>
                </a:lnTo>
                <a:lnTo>
                  <a:pt x="2504692" y="3646"/>
                </a:lnTo>
                <a:lnTo>
                  <a:pt x="2516226" y="7293"/>
                </a:lnTo>
                <a:lnTo>
                  <a:pt x="2524847" y="10939"/>
                </a:lnTo>
                <a:lnTo>
                  <a:pt x="2531922" y="14585"/>
                </a:lnTo>
                <a:lnTo>
                  <a:pt x="2537982" y="18231"/>
                </a:lnTo>
                <a:lnTo>
                  <a:pt x="2543303" y="21878"/>
                </a:lnTo>
                <a:lnTo>
                  <a:pt x="2548048" y="25524"/>
                </a:lnTo>
                <a:lnTo>
                  <a:pt x="2552324" y="29170"/>
                </a:lnTo>
                <a:lnTo>
                  <a:pt x="38028" y="29170"/>
                </a:lnTo>
                <a:lnTo>
                  <a:pt x="42305" y="25524"/>
                </a:lnTo>
                <a:lnTo>
                  <a:pt x="47050" y="21878"/>
                </a:lnTo>
                <a:lnTo>
                  <a:pt x="52370" y="18231"/>
                </a:lnTo>
                <a:lnTo>
                  <a:pt x="58430" y="14585"/>
                </a:lnTo>
                <a:lnTo>
                  <a:pt x="65505" y="10939"/>
                </a:lnTo>
                <a:lnTo>
                  <a:pt x="74127" y="7293"/>
                </a:lnTo>
                <a:lnTo>
                  <a:pt x="85660" y="3646"/>
                </a:lnTo>
                <a:close/>
              </a:path>
            </a:pathLst>
          </a:custGeom>
          <a:solidFill>
            <a:srgbClr val="22C55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5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85000" t="15000" r="15000" b="85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4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15000" t="85000" r="85000" b="15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" y="1125141"/>
            <a:ext cx="29170" cy="1441552"/>
          </a:xfrm>
          <a:custGeom>
            <a:avLst/>
            <a:gdLst/>
            <a:ahLst/>
            <a:cxnLst/>
            <a:rect l="l" t="t" r="r" b="b"/>
            <a:pathLst>
              <a:path w="29170" h="1441552">
                <a:moveTo>
                  <a:pt x="86360" y="0"/>
                </a:moveTo>
                <a:lnTo>
                  <a:pt x="29170" y="0"/>
                </a:lnTo>
                <a:lnTo>
                  <a:pt x="29170" y="1441552"/>
                </a:lnTo>
                <a:lnTo>
                  <a:pt x="86360" y="1441552"/>
                </a:lnTo>
                <a:lnTo>
                  <a:pt x="0" y="1355192"/>
                </a:lnTo>
                <a:lnTo>
                  <a:pt x="1659" y="1372040"/>
                </a:lnTo>
                <a:lnTo>
                  <a:pt x="6574" y="1388240"/>
                </a:lnTo>
                <a:lnTo>
                  <a:pt x="14554" y="1403171"/>
                </a:lnTo>
                <a:lnTo>
                  <a:pt x="25294" y="1416257"/>
                </a:lnTo>
                <a:lnTo>
                  <a:pt x="29170" y="1426997"/>
                </a:lnTo>
                <a:lnTo>
                  <a:pt x="29170" y="1434978"/>
                </a:lnTo>
                <a:lnTo>
                  <a:pt x="29170" y="1439892"/>
                </a:lnTo>
                <a:lnTo>
                  <a:pt x="29170" y="1441552"/>
                </a:lnTo>
                <a:lnTo>
                  <a:pt x="0" y="86360"/>
                </a:lnTo>
                <a:lnTo>
                  <a:pt x="29170" y="0"/>
                </a:lnTo>
                <a:lnTo>
                  <a:pt x="29170" y="1659"/>
                </a:lnTo>
                <a:lnTo>
                  <a:pt x="29170" y="6574"/>
                </a:lnTo>
                <a:lnTo>
                  <a:pt x="29170" y="14554"/>
                </a:lnTo>
                <a:lnTo>
                  <a:pt x="25294" y="25294"/>
                </a:lnTo>
                <a:lnTo>
                  <a:pt x="14554" y="38381"/>
                </a:lnTo>
                <a:lnTo>
                  <a:pt x="6574" y="53311"/>
                </a:lnTo>
                <a:lnTo>
                  <a:pt x="1659" y="69512"/>
                </a:lnTo>
                <a:lnTo>
                  <a:pt x="0" y="86360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100000">
                <a:srgbClr val="38BDF8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45521" y="1125141"/>
            <a:ext cx="29170" cy="1441552"/>
          </a:xfrm>
          <a:custGeom>
            <a:avLst/>
            <a:gdLst/>
            <a:ahLst/>
            <a:cxnLst/>
            <a:rect l="l" t="t" r="r" b="b"/>
            <a:pathLst>
              <a:path w="29170" h="1441552">
                <a:moveTo>
                  <a:pt x="86360" y="0"/>
                </a:moveTo>
                <a:lnTo>
                  <a:pt x="29170" y="0"/>
                </a:lnTo>
                <a:lnTo>
                  <a:pt x="29170" y="1441552"/>
                </a:lnTo>
                <a:lnTo>
                  <a:pt x="86360" y="1441552"/>
                </a:lnTo>
                <a:lnTo>
                  <a:pt x="0" y="1355192"/>
                </a:lnTo>
                <a:lnTo>
                  <a:pt x="1659" y="1372040"/>
                </a:lnTo>
                <a:lnTo>
                  <a:pt x="6574" y="1388240"/>
                </a:lnTo>
                <a:lnTo>
                  <a:pt x="14554" y="1403171"/>
                </a:lnTo>
                <a:lnTo>
                  <a:pt x="25294" y="1416257"/>
                </a:lnTo>
                <a:lnTo>
                  <a:pt x="29170" y="1426997"/>
                </a:lnTo>
                <a:lnTo>
                  <a:pt x="29170" y="1434978"/>
                </a:lnTo>
                <a:lnTo>
                  <a:pt x="29170" y="1439892"/>
                </a:lnTo>
                <a:lnTo>
                  <a:pt x="29170" y="1441552"/>
                </a:lnTo>
                <a:lnTo>
                  <a:pt x="0" y="86360"/>
                </a:lnTo>
                <a:lnTo>
                  <a:pt x="29170" y="0"/>
                </a:lnTo>
                <a:lnTo>
                  <a:pt x="29170" y="1659"/>
                </a:lnTo>
                <a:lnTo>
                  <a:pt x="29170" y="6574"/>
                </a:lnTo>
                <a:lnTo>
                  <a:pt x="29170" y="14554"/>
                </a:lnTo>
                <a:lnTo>
                  <a:pt x="25294" y="25294"/>
                </a:lnTo>
                <a:lnTo>
                  <a:pt x="14554" y="38381"/>
                </a:lnTo>
                <a:lnTo>
                  <a:pt x="6574" y="53311"/>
                </a:lnTo>
                <a:lnTo>
                  <a:pt x="1659" y="69512"/>
                </a:lnTo>
                <a:lnTo>
                  <a:pt x="0" y="86360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100000">
                <a:srgbClr val="38BDF8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6725" y="2713881"/>
            <a:ext cx="29170" cy="1441694"/>
          </a:xfrm>
          <a:custGeom>
            <a:avLst/>
            <a:gdLst/>
            <a:ahLst/>
            <a:cxnLst/>
            <a:rect l="l" t="t" r="r" b="b"/>
            <a:pathLst>
              <a:path w="29170" h="1441694">
                <a:moveTo>
                  <a:pt x="86360" y="0"/>
                </a:moveTo>
                <a:lnTo>
                  <a:pt x="29170" y="0"/>
                </a:lnTo>
                <a:lnTo>
                  <a:pt x="29170" y="1441694"/>
                </a:lnTo>
                <a:lnTo>
                  <a:pt x="86360" y="1441694"/>
                </a:lnTo>
                <a:lnTo>
                  <a:pt x="0" y="1355334"/>
                </a:lnTo>
                <a:lnTo>
                  <a:pt x="1659" y="1372182"/>
                </a:lnTo>
                <a:lnTo>
                  <a:pt x="6574" y="1388383"/>
                </a:lnTo>
                <a:lnTo>
                  <a:pt x="14554" y="1403314"/>
                </a:lnTo>
                <a:lnTo>
                  <a:pt x="25294" y="1416400"/>
                </a:lnTo>
                <a:lnTo>
                  <a:pt x="29170" y="1427140"/>
                </a:lnTo>
                <a:lnTo>
                  <a:pt x="29170" y="1435121"/>
                </a:lnTo>
                <a:lnTo>
                  <a:pt x="29170" y="1440035"/>
                </a:lnTo>
                <a:lnTo>
                  <a:pt x="29170" y="1441694"/>
                </a:lnTo>
                <a:lnTo>
                  <a:pt x="0" y="86360"/>
                </a:lnTo>
                <a:lnTo>
                  <a:pt x="29170" y="0"/>
                </a:lnTo>
                <a:lnTo>
                  <a:pt x="29170" y="1659"/>
                </a:lnTo>
                <a:lnTo>
                  <a:pt x="29170" y="6574"/>
                </a:lnTo>
                <a:lnTo>
                  <a:pt x="29170" y="14554"/>
                </a:lnTo>
                <a:lnTo>
                  <a:pt x="25294" y="25294"/>
                </a:lnTo>
                <a:lnTo>
                  <a:pt x="14554" y="38381"/>
                </a:lnTo>
                <a:lnTo>
                  <a:pt x="6574" y="53311"/>
                </a:lnTo>
                <a:lnTo>
                  <a:pt x="1659" y="69512"/>
                </a:lnTo>
                <a:lnTo>
                  <a:pt x="0" y="86360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100000">
                <a:srgbClr val="38BDF8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45521" y="2713881"/>
            <a:ext cx="29170" cy="1441694"/>
          </a:xfrm>
          <a:custGeom>
            <a:avLst/>
            <a:gdLst/>
            <a:ahLst/>
            <a:cxnLst/>
            <a:rect l="l" t="t" r="r" b="b"/>
            <a:pathLst>
              <a:path w="29170" h="1441694">
                <a:moveTo>
                  <a:pt x="86360" y="0"/>
                </a:moveTo>
                <a:lnTo>
                  <a:pt x="29170" y="0"/>
                </a:lnTo>
                <a:lnTo>
                  <a:pt x="29170" y="1441694"/>
                </a:lnTo>
                <a:lnTo>
                  <a:pt x="86360" y="1441694"/>
                </a:lnTo>
                <a:lnTo>
                  <a:pt x="0" y="1355334"/>
                </a:lnTo>
                <a:lnTo>
                  <a:pt x="1659" y="1372182"/>
                </a:lnTo>
                <a:lnTo>
                  <a:pt x="6574" y="1388383"/>
                </a:lnTo>
                <a:lnTo>
                  <a:pt x="14554" y="1403314"/>
                </a:lnTo>
                <a:lnTo>
                  <a:pt x="25294" y="1416400"/>
                </a:lnTo>
                <a:lnTo>
                  <a:pt x="29170" y="1427140"/>
                </a:lnTo>
                <a:lnTo>
                  <a:pt x="29170" y="1435121"/>
                </a:lnTo>
                <a:lnTo>
                  <a:pt x="29170" y="1440035"/>
                </a:lnTo>
                <a:lnTo>
                  <a:pt x="29170" y="1441694"/>
                </a:lnTo>
                <a:lnTo>
                  <a:pt x="0" y="86360"/>
                </a:lnTo>
                <a:lnTo>
                  <a:pt x="29170" y="0"/>
                </a:lnTo>
                <a:lnTo>
                  <a:pt x="29170" y="1659"/>
                </a:lnTo>
                <a:lnTo>
                  <a:pt x="29170" y="6574"/>
                </a:lnTo>
                <a:lnTo>
                  <a:pt x="29170" y="14554"/>
                </a:lnTo>
                <a:lnTo>
                  <a:pt x="25294" y="25294"/>
                </a:lnTo>
                <a:lnTo>
                  <a:pt x="14554" y="38381"/>
                </a:lnTo>
                <a:lnTo>
                  <a:pt x="6574" y="53311"/>
                </a:lnTo>
                <a:lnTo>
                  <a:pt x="1659" y="69512"/>
                </a:lnTo>
                <a:lnTo>
                  <a:pt x="0" y="86360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100000">
                <a:srgbClr val="38BDF8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443657"/>
            <a:ext cx="313432" cy="313432"/>
          </a:xfrm>
          <a:prstGeom prst="roundRect">
            <a:avLst>
              <a:gd name="adj" fmla="val 27553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8191" y="514648"/>
            <a:ext cx="171450" cy="1714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84932" y="342900"/>
            <a:ext cx="33120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kern="0" spc="-30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Sponsor The Gathering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884932" y="686395"/>
            <a:ext cx="34048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0"/>
              </a:lnSpc>
              <a:spcBef>
                <a:spcPts val="230"/>
              </a:spcBef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us at the foundation of a new web standard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1115616"/>
            <a:ext cx="4050655" cy="1460599"/>
          </a:xfrm>
          <a:prstGeom prst="roundRect">
            <a:avLst>
              <a:gd name="adj" fmla="val 5913"/>
            </a:avLst>
          </a:prstGeom>
          <a:solidFill>
            <a:srgbClr val="1E293B"/>
          </a:solidFill>
          <a:ln w="9525">
            <a:solidFill>
              <a:srgbClr val="38BDF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81335" y="1325761"/>
            <a:ext cx="257770" cy="283547"/>
          </a:xfrm>
          <a:prstGeom prst="ellipse">
            <a:avLst/>
          </a:prstGeom>
          <a:solidFill>
            <a:srgbClr val="38BDF8">
              <a:alpha val="12000"/>
            </a:srgbClr>
          </a:solidFill>
          <a:ln w="9525">
            <a:solidFill>
              <a:srgbClr val="38BDF8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53405" y="1325761"/>
            <a:ext cx="3553346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4"/>
              </a:lnSpc>
              <a:spcAft>
                <a:spcPts val="340"/>
              </a:spcAft>
              <a:buNone/>
            </a:pPr>
            <a:r>
              <a:rPr lang="en-US" sz="107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Shape the Standards</a:t>
            </a:r>
            <a:endParaRPr lang="en-US" sz="1070" dirty="0"/>
          </a:p>
        </p:txBody>
      </p:sp>
      <p:sp>
        <p:nvSpPr>
          <p:cNvPr id="16" name="Text 13"/>
          <p:cNvSpPr/>
          <p:nvPr/>
        </p:nvSpPr>
        <p:spPr>
          <a:xfrm>
            <a:off x="1053405" y="1531888"/>
            <a:ext cx="3294921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influence on the foundational conventions your platforms will implement. Be at the table when decisions are made.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635996" y="1115616"/>
            <a:ext cx="4050804" cy="1460599"/>
          </a:xfrm>
          <a:prstGeom prst="roundRect">
            <a:avLst>
              <a:gd name="adj" fmla="val 5913"/>
            </a:avLst>
          </a:prstGeom>
          <a:solidFill>
            <a:srgbClr val="1E293B"/>
          </a:solidFill>
          <a:ln w="9525">
            <a:solidFill>
              <a:srgbClr val="38BDF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860131" y="1325761"/>
            <a:ext cx="257770" cy="283547"/>
          </a:xfrm>
          <a:prstGeom prst="ellipse">
            <a:avLst/>
          </a:prstGeom>
          <a:solidFill>
            <a:srgbClr val="38BDF8">
              <a:alpha val="12000"/>
            </a:srgbClr>
          </a:solidFill>
          <a:ln w="9525">
            <a:solidFill>
              <a:srgbClr val="38BDF8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232202" y="1325761"/>
            <a:ext cx="3553510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4"/>
              </a:lnSpc>
              <a:spcAft>
                <a:spcPts val="340"/>
              </a:spcAft>
              <a:buNone/>
            </a:pPr>
            <a:r>
              <a:rPr lang="en-US" sz="107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Sponsorship, Not Fees</a:t>
            </a:r>
            <a:endParaRPr lang="en-US" sz="1070" dirty="0"/>
          </a:p>
        </p:txBody>
      </p:sp>
      <p:sp>
        <p:nvSpPr>
          <p:cNvPr id="20" name="Text 17"/>
          <p:cNvSpPr/>
          <p:nvPr/>
        </p:nvSpPr>
        <p:spPr>
          <a:xfrm>
            <a:off x="5232202" y="1531888"/>
            <a:ext cx="3295073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transparent, community-first model. Sponsors support infrastructure, public review, and events — not gatekeeping.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7200" y="2704356"/>
            <a:ext cx="4050655" cy="1460748"/>
          </a:xfrm>
          <a:prstGeom prst="roundRect">
            <a:avLst>
              <a:gd name="adj" fmla="val 5912"/>
            </a:avLst>
          </a:prstGeom>
          <a:solidFill>
            <a:srgbClr val="1E293B"/>
          </a:solidFill>
          <a:ln w="9525">
            <a:solidFill>
              <a:srgbClr val="38BDF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81335" y="2914501"/>
            <a:ext cx="257770" cy="283547"/>
          </a:xfrm>
          <a:prstGeom prst="ellipse">
            <a:avLst/>
          </a:prstGeom>
          <a:solidFill>
            <a:srgbClr val="38BDF8">
              <a:alpha val="12000"/>
            </a:srgbClr>
          </a:solidFill>
          <a:ln w="9525">
            <a:solidFill>
              <a:srgbClr val="38BDF8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53405" y="2914501"/>
            <a:ext cx="3553346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4"/>
              </a:lnSpc>
              <a:spcAft>
                <a:spcPts val="340"/>
              </a:spcAft>
              <a:buNone/>
            </a:pPr>
            <a:r>
              <a:rPr lang="en-US" sz="107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Early Sponsors Set the Direction</a:t>
            </a:r>
            <a:endParaRPr lang="en-US" sz="1070" dirty="0"/>
          </a:p>
        </p:txBody>
      </p:sp>
      <p:sp>
        <p:nvSpPr>
          <p:cNvPr id="24" name="Text 21"/>
          <p:cNvSpPr/>
          <p:nvPr/>
        </p:nvSpPr>
        <p:spPr>
          <a:xfrm>
            <a:off x="1053405" y="3120628"/>
            <a:ext cx="3294921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foundational, ground-floor access. The first sponsors define the trajectory of Machine Experience standards.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635996" y="2704356"/>
            <a:ext cx="4050804" cy="1460748"/>
          </a:xfrm>
          <a:prstGeom prst="roundRect">
            <a:avLst>
              <a:gd name="adj" fmla="val 5912"/>
            </a:avLst>
          </a:prstGeom>
          <a:solidFill>
            <a:srgbClr val="1E293B"/>
          </a:solidFill>
          <a:ln w="9525">
            <a:solidFill>
              <a:srgbClr val="38BDF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860131" y="2914501"/>
            <a:ext cx="257770" cy="283547"/>
          </a:xfrm>
          <a:prstGeom prst="ellipse">
            <a:avLst/>
          </a:prstGeom>
          <a:solidFill>
            <a:srgbClr val="38BDF8">
              <a:alpha val="12000"/>
            </a:srgbClr>
          </a:solidFill>
          <a:ln w="9525">
            <a:solidFill>
              <a:srgbClr val="38BDF8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232202" y="2914501"/>
            <a:ext cx="3553510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4"/>
              </a:lnSpc>
              <a:spcAft>
                <a:spcPts val="340"/>
              </a:spcAft>
              <a:buNone/>
            </a:pPr>
            <a:r>
              <a:rPr lang="en-US" sz="107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Visibility Across Open Standards</a:t>
            </a:r>
            <a:endParaRPr lang="en-US" sz="1070" dirty="0"/>
          </a:p>
        </p:txBody>
      </p:sp>
      <p:sp>
        <p:nvSpPr>
          <p:cNvPr id="28" name="Text 25"/>
          <p:cNvSpPr/>
          <p:nvPr/>
        </p:nvSpPr>
        <p:spPr>
          <a:xfrm>
            <a:off x="5232202" y="3120628"/>
            <a:ext cx="3295073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association with the next web. Recognition across events, documentation, and the open-standards community.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93165" y="4336554"/>
            <a:ext cx="6531548" cy="521196"/>
          </a:xfrm>
          <a:prstGeom prst="roundRect">
            <a:avLst>
              <a:gd name="adj" fmla="val 13646"/>
            </a:avLst>
          </a:prstGeom>
          <a:gradFill rotWithShape="1">
            <a:gsLst>
              <a:gs pos="0">
                <a:srgbClr val="38BDF8">
                  <a:alpha val="10000"/>
                </a:srgbClr>
              </a:gs>
              <a:gs pos="100000">
                <a:srgbClr val="38BDF8">
                  <a:alpha val="3000"/>
                </a:srgbClr>
              </a:gs>
            </a:gsLst>
            <a:lin ang="2700000" scaled="1"/>
          </a:gradFill>
          <a:ln w="9525">
            <a:solidFill>
              <a:srgbClr val="38BDF8">
                <a:alpha val="30000"/>
              </a:srgbClr>
            </a:solidFill>
          </a:ln>
        </p:spPr>
        <p:txBody>
          <a:bodyPr wrap="none" lIns="228600" tIns="143510" rIns="228600" bIns="143510" rtlCol="0" anchor="t"/>
          <a:lstStyle/>
          <a:p>
            <a:pPr marL="0" indent="0" algn="ctr">
              <a:buNone/>
            </a:pPr>
            <a:r>
              <a:rPr lang="en-US" sz="1130" b="1" kern="0" spc="-2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early.</a:t>
            </a:r>
            <a:r>
              <a:rPr lang="en-US" sz="1130" b="1" kern="0" spc="-2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30" b="1" kern="0" spc="-2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foundational.</a:t>
            </a:r>
            <a:r>
              <a:rPr lang="en-US" sz="1130" b="1" kern="0" spc="-2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Early sponsors shape the direction.</a:t>
            </a:r>
            <a:endParaRPr lang="en-US" sz="1130" dirty="0"/>
          </a:p>
        </p:txBody>
      </p:sp>
      <p:sp>
        <p:nvSpPr>
          <p:cNvPr id="30" name="Text 27"/>
          <p:cNvSpPr/>
          <p:nvPr/>
        </p:nvSpPr>
        <p:spPr>
          <a:xfrm>
            <a:off x="7061299" y="4355157"/>
            <a:ext cx="1625501" cy="483840"/>
          </a:xfrm>
          <a:prstGeom prst="roundRect">
            <a:avLst>
              <a:gd name="adj" fmla="val 14699"/>
            </a:avLst>
          </a:prstGeom>
          <a:solidFill>
            <a:srgbClr val="1E293B"/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64161" y="4530784"/>
            <a:ext cx="132588" cy="13258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7475786" y="4478982"/>
            <a:ext cx="1100956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tg.community</a:t>
            </a:r>
            <a:endParaRPr lang="en-US" sz="12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5000">
                <a:srgbClr val="000000">
                  <a:alpha val="0"/>
                </a:srgbClr>
              </a:gs>
              <a:gs pos="30000">
                <a:srgbClr val="38BDF8"/>
              </a:gs>
              <a:gs pos="70000">
                <a:srgbClr val="38BDF8"/>
              </a:gs>
              <a:gs pos="95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14625" y="417195"/>
            <a:ext cx="3714750" cy="3714750"/>
          </a:xfrm>
          <a:prstGeom prst="ellipse">
            <a:avLst/>
          </a:prstGeom>
          <a:gradFill rotWithShape="1">
            <a:gsLst>
              <a:gs pos="0">
                <a:srgbClr val="38BDF8">
                  <a:alpha val="12000"/>
                </a:srgbClr>
              </a:gs>
              <a:gs pos="40000">
                <a:srgbClr val="38BDF8">
                  <a:alpha val="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5114330"/>
            <a:ext cx="9144000" cy="29170"/>
          </a:xfrm>
          <a:prstGeom prst="rect">
            <a:avLst/>
          </a:prstGeom>
          <a:gradFill rotWithShape="1">
            <a:gsLst>
              <a:gs pos="5000">
                <a:srgbClr val="000000">
                  <a:alpha val="0"/>
                </a:srgbClr>
              </a:gs>
              <a:gs pos="30000">
                <a:srgbClr val="38BDF8"/>
              </a:gs>
              <a:gs pos="70000">
                <a:srgbClr val="38BDF8"/>
              </a:gs>
              <a:gs pos="95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653010" y="1051024"/>
            <a:ext cx="383798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4950"/>
              </a:lnSpc>
              <a:spcAft>
                <a:spcPts val="680"/>
              </a:spcAft>
              <a:buNone/>
            </a:pPr>
            <a:r>
              <a:rPr lang="en-US" sz="4500" b="1" kern="0" spc="-60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tg.community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692583" y="1765995"/>
            <a:ext cx="3758686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190"/>
              </a:lnSpc>
              <a:spcAft>
                <a:spcPts val="1130"/>
              </a:spcAft>
              <a:buNone/>
            </a:pPr>
            <a:r>
              <a:rPr lang="en-US" sz="1460" kern="0" spc="3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standards for Machine Experience.</a:t>
            </a:r>
            <a:endParaRPr lang="en-US" sz="1460" dirty="0"/>
          </a:p>
        </p:txBody>
      </p:sp>
      <p:sp>
        <p:nvSpPr>
          <p:cNvPr id="7" name="Text 5"/>
          <p:cNvSpPr/>
          <p:nvPr/>
        </p:nvSpPr>
        <p:spPr>
          <a:xfrm>
            <a:off x="4286250" y="2187625"/>
            <a:ext cx="571500" cy="13841"/>
          </a:xfrm>
          <a:prstGeom prst="rect">
            <a:avLst/>
          </a:prstGeom>
          <a:solidFill>
            <a:srgbClr val="38BDF8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680000" y="2358926"/>
            <a:ext cx="3783851" cy="2007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82"/>
              </a:lnSpc>
              <a:spcAft>
                <a:spcPts val="2030"/>
              </a:spcAft>
              <a:buNone/>
            </a:pPr>
            <a:r>
              <a:rPr lang="en-US" sz="113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greenest kilowatt-hour is the one you never use."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3366046" y="3027611"/>
            <a:ext cx="1332771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60"/>
              </a:lnSpc>
              <a:spcAft>
                <a:spcPts val="230"/>
              </a:spcAft>
              <a:buNone/>
            </a:pPr>
            <a:r>
              <a:rPr lang="en-US" sz="124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Cranstoun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3366046" y="3292971"/>
            <a:ext cx="133277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The Gathering</a:t>
            </a:r>
            <a:endParaRPr lang="en-US" sz="9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2024" y="3058269"/>
            <a:ext cx="214313" cy="21431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108205" y="3315742"/>
            <a:ext cx="48180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620" dirty="0"/>
          </a:p>
        </p:txBody>
      </p:sp>
      <p:sp>
        <p:nvSpPr>
          <p:cNvPr id="13" name="Text 10"/>
          <p:cNvSpPr/>
          <p:nvPr/>
        </p:nvSpPr>
        <p:spPr>
          <a:xfrm>
            <a:off x="2846427" y="3932486"/>
            <a:ext cx="1170206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#MachineExperience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4095378" y="3932486"/>
            <a:ext cx="253752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#MX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4443040" y="3932486"/>
            <a:ext cx="836563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#TheGathering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5342089" y="3932486"/>
            <a:ext cx="945103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#OpenStandards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832</Words>
  <Application>Microsoft Macintosh PowerPoint</Application>
  <PresentationFormat>On-screen Show (16:9)</PresentationFormat>
  <Paragraphs>160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Consolas</vt:lpstr>
      <vt:lpstr>Constantia</vt:lpstr>
      <vt:lpstr>Corbel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tom cranstoun</cp:lastModifiedBy>
  <cp:revision>2</cp:revision>
  <dcterms:created xsi:type="dcterms:W3CDTF">2026-04-28T11:41:44Z</dcterms:created>
  <dcterms:modified xsi:type="dcterms:W3CDTF">2026-04-28T11:44:39Z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x:title">
    <vt:lpwstr>The Web Has A New Audience MX And The Gathering</vt:lpwstr>
  </property>
  <property fmtid="{D5CDD505-2E9C-101B-9397-08002B2CF9AE}" pid="3" name="mx:description">
    <vt:lpwstr>TODO: describe The Web Has a New Audience - MX and The Gathering.pptx (auto-skeleton; enrich before publishing).</vt:lpwstr>
  </property>
  <property fmtid="{D5CDD505-2E9C-101B-9397-08002B2CF9AE}" pid="4" name="mx:author">
    <vt:lpwstr>MX Graph Builder</vt:lpwstr>
  </property>
  <property fmtid="{D5CDD505-2E9C-101B-9397-08002B2CF9AE}" pid="5" name="mx:version">
    <vt:lpwstr>1.0</vt:lpwstr>
  </property>
  <property fmtid="{D5CDD505-2E9C-101B-9397-08002B2CF9AE}" pid="6" name="mx:created">
    <vt:lpwstr>2026-05-07</vt:lpwstr>
  </property>
  <property fmtid="{D5CDD505-2E9C-101B-9397-08002B2CF9AE}" pid="7" name="mx:modified">
    <vt:lpwstr>2026-05-07</vt:lpwstr>
  </property>
  <property fmtid="{D5CDD505-2E9C-101B-9397-08002B2CF9AE}" pid="8" name="mx:status">
    <vt:lpwstr>active</vt:lpwstr>
  </property>
  <property fmtid="{D5CDD505-2E9C-101B-9397-08002B2CF9AE}" pid="9" name="mx:contentType">
    <vt:lpwstr>presentation</vt:lpwstr>
  </property>
  <property fmtid="{D5CDD505-2E9C-101B-9397-08002B2CF9AE}" pid="10" name="mx:audience">
    <vt:lpwstr>humans,machines</vt:lpwstr>
  </property>
  <property fmtid="{D5CDD505-2E9C-101B-9397-08002B2CF9AE}" pid="11" name="mx:aiAssistance">
    <vt:lpwstr>unknown</vt:lpwstr>
  </property>
  <property fmtid="{D5CDD505-2E9C-101B-9397-08002B2CF9AE}" pid="12" name="mx:aiEditable">
    <vt:lpwstr>false</vt:lpwstr>
  </property>
  <property fmtid="{D5CDD505-2E9C-101B-9397-08002B2CF9AE}" pid="13" name="mx:contentPolicy">
    <vt:lpwstr>TODO: state reuse and citation policy for this asset.</vt:lpwstr>
  </property>
  <property fmtid="{D5CDD505-2E9C-101B-9397-08002B2CF9AE}" pid="14" name="mx:canonicalUri">
    <vt:lpwstr>https://raw.githubusercontent.com/Digital-Domain-Technologies-Ltd/MX-outputs/main/pptx/presentations/The Web Has a New Audience - MX and The Gathering.pptx</vt:lpwstr>
  </property>
  <property fmtid="{D5CDD505-2E9C-101B-9397-08002B2CF9AE}" pid="15" name="mx:servedAt">
    <vt:lpwstr>https://raw.githubusercontent.com/Digital-Domain-Technologies-Ltd/MX-outputs/main/pptx/presentations/The Web Has a New Audience - MX and The Gathering.pptx</vt:lpwstr>
  </property>
  <property fmtid="{D5CDD505-2E9C-101B-9397-08002B2CF9AE}" pid="16" name="mx:license">
    <vt:lpwstr>proprietary</vt:lpwstr>
  </property>
  <property fmtid="{D5CDD505-2E9C-101B-9397-08002B2CF9AE}" pid="17" name="mx:runbook">
    <vt:lpwstr>Asset carrying MX metadata in its carrier. Read these fields to learn what the file is, who it is for, and how it may be reused.</vt:lpwstr>
  </property>
  <property fmtid="{D5CDD505-2E9C-101B-9397-08002B2CF9AE}" pid="18" name="mx:sourceFrontmatter">
    <vt:lpwstr>---
title: The Web Has A New Audience MX And The Gathering
description: "TODO: describe The Web Has a New Audience - MX and The Gathering.pptx (auto-skeleton; enrich before publishing)."
author: MX Graph Builder
created: 2026-05-07
modified: 2026-05-07
version: "1.0"
mx:
  status: active
  contentType: presentation
  audience: [humans, machines]
  x-mx-aiAssistance: unknown
  x-mx-aiEditable: "false"
  contentPolicy: "TODO: state reuse and citation policy for this asset."
  canonicalUri: "https://raw.githubusercontent.com/Digital-Domain-Technologies-Ltd/MX-outputs/main/pptx/presentations/The Web Has a New Audience - MX and The Gathering.pptx"
  servedAt: "https://raw.githubusercontent.com/Digital-Domain-Technologies-Ltd/MX-outputs/main/pptx/presentations/The Web Has a New Audience - MX and The Gathering.pptx"
  license: proprietary
  runbook: Asset carrying MX metadata in its carrier. Read these fields to learn what the file is, who it is for, and how it may be reused.
---</vt:lpwstr>
  </property>
</Properties>
</file>