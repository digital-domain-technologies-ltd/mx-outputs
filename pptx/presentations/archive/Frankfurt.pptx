
<file path=[Content_Types].xml><?xml version="1.0" encoding="utf-8"?>
<Types xmlns="http://schemas.openxmlformats.org/package/2006/content-types">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34" r:id="rId1"/>
  </p:sldMasterIdLst>
  <p:notesMasterIdLst>
    <p:notesMasterId r:id="rId14"/>
  </p:notesMasterIdLst>
  <p:sldIdLst>
    <p:sldId id="256" r:id="rId2"/>
    <p:sldId id="257" r:id="rId3"/>
    <p:sldId id="258" r:id="rId4"/>
    <p:sldId id="259" r:id="rId5"/>
    <p:sldId id="260" r:id="rId6"/>
    <p:sldId id="261" r:id="rId7"/>
    <p:sldId id="267" r:id="rId8"/>
    <p:sldId id="262" r:id="rId9"/>
    <p:sldId id="263" r:id="rId10"/>
    <p:sldId id="264" r:id="rId11"/>
    <p:sldId id="265" r:id="rId12"/>
    <p:sldId id="266" r:id="rId13"/>
  </p:sldIdLst>
  <p:sldSz cx="18288000" cy="10287000"/>
  <p:notesSz cx="10287000" cy="18288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5" d="100"/>
          <a:sy n="85"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102660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Frankfurt. I'm Tom Cranstoun, and I work on something called Machine Experience — MX. For the next twenty minutes I want to talk to you, the people building content platforms, about an audience your products are already serving but rarely designing for. The talk is in three parts. First, who this audience is and why it matters to a CMS roadmap. Second, what the gap looks like in the standards we already have. And third, an open invitation to help write the standards that fill that gap. There's a roundtable after lunch where Scott and I will sit down with anyone who wants to push on this — bring your edge cases.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number that started this work. On a serious slice of the customer base of the platforms in this room — half of the traffic is no longer human. It's search agents pulling snippets. It's summarisers building answer cards. It's retrieval pipelines feeding a chatbot somewhere. It's an AI assistant doing research on behalf of someone who will never visit the page themselves. These agents read what your platform publishes. They extract what they think is the answer. And they present that answer somewhere else — in a chat window, in a search overview, in a workflow tool. That somewhere else is where the user lives now. These are the invisible users. And they are the audience your product is now serving, whether you've planned for it or not.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here's the problem. When a machine reads a page today, it reads it the way a tourist reads a foreign menu. There are words. There are shapes. Some of them seem important. Some of them are probably prices. It tries to work out which is the headline, which is the disclaimer, which is just noise. And then it guesses. Sometimes it gets it right. Often it doesn't. And when it gets it wrong, the wrong answer goes out the door wearing your customer's brand. The customer sees a quote attributed to them that they never wrote. The support call comes in. The renewal conversation turns awkward. And it comes back to you.</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make this concrete for a roadmap. There are three ways this lands on your customers. First — wrong answers attributed to them. Their brand is quoted, the quote is mangled, they blame the platform, and you inherit the renewal risk. Second — missing answers. The agent couldn't read the output cleanly enough to trust it, so it didn't use it at all. From the agent's point of view, your platform isn't there. It's functionally invisible to half its audience. Third — and this is the strategic one — lost category. A competing vendor's cleaner output becomes the canonical reference for an entire space. Once an agent learns to trust one source for 'what is a good answer about X', the others stop being asked. None of these are theoretical. They're already happening in the products you ship. The question is whether you noticed.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you might be thinking — we already have standards. We have SEO. We have accessibility. And there's a new one called GEO, generative engine optimisation. Don't we already have this covered? Three standards, three different questions. SEO answers 'find me' — get the URL into a result list. Accessibility answers 'use me' — make sure a person with a screen reader can navigate the page. GEO answers 'rank in this quarter's model' — tune your content against today's prompts and today's foundation models. All three are useful. None of them answer the question that actually matters here, which is 'understand me'. GEO is the closest, but it's a moving target — the model changes, the prompts change, the work gets redone. MX is the layer underneath. It defines the agreement between content and machine — what's true, who said it, when it was last verified, what an agent can rely on. Same content, any era of agent.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by the way — this isn't a Web problem. Agents are everywhere now. They read web pages, sure. But they also read PDFs your customer's legal team published last quarter. Datasets. Audio transcripts. API responses. Spreadsheets shared in an email thread. Knowledge-base articles inside the firewall. An agent reads the carrier it finds, and the carrier is rarely just HTML. That has a sharp implication for any standard that's HTML-only — it's already behind. MX is carrier-neutral. The agreement travels with the content, whatever container it sits in. Which matters to you because your customers are not going to keep all their content in your CMS. They never have.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470CF5-7FDB-5230-4543-DEA83BEB24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12644C-0BA6-71E0-3C11-68E9229194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166D6C-7706-9269-93CA-B1B6645C2162}"/>
              </a:ext>
            </a:extLst>
          </p:cNvPr>
          <p:cNvSpPr>
            <a:spLocks noGrp="1"/>
          </p:cNvSpPr>
          <p:nvPr>
            <p:ph type="body" idx="1"/>
          </p:nvPr>
        </p:nvSpPr>
        <p:spPr/>
        <p:txBody>
          <a:bodyPr/>
          <a:lstStyle/>
          <a:p>
            <a:r>
              <a:rPr lang="en-US" dirty="0"/>
              <a:t>And by the way — this isn't a Web problem. Agents are everywhere now. They read web pages, sure. But they also read PDFs your customer's legal team published last quarter. Datasets. Audio transcripts. API responses. Spreadsheets shared in an email thread. Knowledge-base articles inside the firewall. An agent reads the carrier it finds, and the carrier is rarely just HTML. That has a sharp implication for any standard that's HTML-only — it's already behind. MX is carrier-neutral. The agreement travels with the content, whatever container it sits in. Which matters to you because your customers are not going to keep all their content in your CMS. They never have.</a:t>
            </a:r>
          </a:p>
        </p:txBody>
      </p:sp>
      <p:sp>
        <p:nvSpPr>
          <p:cNvPr id="4" name="Slide Number Placeholder 3">
            <a:extLst>
              <a:ext uri="{FF2B5EF4-FFF2-40B4-BE49-F238E27FC236}">
                <a16:creationId xmlns:a16="http://schemas.microsoft.com/office/drawing/2014/main" id="{493D5961-1E81-30FD-E6B1-DE2B0F78A1B7}"/>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2432969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the agreement actually looks like in practice. Same content as before — readable by a person, looks the way the designer wanted it to look. But every important claim in it is now structured and verifiable. The headline is marked as the headline. The price is marked as the price, with currency and effective date attached. The author is identified — a real entity, not a string. The claim someone is going to act on, that's attestable. A machine doesn't have to guess any of this. And a human reading the same page sees no difference at all. That's the principle: no degradation of the human experience, full clarity for the machine one. The two audiences finally get the same thing.</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for the architects in the room — there's a question your roadmap is already trying to answer, and I want to name it explicitly. When your team ships the next major version and someone in marketing calls it 'AI-ready' — what does an agent actually execute against? Is it a content record in your CMS? A schema behind your GraphQL endpoint? A prompt template your authoring tool produces? An MCP tool call your server resolves? Each of those is a reasonable answer. The honest issue is that none of them interoperates across vendors yet. An agent that learns to talk to your platform has to learn from scratch to talk to the next one. That gap — that's exactly what the standards work is for. It's the boring, interoperable layer that nobody can build alone, and that everybody needs.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standards work has a name. We call it The Gathering. Open standards for Machine Experience, drafted in public, by the people who actually build this stuff — and that very much includes the vendors in this room. There's no membership. No fees. No invitation needed. It is, deliberately, a community-governed standards body, structured the way the early web standards bodies were structured before they grew committees. The point is: this gets written by practitioners, in the open, where anyone can argue with the draft.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you're a vendor and you want in — three ways to start, and they're listed by how much time they take. One — read a draft. Pick one that sits next to a problem your customers already complain about. Should take fifteen minutes. Two — leave a review note. If a draft conflicts with something your product has already learned the hard way, that's exactly the input the drafters need. Tell them. Three — propose your own. Vendors see patterns nobody else sees, because you watch hundreds of implementations. Write one up. The address is stream.tg.community. Drafters propose, the community reviews, and stable versions get ratified through a lightweight RFC process. That's it. No working-group politics.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the talk. The roundtable is this afternoon, straight after lunch, in the room next door. Scott and I will be there — to listen as much as to talk. Bring your hardest content edge case. Bring the customer support ticket you can't fix at the layer you have. Bring the integration that fell over when the agent on the other end didn't speak your vendor's dialect. The standard gets real where products meet content, and the people who build products are sitting in this room. tg.community. Thanks Frankfurt — see you after lunch.</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626669" y="1203448"/>
            <a:ext cx="12955610" cy="3812147"/>
          </a:xfrm>
        </p:spPr>
        <p:txBody>
          <a:bodyPr bIns="0" anchor="b">
            <a:normAutofit/>
          </a:bodyPr>
          <a:lstStyle>
            <a:lvl1pPr algn="l">
              <a:defRPr sz="9900"/>
            </a:lvl1pPr>
          </a:lstStyle>
          <a:p>
            <a:r>
              <a:rPr lang="en-US"/>
              <a:t>Click to edit Master title style</a:t>
            </a:r>
            <a:endParaRPr lang="en-US" dirty="0"/>
          </a:p>
        </p:txBody>
      </p:sp>
      <p:sp>
        <p:nvSpPr>
          <p:cNvPr id="3" name="Subtitle 2"/>
          <p:cNvSpPr>
            <a:spLocks noGrp="1"/>
          </p:cNvSpPr>
          <p:nvPr>
            <p:ph type="subTitle" idx="1"/>
          </p:nvPr>
        </p:nvSpPr>
        <p:spPr>
          <a:xfrm>
            <a:off x="3626670" y="5296807"/>
            <a:ext cx="12955608" cy="1466432"/>
          </a:xfrm>
        </p:spPr>
        <p:txBody>
          <a:bodyPr tIns="91440" bIns="91440">
            <a:normAutofit/>
          </a:bodyPr>
          <a:lstStyle>
            <a:lvl1pPr marL="0" indent="0" algn="l">
              <a:buNone/>
              <a:defRPr sz="2700" b="0" cap="all" baseline="0">
                <a:solidFill>
                  <a:schemeClr val="tx1"/>
                </a:solidFill>
              </a:defRPr>
            </a:lvl1pPr>
            <a:lvl2pPr marL="685800" indent="0" algn="ctr">
              <a:buNone/>
              <a:defRPr sz="27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smtClean="0"/>
              <a:t>5/11/26</a:t>
            </a:fld>
            <a:endParaRPr lang="en-US" dirty="0"/>
          </a:p>
        </p:txBody>
      </p:sp>
      <p:sp>
        <p:nvSpPr>
          <p:cNvPr id="5" name="Footer Placeholder 4"/>
          <p:cNvSpPr>
            <a:spLocks noGrp="1"/>
          </p:cNvSpPr>
          <p:nvPr>
            <p:ph type="ftr" sz="quarter" idx="11"/>
          </p:nvPr>
        </p:nvSpPr>
        <p:spPr>
          <a:xfrm>
            <a:off x="3624751" y="493961"/>
            <a:ext cx="7460873" cy="463802"/>
          </a:xfrm>
        </p:spPr>
        <p:txBody>
          <a:bodyPr/>
          <a:lstStyle/>
          <a:p>
            <a:endParaRPr lang="en-US" dirty="0"/>
          </a:p>
        </p:txBody>
      </p:sp>
      <p:sp>
        <p:nvSpPr>
          <p:cNvPr id="6" name="Slide Number Placeholder 5"/>
          <p:cNvSpPr>
            <a:spLocks noGrp="1"/>
          </p:cNvSpPr>
          <p:nvPr>
            <p:ph type="sldNum" sz="quarter" idx="12"/>
          </p:nvPr>
        </p:nvSpPr>
        <p:spPr>
          <a:xfrm>
            <a:off x="2156497" y="1198460"/>
            <a:ext cx="1216529" cy="755367"/>
          </a:xfrm>
        </p:spPr>
        <p:txBody>
          <a:bodyPr/>
          <a:lstStyle/>
          <a:p>
            <a:fld id="{48F63A3B-78C7-47BE-AE5E-E10140E04643}" type="slidenum">
              <a:rPr lang="en-US" smtClean="0"/>
              <a:t>‹#›</a:t>
            </a:fld>
            <a:endParaRPr lang="en-US" dirty="0"/>
          </a:p>
        </p:txBody>
      </p:sp>
      <p:cxnSp>
        <p:nvCxnSpPr>
          <p:cNvPr id="15" name="Straight Connector 14"/>
          <p:cNvCxnSpPr/>
          <p:nvPr/>
        </p:nvCxnSpPr>
        <p:spPr>
          <a:xfrm>
            <a:off x="3626670" y="5292813"/>
            <a:ext cx="12955608"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200602869"/>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smtClean="0"/>
              <a:t>5/11/26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cxnSp>
        <p:nvCxnSpPr>
          <p:cNvPr id="33" name="Straight Connector 32"/>
          <p:cNvCxnSpPr/>
          <p:nvPr/>
        </p:nvCxnSpPr>
        <p:spPr>
          <a:xfrm>
            <a:off x="2180844" y="2770632"/>
            <a:ext cx="14411283"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154431076"/>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181358" y="2634195"/>
            <a:ext cx="12964731" cy="2831925"/>
          </a:xfrm>
        </p:spPr>
        <p:txBody>
          <a:bodyPr anchor="b">
            <a:normAutofit/>
          </a:bodyPr>
          <a:lstStyle>
            <a:lvl1pPr algn="l">
              <a:defRPr sz="5400"/>
            </a:lvl1pPr>
          </a:lstStyle>
          <a:p>
            <a:r>
              <a:rPr lang="en-US"/>
              <a:t>Click to edit Master title style</a:t>
            </a:r>
            <a:endParaRPr lang="en-US" dirty="0"/>
          </a:p>
        </p:txBody>
      </p:sp>
      <p:sp>
        <p:nvSpPr>
          <p:cNvPr id="3" name="Text Placeholder 2"/>
          <p:cNvSpPr>
            <a:spLocks noGrp="1"/>
          </p:cNvSpPr>
          <p:nvPr>
            <p:ph type="body" idx="1"/>
          </p:nvPr>
        </p:nvSpPr>
        <p:spPr>
          <a:xfrm>
            <a:off x="2181358" y="5709293"/>
            <a:ext cx="12945669" cy="1519394"/>
          </a:xfrm>
        </p:spPr>
        <p:txBody>
          <a:bodyPr tIns="91440">
            <a:normAutofit/>
          </a:bodyPr>
          <a:lstStyle>
            <a:lvl1pPr marL="0" indent="0" algn="l">
              <a:buNone/>
              <a:defRPr sz="2700">
                <a:solidFill>
                  <a:schemeClr val="tx1"/>
                </a:solidFill>
              </a:defRPr>
            </a:lvl1pPr>
            <a:lvl2pPr marL="685800" indent="0">
              <a:buNone/>
              <a:defRPr sz="2700">
                <a:solidFill>
                  <a:schemeClr val="tx1">
                    <a:tint val="75000"/>
                  </a:schemeClr>
                </a:solidFill>
              </a:defRPr>
            </a:lvl2pPr>
            <a:lvl3pPr marL="1371600" indent="0">
              <a:buNone/>
              <a:defRPr sz="2700">
                <a:solidFill>
                  <a:schemeClr val="tx1">
                    <a:tint val="75000"/>
                  </a:schemeClr>
                </a:solidFill>
              </a:defRPr>
            </a:lvl3pPr>
            <a:lvl4pPr marL="2057400" indent="0">
              <a:buNone/>
              <a:defRPr sz="2400">
                <a:solidFill>
                  <a:schemeClr val="tx1">
                    <a:tint val="75000"/>
                  </a:schemeClr>
                </a:solidFill>
              </a:defRPr>
            </a:lvl4pPr>
            <a:lvl5pPr marL="2743200" indent="0">
              <a:buNone/>
              <a:defRPr sz="2400">
                <a:solidFill>
                  <a:schemeClr val="tx1">
                    <a:tint val="75000"/>
                  </a:schemeClr>
                </a:solidFill>
              </a:defRPr>
            </a:lvl5pPr>
            <a:lvl6pPr marL="3429000" indent="0">
              <a:buNone/>
              <a:defRPr sz="2400">
                <a:solidFill>
                  <a:schemeClr val="tx1">
                    <a:tint val="75000"/>
                  </a:schemeClr>
                </a:solidFill>
              </a:defRPr>
            </a:lvl6pPr>
            <a:lvl7pPr marL="4114800" indent="0">
              <a:buNone/>
              <a:defRPr sz="2400">
                <a:solidFill>
                  <a:schemeClr val="tx1">
                    <a:tint val="75000"/>
                  </a:schemeClr>
                </a:solidFill>
              </a:defRPr>
            </a:lvl7pPr>
            <a:lvl8pPr marL="4800600" indent="0">
              <a:buNone/>
              <a:defRPr sz="2400">
                <a:solidFill>
                  <a:schemeClr val="tx1">
                    <a:tint val="75000"/>
                  </a:schemeClr>
                </a:solidFill>
              </a:defRPr>
            </a:lvl8pPr>
            <a:lvl9pPr marL="5486400" indent="0">
              <a:buNone/>
              <a:defRPr sz="2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64DE79-268F-4C1A-8933-263129D2AF90}" type="datetimeFigureOut">
              <a:rPr lang="en-US" smtClean="0"/>
              <a:t>5/11/26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cxnSp>
        <p:nvCxnSpPr>
          <p:cNvPr id="15" name="Straight Connector 14"/>
          <p:cNvCxnSpPr/>
          <p:nvPr/>
        </p:nvCxnSpPr>
        <p:spPr>
          <a:xfrm>
            <a:off x="2181358" y="5707478"/>
            <a:ext cx="12945669"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269018614"/>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2173826" y="1207334"/>
            <a:ext cx="14408453" cy="1588958"/>
          </a:xfrm>
        </p:spPr>
        <p:txBody>
          <a:bodyPr/>
          <a:lstStyle/>
          <a:p>
            <a:r>
              <a:rPr lang="en-US"/>
              <a:t>Click to edit Master title style</a:t>
            </a:r>
            <a:endParaRPr lang="en-US" dirty="0"/>
          </a:p>
        </p:txBody>
      </p:sp>
      <p:sp>
        <p:nvSpPr>
          <p:cNvPr id="3" name="Content Placeholder 2"/>
          <p:cNvSpPr>
            <a:spLocks noGrp="1"/>
          </p:cNvSpPr>
          <p:nvPr>
            <p:ph sz="half" idx="1"/>
          </p:nvPr>
        </p:nvSpPr>
        <p:spPr>
          <a:xfrm>
            <a:off x="2170997" y="3016317"/>
            <a:ext cx="6967728" cy="517289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9620657" y="3026015"/>
            <a:ext cx="6967728" cy="51622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764DE79-268F-4C1A-8933-263129D2AF90}" type="datetimeFigureOut">
              <a:rPr lang="en-US" smtClean="0"/>
              <a:t>5/11/26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smtClean="0"/>
              <a:t>‹#›</a:t>
            </a:fld>
            <a:endParaRPr lang="en-US" dirty="0"/>
          </a:p>
        </p:txBody>
      </p:sp>
      <p:cxnSp>
        <p:nvCxnSpPr>
          <p:cNvPr id="35" name="Straight Connector 34"/>
          <p:cNvCxnSpPr/>
          <p:nvPr/>
        </p:nvCxnSpPr>
        <p:spPr>
          <a:xfrm>
            <a:off x="2180844" y="2770632"/>
            <a:ext cx="14411283"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994872396"/>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170787" y="1206245"/>
            <a:ext cx="14411492" cy="1584479"/>
          </a:xfrm>
        </p:spPr>
        <p:txBody>
          <a:bodyPr/>
          <a:lstStyle/>
          <a:p>
            <a:r>
              <a:rPr lang="en-US"/>
              <a:t>Click to edit Master title style</a:t>
            </a:r>
            <a:endParaRPr lang="en-US" dirty="0"/>
          </a:p>
        </p:txBody>
      </p:sp>
      <p:sp>
        <p:nvSpPr>
          <p:cNvPr id="3" name="Text Placeholder 2"/>
          <p:cNvSpPr>
            <a:spLocks noGrp="1"/>
          </p:cNvSpPr>
          <p:nvPr>
            <p:ph type="body" idx="1"/>
          </p:nvPr>
        </p:nvSpPr>
        <p:spPr>
          <a:xfrm>
            <a:off x="2170787" y="3029324"/>
            <a:ext cx="6967728" cy="1202915"/>
          </a:xfrm>
        </p:spPr>
        <p:txBody>
          <a:bodyPr anchor="b">
            <a:normAutofit/>
          </a:bodyPr>
          <a:lstStyle>
            <a:lvl1pPr marL="0" indent="0">
              <a:lnSpc>
                <a:spcPct val="100000"/>
              </a:lnSpc>
              <a:buNone/>
              <a:defRPr sz="3300" b="0" cap="all" baseline="0">
                <a:solidFill>
                  <a:schemeClr val="accent1"/>
                </a:solidFill>
              </a:defRPr>
            </a:lvl1pPr>
            <a:lvl2pPr marL="685800" indent="0">
              <a:buNone/>
              <a:defRPr sz="3000" b="1"/>
            </a:lvl2pPr>
            <a:lvl3pPr marL="1371600" indent="0">
              <a:buNone/>
              <a:defRPr sz="2700" b="1"/>
            </a:lvl3pPr>
            <a:lvl4pPr marL="2057400" indent="0">
              <a:buNone/>
              <a:defRPr sz="2400" b="1"/>
            </a:lvl4pPr>
            <a:lvl5pPr marL="2743200" indent="0">
              <a:buNone/>
              <a:defRPr sz="2400" b="1"/>
            </a:lvl5pPr>
            <a:lvl6pPr marL="3429000" indent="0">
              <a:buNone/>
              <a:defRPr sz="2400" b="1"/>
            </a:lvl6pPr>
            <a:lvl7pPr marL="4114800" indent="0">
              <a:buNone/>
              <a:defRPr sz="2400" b="1"/>
            </a:lvl7pPr>
            <a:lvl8pPr marL="4800600" indent="0">
              <a:buNone/>
              <a:defRPr sz="2400" b="1"/>
            </a:lvl8pPr>
            <a:lvl9pPr marL="5486400" indent="0">
              <a:buNone/>
              <a:defRPr sz="2400" b="1"/>
            </a:lvl9pPr>
          </a:lstStyle>
          <a:p>
            <a:pPr lvl="0"/>
            <a:r>
              <a:rPr lang="en-US"/>
              <a:t>Click to edit Master text styles</a:t>
            </a:r>
          </a:p>
        </p:txBody>
      </p:sp>
      <p:sp>
        <p:nvSpPr>
          <p:cNvPr id="4" name="Content Placeholder 3"/>
          <p:cNvSpPr>
            <a:spLocks noGrp="1"/>
          </p:cNvSpPr>
          <p:nvPr>
            <p:ph sz="half" idx="2"/>
          </p:nvPr>
        </p:nvSpPr>
        <p:spPr>
          <a:xfrm>
            <a:off x="2170787" y="4236404"/>
            <a:ext cx="6967728" cy="396668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9618543" y="3034505"/>
            <a:ext cx="6967728" cy="1203356"/>
          </a:xfrm>
        </p:spPr>
        <p:txBody>
          <a:bodyPr anchor="b">
            <a:normAutofit/>
          </a:bodyPr>
          <a:lstStyle>
            <a:lvl1pPr marL="0" indent="0">
              <a:lnSpc>
                <a:spcPct val="100000"/>
              </a:lnSpc>
              <a:buNone/>
              <a:defRPr sz="3300" b="0" cap="all" baseline="0">
                <a:solidFill>
                  <a:schemeClr val="accent1"/>
                </a:solidFill>
              </a:defRPr>
            </a:lvl1pPr>
            <a:lvl2pPr marL="685800" indent="0">
              <a:buNone/>
              <a:defRPr sz="3000" b="1"/>
            </a:lvl2pPr>
            <a:lvl3pPr marL="1371600" indent="0">
              <a:buNone/>
              <a:defRPr sz="2700" b="1"/>
            </a:lvl3pPr>
            <a:lvl4pPr marL="2057400" indent="0">
              <a:buNone/>
              <a:defRPr sz="2400" b="1"/>
            </a:lvl4pPr>
            <a:lvl5pPr marL="2743200" indent="0">
              <a:buNone/>
              <a:defRPr sz="2400" b="1"/>
            </a:lvl5pPr>
            <a:lvl6pPr marL="3429000" indent="0">
              <a:buNone/>
              <a:defRPr sz="2400" b="1"/>
            </a:lvl6pPr>
            <a:lvl7pPr marL="4114800" indent="0">
              <a:buNone/>
              <a:defRPr sz="2400" b="1"/>
            </a:lvl7pPr>
            <a:lvl8pPr marL="4800600" indent="0">
              <a:buNone/>
              <a:defRPr sz="2400" b="1"/>
            </a:lvl8pPr>
            <a:lvl9pPr marL="5486400" indent="0">
              <a:buNone/>
              <a:defRPr sz="2400" b="1"/>
            </a:lvl9pPr>
          </a:lstStyle>
          <a:p>
            <a:pPr lvl="0"/>
            <a:r>
              <a:rPr lang="en-US"/>
              <a:t>Click to edit Master text styles</a:t>
            </a:r>
          </a:p>
        </p:txBody>
      </p:sp>
      <p:sp>
        <p:nvSpPr>
          <p:cNvPr id="6" name="Content Placeholder 5"/>
          <p:cNvSpPr>
            <a:spLocks noGrp="1"/>
          </p:cNvSpPr>
          <p:nvPr>
            <p:ph sz="quarter" idx="4"/>
          </p:nvPr>
        </p:nvSpPr>
        <p:spPr>
          <a:xfrm>
            <a:off x="9618543" y="4232237"/>
            <a:ext cx="6967728" cy="39560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764DE79-268F-4C1A-8933-263129D2AF90}" type="datetimeFigureOut">
              <a:rPr lang="en-US" smtClean="0"/>
              <a:t>5/11/26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8F63A3B-78C7-47BE-AE5E-E10140E04643}" type="slidenum">
              <a:rPr lang="en-US" smtClean="0"/>
              <a:t>‹#›</a:t>
            </a:fld>
            <a:endParaRPr lang="en-US" dirty="0"/>
          </a:p>
        </p:txBody>
      </p:sp>
      <p:cxnSp>
        <p:nvCxnSpPr>
          <p:cNvPr id="29" name="Straight Connector 28"/>
          <p:cNvCxnSpPr/>
          <p:nvPr/>
        </p:nvCxnSpPr>
        <p:spPr>
          <a:xfrm>
            <a:off x="2180844" y="2770632"/>
            <a:ext cx="14411283"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467542789"/>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764DE79-268F-4C1A-8933-263129D2AF90}" type="datetimeFigureOut">
              <a:rPr lang="en-US" smtClean="0"/>
              <a:t>5/11/26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48F63A3B-78C7-47BE-AE5E-E10140E04643}" type="slidenum">
              <a:rPr lang="en-US" smtClean="0"/>
              <a:t>‹#›</a:t>
            </a:fld>
            <a:endParaRPr lang="en-US" dirty="0"/>
          </a:p>
        </p:txBody>
      </p:sp>
      <p:cxnSp>
        <p:nvCxnSpPr>
          <p:cNvPr id="25" name="Straight Connector 24"/>
          <p:cNvCxnSpPr/>
          <p:nvPr/>
        </p:nvCxnSpPr>
        <p:spPr>
          <a:xfrm>
            <a:off x="2180844" y="2770632"/>
            <a:ext cx="14411283"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834420316"/>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64DE79-268F-4C1A-8933-263129D2AF90}" type="datetimeFigureOut">
              <a:rPr lang="en-US" smtClean="0"/>
              <a:t>5/11/26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1261487473"/>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167007" y="1198460"/>
            <a:ext cx="4909649" cy="3370676"/>
          </a:xfrm>
        </p:spPr>
        <p:txBody>
          <a:bodyPr anchor="b">
            <a:normAutofit/>
          </a:bodyPr>
          <a:lstStyle>
            <a:lvl1pPr algn="l">
              <a:defRPr sz="3600"/>
            </a:lvl1pPr>
          </a:lstStyle>
          <a:p>
            <a:r>
              <a:rPr lang="en-US"/>
              <a:t>Click to edit Master title style</a:t>
            </a:r>
            <a:endParaRPr lang="en-US" dirty="0"/>
          </a:p>
        </p:txBody>
      </p:sp>
      <p:sp>
        <p:nvSpPr>
          <p:cNvPr id="3" name="Content Placeholder 2"/>
          <p:cNvSpPr>
            <a:spLocks noGrp="1"/>
          </p:cNvSpPr>
          <p:nvPr>
            <p:ph idx="1"/>
          </p:nvPr>
        </p:nvSpPr>
        <p:spPr>
          <a:xfrm>
            <a:off x="7565571" y="1198461"/>
            <a:ext cx="9018705" cy="6988239"/>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167007" y="4808237"/>
            <a:ext cx="4912520" cy="3372272"/>
          </a:xfrm>
        </p:spPr>
        <p:txBody>
          <a:bodyPr/>
          <a:lstStyle>
            <a:lvl1pPr marL="0" indent="0" algn="l">
              <a:buNone/>
              <a:defRPr sz="2400"/>
            </a:lvl1pPr>
            <a:lvl2pPr marL="685800" indent="0">
              <a:buNone/>
              <a:defRPr sz="2100"/>
            </a:lvl2pPr>
            <a:lvl3pPr marL="1371600" indent="0">
              <a:buNone/>
              <a:defRPr sz="1800"/>
            </a:lvl3pPr>
            <a:lvl4pPr marL="2057400" indent="0">
              <a:buNone/>
              <a:defRPr sz="1500"/>
            </a:lvl4pPr>
            <a:lvl5pPr marL="2743200" indent="0">
              <a:buNone/>
              <a:defRPr sz="1500"/>
            </a:lvl5pPr>
            <a:lvl6pPr marL="3429000" indent="0">
              <a:buNone/>
              <a:defRPr sz="1500"/>
            </a:lvl6pPr>
            <a:lvl7pPr marL="4114800" indent="0">
              <a:buNone/>
              <a:defRPr sz="1500"/>
            </a:lvl7pPr>
            <a:lvl8pPr marL="4800600" indent="0">
              <a:buNone/>
              <a:defRPr sz="1500"/>
            </a:lvl8pPr>
            <a:lvl9pPr marL="5486400" indent="0">
              <a:buNone/>
              <a:defRPr sz="1500"/>
            </a:lvl9pPr>
          </a:lstStyle>
          <a:p>
            <a:pPr lvl="0"/>
            <a:r>
              <a:rPr lang="en-US"/>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smtClean="0"/>
              <a:t>5/11/26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smtClean="0"/>
              <a:t>‹#›</a:t>
            </a:fld>
            <a:endParaRPr lang="en-US" dirty="0"/>
          </a:p>
        </p:txBody>
      </p:sp>
      <p:cxnSp>
        <p:nvCxnSpPr>
          <p:cNvPr id="17" name="Straight Connector 16"/>
          <p:cNvCxnSpPr/>
          <p:nvPr/>
        </p:nvCxnSpPr>
        <p:spPr>
          <a:xfrm>
            <a:off x="2172420" y="4808237"/>
            <a:ext cx="4904235"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078809851"/>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8" name="Group 7"/>
          <p:cNvGrpSpPr/>
          <p:nvPr/>
        </p:nvGrpSpPr>
        <p:grpSpPr>
          <a:xfrm>
            <a:off x="11216081" y="723255"/>
            <a:ext cx="6111800" cy="7723652"/>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2176809" y="1694270"/>
            <a:ext cx="8298492" cy="2745876"/>
          </a:xfrm>
        </p:spPr>
        <p:txBody>
          <a:bodyPr anchor="b">
            <a:normAutofit/>
          </a:bodyPr>
          <a:lstStyle>
            <a:lvl1pPr>
              <a:defRPr sz="4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2186584" y="1683814"/>
            <a:ext cx="4186757" cy="5799491"/>
          </a:xfrm>
          <a:solidFill>
            <a:schemeClr val="bg1">
              <a:lumMod val="85000"/>
            </a:schemeClr>
          </a:solidFill>
          <a:ln w="9525" cap="sq">
            <a:noFill/>
            <a:miter lim="800000"/>
          </a:ln>
          <a:effectLst/>
        </p:spPr>
        <p:txBody>
          <a:bodyPr anchor="t"/>
          <a:lstStyle>
            <a:lvl1pPr marL="0" indent="0" algn="ctr">
              <a:buNone/>
              <a:defRPr sz="4800"/>
            </a:lvl1pPr>
            <a:lvl2pPr marL="685800" indent="0">
              <a:buNone/>
              <a:defRPr sz="4200"/>
            </a:lvl2pPr>
            <a:lvl3pPr marL="1371600" indent="0">
              <a:buNone/>
              <a:defRPr sz="3600"/>
            </a:lvl3pPr>
            <a:lvl4pPr marL="2057400" indent="0">
              <a:buNone/>
              <a:defRPr sz="3000"/>
            </a:lvl4pPr>
            <a:lvl5pPr marL="2743200" indent="0">
              <a:buNone/>
              <a:defRPr sz="3000"/>
            </a:lvl5pPr>
            <a:lvl6pPr marL="3429000" indent="0">
              <a:buNone/>
              <a:defRPr sz="3000"/>
            </a:lvl6pPr>
            <a:lvl7pPr marL="4114800" indent="0">
              <a:buNone/>
              <a:defRPr sz="3000"/>
            </a:lvl7pPr>
            <a:lvl8pPr marL="4800600" indent="0">
              <a:buNone/>
              <a:defRPr sz="3000"/>
            </a:lvl8pPr>
            <a:lvl9pPr marL="5486400" indent="0">
              <a:buNone/>
              <a:defRPr sz="3000"/>
            </a:lvl9pPr>
          </a:lstStyle>
          <a:p>
            <a:r>
              <a:rPr lang="en-US"/>
              <a:t>Click icon to add picture</a:t>
            </a:r>
            <a:endParaRPr lang="en-US" dirty="0"/>
          </a:p>
        </p:txBody>
      </p:sp>
      <p:sp>
        <p:nvSpPr>
          <p:cNvPr id="4" name="Text Placeholder 3"/>
          <p:cNvSpPr>
            <a:spLocks noGrp="1"/>
          </p:cNvSpPr>
          <p:nvPr>
            <p:ph type="body" sz="half" idx="2"/>
          </p:nvPr>
        </p:nvSpPr>
        <p:spPr>
          <a:xfrm>
            <a:off x="2175494" y="4718988"/>
            <a:ext cx="8286606" cy="3005613"/>
          </a:xfrm>
        </p:spPr>
        <p:txBody>
          <a:bodyPr>
            <a:normAutofit/>
          </a:bodyPr>
          <a:lstStyle>
            <a:lvl1pPr marL="0" indent="0" algn="l">
              <a:buNone/>
              <a:defRPr sz="2700"/>
            </a:lvl1pPr>
            <a:lvl2pPr marL="685800" indent="0">
              <a:buNone/>
              <a:defRPr sz="2100"/>
            </a:lvl2pPr>
            <a:lvl3pPr marL="1371600" indent="0">
              <a:buNone/>
              <a:defRPr sz="1800"/>
            </a:lvl3pPr>
            <a:lvl4pPr marL="2057400" indent="0">
              <a:buNone/>
              <a:defRPr sz="1500"/>
            </a:lvl4pPr>
            <a:lvl5pPr marL="2743200" indent="0">
              <a:buNone/>
              <a:defRPr sz="1500"/>
            </a:lvl5pPr>
            <a:lvl6pPr marL="3429000" indent="0">
              <a:buNone/>
              <a:defRPr sz="1500"/>
            </a:lvl6pPr>
            <a:lvl7pPr marL="4114800" indent="0">
              <a:buNone/>
              <a:defRPr sz="1500"/>
            </a:lvl7pPr>
            <a:lvl8pPr marL="4800600" indent="0">
              <a:buNone/>
              <a:defRPr sz="1500"/>
            </a:lvl8pPr>
            <a:lvl9pPr marL="5486400" indent="0">
              <a:buNone/>
              <a:defRPr sz="1500"/>
            </a:lvl9pPr>
          </a:lstStyle>
          <a:p>
            <a:pPr lvl="0"/>
            <a:r>
              <a:rPr lang="en-US"/>
              <a:t>Click to edit Master text styles</a:t>
            </a:r>
          </a:p>
        </p:txBody>
      </p:sp>
      <p:sp>
        <p:nvSpPr>
          <p:cNvPr id="5" name="Date Placeholder 4"/>
          <p:cNvSpPr>
            <a:spLocks noGrp="1"/>
          </p:cNvSpPr>
          <p:nvPr>
            <p:ph type="dt" sz="half" idx="10"/>
          </p:nvPr>
        </p:nvSpPr>
        <p:spPr>
          <a:xfrm>
            <a:off x="2171074" y="8204785"/>
            <a:ext cx="8291027" cy="480185"/>
          </a:xfrm>
        </p:spPr>
        <p:txBody>
          <a:bodyPr/>
          <a:lstStyle>
            <a:lvl1pPr algn="l">
              <a:defRPr/>
            </a:lvl1pPr>
          </a:lstStyle>
          <a:p>
            <a:fld id="{C764DE79-268F-4C1A-8933-263129D2AF90}" type="datetimeFigureOut">
              <a:rPr lang="en-US" smtClean="0"/>
              <a:t>5/11/26</a:t>
            </a:fld>
            <a:endParaRPr lang="en-US" dirty="0"/>
          </a:p>
        </p:txBody>
      </p:sp>
      <p:sp>
        <p:nvSpPr>
          <p:cNvPr id="6" name="Footer Placeholder 5"/>
          <p:cNvSpPr>
            <a:spLocks noGrp="1"/>
          </p:cNvSpPr>
          <p:nvPr>
            <p:ph type="ftr" sz="quarter" idx="11"/>
          </p:nvPr>
        </p:nvSpPr>
        <p:spPr>
          <a:xfrm>
            <a:off x="2171073" y="477961"/>
            <a:ext cx="8311506" cy="481397"/>
          </a:xfrm>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smtClean="0"/>
              <a:t>‹#›</a:t>
            </a:fld>
            <a:endParaRPr lang="en-US" dirty="0"/>
          </a:p>
        </p:txBody>
      </p:sp>
      <p:cxnSp>
        <p:nvCxnSpPr>
          <p:cNvPr id="31" name="Straight Connector 30"/>
          <p:cNvCxnSpPr/>
          <p:nvPr/>
        </p:nvCxnSpPr>
        <p:spPr>
          <a:xfrm>
            <a:off x="2171074" y="4715408"/>
            <a:ext cx="8291027"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746633985"/>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smtClean="0"/>
              <a:t>5/11/26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cxnSp>
        <p:nvCxnSpPr>
          <p:cNvPr id="26" name="Straight Connector 25"/>
          <p:cNvCxnSpPr/>
          <p:nvPr/>
        </p:nvCxnSpPr>
        <p:spPr>
          <a:xfrm>
            <a:off x="2180844" y="2770632"/>
            <a:ext cx="14411283"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23896356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4158667" y="1198460"/>
            <a:ext cx="2423613" cy="6989834"/>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2167008" y="1198460"/>
            <a:ext cx="11743245" cy="698983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smtClean="0"/>
              <a:t>5/11/26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cxnSp>
        <p:nvCxnSpPr>
          <p:cNvPr id="15" name="Straight Connector 14"/>
          <p:cNvCxnSpPr/>
          <p:nvPr/>
        </p:nvCxnSpPr>
        <p:spPr>
          <a:xfrm>
            <a:off x="14158667" y="1198460"/>
            <a:ext cx="0" cy="6989834"/>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254963131"/>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893048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3029215"/>
            <a:ext cx="18288000" cy="6158912"/>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pic>
        <p:nvPicPr>
          <p:cNvPr id="7" name="Picture 6"/>
          <p:cNvPicPr>
            <a:picLocks noChangeAspect="1"/>
          </p:cNvPicPr>
          <p:nvPr/>
        </p:nvPicPr>
        <p:blipFill rotWithShape="1">
          <a:blip r:embed="rId14">
            <a:extLst>
              <a:ext uri="{28A0092B-C50C-407E-A947-70E740481C1C}">
                <a14:useLocalDpi xmlns:a14="http://schemas.microsoft.com/office/drawing/2010/main" val="0"/>
              </a:ext>
            </a:extLst>
          </a:blip>
          <a:srcRect t="1538" b="-1538"/>
          <a:stretch/>
        </p:blipFill>
        <p:spPr bwMode="black">
          <a:xfrm>
            <a:off x="0" y="9189720"/>
            <a:ext cx="18288000" cy="1114425"/>
          </a:xfrm>
          <a:prstGeom prst="rect">
            <a:avLst/>
          </a:prstGeom>
        </p:spPr>
      </p:pic>
      <p:sp>
        <p:nvSpPr>
          <p:cNvPr id="2" name="Title Placeholder 1"/>
          <p:cNvSpPr>
            <a:spLocks noGrp="1"/>
          </p:cNvSpPr>
          <p:nvPr>
            <p:ph type="title"/>
          </p:nvPr>
        </p:nvSpPr>
        <p:spPr>
          <a:xfrm>
            <a:off x="2177369" y="1206779"/>
            <a:ext cx="14404913" cy="1573853"/>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2177369" y="3023599"/>
            <a:ext cx="14404913" cy="517592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1331208" y="495555"/>
            <a:ext cx="5251073" cy="463802"/>
          </a:xfrm>
          <a:prstGeom prst="rect">
            <a:avLst/>
          </a:prstGeom>
        </p:spPr>
        <p:txBody>
          <a:bodyPr vert="horz" lIns="91440" tIns="45720" rIns="91440" bIns="45720" rtlCol="0" anchor="ctr"/>
          <a:lstStyle>
            <a:lvl1pPr algn="r">
              <a:defRPr sz="1500">
                <a:solidFill>
                  <a:schemeClr val="tx1">
                    <a:tint val="75000"/>
                  </a:schemeClr>
                </a:solidFill>
              </a:defRPr>
            </a:lvl1pPr>
          </a:lstStyle>
          <a:p>
            <a:fld id="{C764DE79-268F-4C1A-8933-263129D2AF90}" type="datetimeFigureOut">
              <a:rPr lang="en-US" smtClean="0"/>
              <a:t>5/11/26</a:t>
            </a:fld>
            <a:endParaRPr lang="en-US" dirty="0"/>
          </a:p>
        </p:txBody>
      </p:sp>
      <p:sp>
        <p:nvSpPr>
          <p:cNvPr id="5" name="Footer Placeholder 4"/>
          <p:cNvSpPr>
            <a:spLocks noGrp="1"/>
          </p:cNvSpPr>
          <p:nvPr>
            <p:ph type="ftr" sz="quarter" idx="3"/>
          </p:nvPr>
        </p:nvSpPr>
        <p:spPr>
          <a:xfrm>
            <a:off x="2177369" y="493961"/>
            <a:ext cx="8908254" cy="463802"/>
          </a:xfrm>
          <a:prstGeom prst="rect">
            <a:avLst/>
          </a:prstGeom>
        </p:spPr>
        <p:txBody>
          <a:bodyPr vert="horz" lIns="91440" tIns="45720" rIns="91440" bIns="45720" rtlCol="0" anchor="ctr"/>
          <a:lstStyle>
            <a:lvl1pPr algn="l">
              <a:defRPr sz="15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720091" y="1198460"/>
            <a:ext cx="1216529" cy="755367"/>
          </a:xfrm>
          <a:prstGeom prst="rect">
            <a:avLst/>
          </a:prstGeom>
        </p:spPr>
        <p:txBody>
          <a:bodyPr vert="horz" lIns="91440" tIns="45720" rIns="91440" bIns="45720" rtlCol="0" anchor="t"/>
          <a:lstStyle>
            <a:lvl1pPr algn="r">
              <a:defRPr sz="4200">
                <a:solidFill>
                  <a:schemeClr val="accent1"/>
                </a:solidFill>
              </a:defRPr>
            </a:lvl1pPr>
          </a:lstStyle>
          <a:p>
            <a:fld id="{48F63A3B-78C7-47BE-AE5E-E10140E04643}" type="slidenum">
              <a:rPr lang="en-US" smtClean="0"/>
              <a:t>‹#›</a:t>
            </a:fld>
            <a:endParaRPr lang="en-US" dirty="0"/>
          </a:p>
        </p:txBody>
      </p:sp>
      <p:cxnSp>
        <p:nvCxnSpPr>
          <p:cNvPr id="10" name="Straight Connector 9"/>
          <p:cNvCxnSpPr/>
          <p:nvPr/>
        </p:nvCxnSpPr>
        <p:spPr>
          <a:xfrm>
            <a:off x="0" y="9192620"/>
            <a:ext cx="18288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01038895"/>
      </p:ext>
    </p:extLst>
  </p:cSld>
  <p:clrMap bg1="lt1" tx1="dk1" bg2="lt2" tx2="dk2" accent1="accent1" accent2="accent2" accent3="accent3" accent4="accent4" accent5="accent5" accent6="accent6" hlink="hlink" folHlink="folHlink"/>
  <p:sldLayoutIdLst>
    <p:sldLayoutId id="2147483735" r:id="rId1"/>
    <p:sldLayoutId id="2147483736" r:id="rId2"/>
    <p:sldLayoutId id="2147483737" r:id="rId3"/>
    <p:sldLayoutId id="2147483738" r:id="rId4"/>
    <p:sldLayoutId id="2147483739" r:id="rId5"/>
    <p:sldLayoutId id="2147483740" r:id="rId6"/>
    <p:sldLayoutId id="2147483741" r:id="rId7"/>
    <p:sldLayoutId id="2147483742" r:id="rId8"/>
    <p:sldLayoutId id="2147483743" r:id="rId9"/>
    <p:sldLayoutId id="2147483744" r:id="rId10"/>
    <p:sldLayoutId id="2147483745" r:id="rId11"/>
    <p:sldLayoutId id="2147483746" r:id="rId12"/>
  </p:sldLayoutIdLst>
  <p:hf sldNum="0" hdr="0" ftr="0" dt="0"/>
  <p:txStyles>
    <p:titleStyle>
      <a:lvl1pPr algn="l" defTabSz="1371600" rtl="0" eaLnBrk="1" latinLnBrk="0" hangingPunct="1">
        <a:lnSpc>
          <a:spcPct val="90000"/>
        </a:lnSpc>
        <a:spcBef>
          <a:spcPct val="0"/>
        </a:spcBef>
        <a:buNone/>
        <a:defRPr sz="4800" b="0" i="0" kern="1200" cap="all">
          <a:solidFill>
            <a:schemeClr val="tx1"/>
          </a:solidFill>
          <a:effectLst/>
          <a:latin typeface="+mj-lt"/>
          <a:ea typeface="+mj-ea"/>
          <a:cs typeface="+mj-cs"/>
        </a:defRPr>
      </a:lvl1pPr>
    </p:titleStyle>
    <p:bodyStyle>
      <a:lvl1pPr marL="342900" indent="-342900" algn="l" defTabSz="1371600" rtl="0" eaLnBrk="1" latinLnBrk="0" hangingPunct="1">
        <a:lnSpc>
          <a:spcPct val="120000"/>
        </a:lnSpc>
        <a:spcBef>
          <a:spcPts val="1500"/>
        </a:spcBef>
        <a:buClr>
          <a:schemeClr val="accent1"/>
        </a:buClr>
        <a:buSzPct val="100000"/>
        <a:buFont typeface="Arial" panose="020B0604020202020204" pitchFamily="34" charset="0"/>
        <a:buChar char="•"/>
        <a:defRPr sz="3000" kern="1200">
          <a:solidFill>
            <a:schemeClr val="tx1"/>
          </a:solidFill>
          <a:effectLst/>
          <a:latin typeface="+mn-lt"/>
          <a:ea typeface="+mn-ea"/>
          <a:cs typeface="+mn-cs"/>
        </a:defRPr>
      </a:lvl1pPr>
      <a:lvl2pPr marL="1028700" indent="-342900" algn="l" defTabSz="1371600" rtl="0" eaLnBrk="1" latinLnBrk="0" hangingPunct="1">
        <a:lnSpc>
          <a:spcPct val="120000"/>
        </a:lnSpc>
        <a:spcBef>
          <a:spcPts val="750"/>
        </a:spcBef>
        <a:buClr>
          <a:schemeClr val="accent1"/>
        </a:buClr>
        <a:buSzPct val="100000"/>
        <a:buFont typeface="Arial" panose="020B0604020202020204" pitchFamily="34" charset="0"/>
        <a:buChar char="•"/>
        <a:defRPr sz="2700" kern="1200" cap="none" baseline="0">
          <a:solidFill>
            <a:schemeClr val="tx1"/>
          </a:solidFill>
          <a:effectLst/>
          <a:latin typeface="+mn-lt"/>
          <a:ea typeface="+mn-ea"/>
          <a:cs typeface="+mn-cs"/>
        </a:defRPr>
      </a:lvl2pPr>
      <a:lvl3pPr marL="1714500" indent="-342900" algn="l" defTabSz="1371600" rtl="0" eaLnBrk="1" latinLnBrk="0" hangingPunct="1">
        <a:lnSpc>
          <a:spcPct val="120000"/>
        </a:lnSpc>
        <a:spcBef>
          <a:spcPts val="750"/>
        </a:spcBef>
        <a:buClr>
          <a:schemeClr val="accent1"/>
        </a:buClr>
        <a:buSzPct val="100000"/>
        <a:buFont typeface="Arial" panose="020B0604020202020204" pitchFamily="34" charset="0"/>
        <a:buChar char="•"/>
        <a:defRPr sz="2400" kern="1200">
          <a:solidFill>
            <a:schemeClr val="tx1"/>
          </a:solidFill>
          <a:effectLst/>
          <a:latin typeface="+mn-lt"/>
          <a:ea typeface="+mn-ea"/>
          <a:cs typeface="+mn-cs"/>
        </a:defRPr>
      </a:lvl3pPr>
      <a:lvl4pPr marL="2400300" indent="-342900" algn="l" defTabSz="1371600" rtl="0" eaLnBrk="1" latinLnBrk="0" hangingPunct="1">
        <a:lnSpc>
          <a:spcPct val="120000"/>
        </a:lnSpc>
        <a:spcBef>
          <a:spcPts val="750"/>
        </a:spcBef>
        <a:buClr>
          <a:schemeClr val="accent1"/>
        </a:buClr>
        <a:buSzPct val="100000"/>
        <a:buFont typeface="Arial" panose="020B0604020202020204" pitchFamily="34" charset="0"/>
        <a:buChar char="•"/>
        <a:defRPr sz="2100" kern="1200" cap="none" baseline="0">
          <a:solidFill>
            <a:schemeClr val="tx1"/>
          </a:solidFill>
          <a:effectLst/>
          <a:latin typeface="+mn-lt"/>
          <a:ea typeface="+mn-ea"/>
          <a:cs typeface="+mn-cs"/>
        </a:defRPr>
      </a:lvl4pPr>
      <a:lvl5pPr marL="3086100" indent="-342900" algn="l" defTabSz="1371600" rtl="0" eaLnBrk="1" latinLnBrk="0" hangingPunct="1">
        <a:lnSpc>
          <a:spcPct val="120000"/>
        </a:lnSpc>
        <a:spcBef>
          <a:spcPts val="750"/>
        </a:spcBef>
        <a:buClr>
          <a:schemeClr val="accent1"/>
        </a:buClr>
        <a:buSzPct val="100000"/>
        <a:buFont typeface="Arial" panose="020B0604020202020204" pitchFamily="34" charset="0"/>
        <a:buChar char="•"/>
        <a:defRPr sz="1800" kern="1200">
          <a:solidFill>
            <a:schemeClr val="tx1"/>
          </a:solidFill>
          <a:effectLst/>
          <a:latin typeface="+mn-lt"/>
          <a:ea typeface="+mn-ea"/>
          <a:cs typeface="+mn-cs"/>
        </a:defRPr>
      </a:lvl5pPr>
      <a:lvl6pPr marL="3771900" indent="-342900" algn="l" defTabSz="1371600" rtl="0" eaLnBrk="1" latinLnBrk="0" hangingPunct="1">
        <a:lnSpc>
          <a:spcPct val="120000"/>
        </a:lnSpc>
        <a:spcBef>
          <a:spcPts val="750"/>
        </a:spcBef>
        <a:buClr>
          <a:schemeClr val="accent1"/>
        </a:buClr>
        <a:buSzPct val="100000"/>
        <a:buFont typeface="Arial" panose="020B0604020202020204" pitchFamily="34" charset="0"/>
        <a:buChar char="•"/>
        <a:defRPr sz="1800" kern="1200">
          <a:solidFill>
            <a:schemeClr val="tx1"/>
          </a:solidFill>
          <a:effectLst/>
          <a:latin typeface="+mn-lt"/>
          <a:ea typeface="+mn-ea"/>
          <a:cs typeface="+mn-cs"/>
        </a:defRPr>
      </a:lvl6pPr>
      <a:lvl7pPr marL="4457700" indent="-342900" algn="l" defTabSz="1371600" rtl="0" eaLnBrk="1" latinLnBrk="0" hangingPunct="1">
        <a:lnSpc>
          <a:spcPct val="120000"/>
        </a:lnSpc>
        <a:spcBef>
          <a:spcPts val="750"/>
        </a:spcBef>
        <a:buClr>
          <a:schemeClr val="accent1"/>
        </a:buClr>
        <a:buSzPct val="100000"/>
        <a:buFont typeface="Arial" panose="020B0604020202020204" pitchFamily="34" charset="0"/>
        <a:buChar char="•"/>
        <a:defRPr sz="1800" kern="1200">
          <a:solidFill>
            <a:schemeClr val="tx1"/>
          </a:solidFill>
          <a:effectLst/>
          <a:latin typeface="+mn-lt"/>
          <a:ea typeface="+mn-ea"/>
          <a:cs typeface="+mn-cs"/>
        </a:defRPr>
      </a:lvl7pPr>
      <a:lvl8pPr marL="5143500" indent="-342900" algn="l" defTabSz="1371600" rtl="0" eaLnBrk="1" latinLnBrk="0" hangingPunct="1">
        <a:lnSpc>
          <a:spcPct val="120000"/>
        </a:lnSpc>
        <a:spcBef>
          <a:spcPts val="750"/>
        </a:spcBef>
        <a:buClr>
          <a:schemeClr val="accent1"/>
        </a:buClr>
        <a:buSzPct val="100000"/>
        <a:buFont typeface="Arial" panose="020B0604020202020204" pitchFamily="34" charset="0"/>
        <a:buChar char="•"/>
        <a:defRPr sz="1800" kern="1200" baseline="0">
          <a:solidFill>
            <a:schemeClr val="tx1"/>
          </a:solidFill>
          <a:effectLst/>
          <a:latin typeface="+mn-lt"/>
          <a:ea typeface="+mn-ea"/>
          <a:cs typeface="+mn-cs"/>
        </a:defRPr>
      </a:lvl8pPr>
      <a:lvl9pPr marL="5829300" indent="-342900" algn="l" defTabSz="1371600" rtl="0" eaLnBrk="1" latinLnBrk="0" hangingPunct="1">
        <a:lnSpc>
          <a:spcPct val="120000"/>
        </a:lnSpc>
        <a:spcBef>
          <a:spcPts val="750"/>
        </a:spcBef>
        <a:buClr>
          <a:schemeClr val="accent1"/>
        </a:buClr>
        <a:buSzPct val="100000"/>
        <a:buFont typeface="Arial" panose="020B0604020202020204" pitchFamily="34" charset="0"/>
        <a:buChar char="•"/>
        <a:defRPr sz="1800" kern="1200" baseline="0">
          <a:solidFill>
            <a:schemeClr val="tx1"/>
          </a:solidFill>
          <a:effectLst/>
          <a:latin typeface="+mn-lt"/>
          <a:ea typeface="+mn-ea"/>
          <a:cs typeface="+mn-cs"/>
        </a:defRPr>
      </a:lvl9pPr>
    </p:bodyStyle>
    <p:otherStyle>
      <a:defPPr>
        <a:defRPr lang="en-US"/>
      </a:defPPr>
      <a:lvl1pPr marL="0" algn="l" defTabSz="1371600" rtl="0" eaLnBrk="1" latinLnBrk="0" hangingPunct="1">
        <a:defRPr sz="2700" kern="1200">
          <a:solidFill>
            <a:schemeClr val="tx1"/>
          </a:solidFill>
          <a:latin typeface="+mn-lt"/>
          <a:ea typeface="+mn-ea"/>
          <a:cs typeface="+mn-cs"/>
        </a:defRPr>
      </a:lvl1pPr>
      <a:lvl2pPr marL="685800" algn="l" defTabSz="1371600" rtl="0" eaLnBrk="1" latinLnBrk="0" hangingPunct="1">
        <a:defRPr sz="2700" kern="1200">
          <a:solidFill>
            <a:schemeClr val="tx1"/>
          </a:solidFill>
          <a:latin typeface="+mn-lt"/>
          <a:ea typeface="+mn-ea"/>
          <a:cs typeface="+mn-cs"/>
        </a:defRPr>
      </a:lvl2pPr>
      <a:lvl3pPr marL="1371600" algn="l" defTabSz="1371600" rtl="0" eaLnBrk="1" latinLnBrk="0" hangingPunct="1">
        <a:defRPr sz="2700" kern="1200">
          <a:solidFill>
            <a:schemeClr val="tx1"/>
          </a:solidFill>
          <a:latin typeface="+mn-lt"/>
          <a:ea typeface="+mn-ea"/>
          <a:cs typeface="+mn-cs"/>
        </a:defRPr>
      </a:lvl3pPr>
      <a:lvl4pPr marL="2057400" algn="l" defTabSz="1371600" rtl="0" eaLnBrk="1" latinLnBrk="0" hangingPunct="1">
        <a:defRPr sz="2700" kern="1200">
          <a:solidFill>
            <a:schemeClr val="tx1"/>
          </a:solidFill>
          <a:latin typeface="+mn-lt"/>
          <a:ea typeface="+mn-ea"/>
          <a:cs typeface="+mn-cs"/>
        </a:defRPr>
      </a:lvl4pPr>
      <a:lvl5pPr marL="2743200" algn="l" defTabSz="1371600" rtl="0" eaLnBrk="1" latinLnBrk="0" hangingPunct="1">
        <a:defRPr sz="2700" kern="1200">
          <a:solidFill>
            <a:schemeClr val="tx1"/>
          </a:solidFill>
          <a:latin typeface="+mn-lt"/>
          <a:ea typeface="+mn-ea"/>
          <a:cs typeface="+mn-cs"/>
        </a:defRPr>
      </a:lvl5pPr>
      <a:lvl6pPr marL="3429000" algn="l" defTabSz="1371600" rtl="0" eaLnBrk="1" latinLnBrk="0" hangingPunct="1">
        <a:defRPr sz="2700" kern="1200">
          <a:solidFill>
            <a:schemeClr val="tx1"/>
          </a:solidFill>
          <a:latin typeface="+mn-lt"/>
          <a:ea typeface="+mn-ea"/>
          <a:cs typeface="+mn-cs"/>
        </a:defRPr>
      </a:lvl6pPr>
      <a:lvl7pPr marL="4114800" algn="l" defTabSz="1371600" rtl="0" eaLnBrk="1" latinLnBrk="0" hangingPunct="1">
        <a:defRPr sz="2700" kern="1200">
          <a:solidFill>
            <a:schemeClr val="tx1"/>
          </a:solidFill>
          <a:latin typeface="+mn-lt"/>
          <a:ea typeface="+mn-ea"/>
          <a:cs typeface="+mn-cs"/>
        </a:defRPr>
      </a:lvl7pPr>
      <a:lvl8pPr marL="4800600" algn="l" defTabSz="1371600" rtl="0" eaLnBrk="1" latinLnBrk="0" hangingPunct="1">
        <a:defRPr sz="2700" kern="1200">
          <a:solidFill>
            <a:schemeClr val="tx1"/>
          </a:solidFill>
          <a:latin typeface="+mn-lt"/>
          <a:ea typeface="+mn-ea"/>
          <a:cs typeface="+mn-cs"/>
        </a:defRPr>
      </a:lvl8pPr>
      <a:lvl9pPr marL="5486400" algn="l" defTabSz="1371600" rtl="0" eaLnBrk="1" latinLnBrk="0" hangingPunct="1">
        <a:defRPr sz="27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3EFE7"/>
        </a:solidFill>
        <a:effectLst/>
      </p:bgPr>
    </p:bg>
    <p:spTree>
      <p:nvGrpSpPr>
        <p:cNvPr id="1" name=""/>
        <p:cNvGrpSpPr/>
        <p:nvPr/>
      </p:nvGrpSpPr>
      <p:grpSpPr>
        <a:xfrm>
          <a:off x="0" y="0"/>
          <a:ext cx="0" cy="0"/>
          <a:chOff x="0" y="0"/>
          <a:chExt cx="0" cy="0"/>
        </a:xfrm>
      </p:grpSpPr>
      <p:sp>
        <p:nvSpPr>
          <p:cNvPr id="2" name="Text 0"/>
          <p:cNvSpPr/>
          <p:nvPr/>
        </p:nvSpPr>
        <p:spPr>
          <a:xfrm>
            <a:off x="1352476" y="398859"/>
            <a:ext cx="3626624" cy="258366"/>
          </a:xfrm>
          <a:prstGeom prst="rect">
            <a:avLst/>
          </a:prstGeom>
          <a:noFill/>
          <a:ln/>
        </p:spPr>
        <p:txBody>
          <a:bodyPr wrap="square" lIns="0" tIns="0" rIns="0" bIns="0" rtlCol="0" anchor="t">
            <a:normAutofit fontScale="92500" lnSpcReduction="20000"/>
          </a:bodyPr>
          <a:lstStyle/>
          <a:p>
            <a:pPr marL="0" indent="0" algn="l">
              <a:lnSpc>
                <a:spcPct val="140000"/>
              </a:lnSpc>
              <a:buNone/>
            </a:pPr>
            <a:r>
              <a:rPr lang="en-US" sz="1500" kern="0" spc="90" dirty="0">
                <a:solidFill>
                  <a:srgbClr val="7A7466"/>
                </a:solidFill>
                <a:latin typeface="Courier New" pitchFamily="34" charset="0"/>
                <a:ea typeface="Courier New" pitchFamily="34" charset="-122"/>
                <a:cs typeface="Courier New" pitchFamily="34" charset="-120"/>
              </a:rPr>
              <a:t>THE GATHERING · TG.COMMUNITY</a:t>
            </a:r>
            <a:endParaRPr lang="en-US" sz="1500" dirty="0"/>
          </a:p>
        </p:txBody>
      </p:sp>
      <p:sp>
        <p:nvSpPr>
          <p:cNvPr id="3" name="Text 1"/>
          <p:cNvSpPr/>
          <p:nvPr/>
        </p:nvSpPr>
        <p:spPr>
          <a:xfrm>
            <a:off x="12309481" y="381000"/>
            <a:ext cx="3238027"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7A7466"/>
                </a:solidFill>
                <a:latin typeface="Courier New" pitchFamily="34" charset="0"/>
                <a:ea typeface="Courier New" pitchFamily="34" charset="-122"/>
                <a:cs typeface="Courier New" pitchFamily="34" charset="-120"/>
              </a:rPr>
              <a:t>CMS SUMMIT FRANKFURT 2026</a:t>
            </a:r>
            <a:endParaRPr lang="en-US" sz="1500" dirty="0"/>
          </a:p>
        </p:txBody>
      </p:sp>
      <p:sp>
        <p:nvSpPr>
          <p:cNvPr id="4" name="Text 2"/>
          <p:cNvSpPr/>
          <p:nvPr/>
        </p:nvSpPr>
        <p:spPr>
          <a:xfrm>
            <a:off x="15796059" y="381000"/>
            <a:ext cx="201960"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1A1813">
                    <a:alpha val="7000"/>
                  </a:srgbClr>
                </a:solidFill>
                <a:latin typeface="Courier New" pitchFamily="34" charset="0"/>
                <a:ea typeface="Courier New" pitchFamily="34" charset="-122"/>
                <a:cs typeface="Courier New" pitchFamily="34" charset="-120"/>
              </a:rPr>
              <a:t>·</a:t>
            </a:r>
            <a:endParaRPr lang="en-US" sz="1500" dirty="0"/>
          </a:p>
        </p:txBody>
      </p:sp>
      <p:sp>
        <p:nvSpPr>
          <p:cNvPr id="5" name="Text 3"/>
          <p:cNvSpPr/>
          <p:nvPr/>
        </p:nvSpPr>
        <p:spPr>
          <a:xfrm>
            <a:off x="16264682" y="381000"/>
            <a:ext cx="956518"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7A7466"/>
                </a:solidFill>
                <a:latin typeface="Courier New" pitchFamily="34" charset="0"/>
                <a:ea typeface="Courier New" pitchFamily="34" charset="-122"/>
                <a:cs typeface="Courier New" pitchFamily="34" charset="-120"/>
              </a:rPr>
              <a:t>01 / 11</a:t>
            </a:r>
            <a:endParaRPr lang="en-US" sz="1500" dirty="0"/>
          </a:p>
        </p:txBody>
      </p:sp>
      <p:sp>
        <p:nvSpPr>
          <p:cNvPr id="6" name="Text 4"/>
          <p:cNvSpPr/>
          <p:nvPr/>
        </p:nvSpPr>
        <p:spPr>
          <a:xfrm>
            <a:off x="1904907" y="3640801"/>
            <a:ext cx="4425185" cy="331477"/>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endParaRPr lang="en-US" sz="1650" dirty="0"/>
          </a:p>
        </p:txBody>
      </p:sp>
      <p:sp>
        <p:nvSpPr>
          <p:cNvPr id="7" name="Text 5"/>
          <p:cNvSpPr/>
          <p:nvPr/>
        </p:nvSpPr>
        <p:spPr>
          <a:xfrm>
            <a:off x="1143000" y="4467541"/>
            <a:ext cx="15893415" cy="2902855"/>
          </a:xfrm>
          <a:prstGeom prst="rect">
            <a:avLst/>
          </a:prstGeom>
          <a:noFill/>
          <a:ln/>
        </p:spPr>
        <p:txBody>
          <a:bodyPr wrap="square" lIns="25400" tIns="25400" rIns="25400" bIns="25400" rtlCol="0" anchor="t">
            <a:normAutofit/>
          </a:bodyPr>
          <a:lstStyle/>
          <a:p>
            <a:pPr marL="0" indent="0" algn="l">
              <a:lnSpc>
                <a:spcPct val="96000"/>
              </a:lnSpc>
              <a:buNone/>
            </a:pPr>
            <a:r>
              <a:rPr lang="en-US" sz="9600" kern="0" spc="-328" dirty="0">
                <a:solidFill>
                  <a:srgbClr val="1A1813"/>
                </a:solidFill>
                <a:latin typeface="Georgia" pitchFamily="34" charset="0"/>
                <a:ea typeface="Georgia" pitchFamily="34" charset="-122"/>
                <a:cs typeface="Georgia" pitchFamily="34" charset="-120"/>
              </a:rPr>
              <a:t>The Web has a </a:t>
            </a:r>
            <a:r>
              <a:rPr lang="en-US" sz="9600" i="1" kern="0" spc="-328" dirty="0">
                <a:solidFill>
                  <a:srgbClr val="000000"/>
                </a:solidFill>
                <a:latin typeface="Georgia" pitchFamily="34" charset="0"/>
                <a:ea typeface="Georgia" pitchFamily="34" charset="-122"/>
                <a:cs typeface="Georgia" pitchFamily="34" charset="-120"/>
              </a:rPr>
              <a:t>new audience.</a:t>
            </a:r>
            <a:endParaRPr lang="en-US" sz="9600" dirty="0"/>
          </a:p>
        </p:txBody>
      </p:sp>
      <p:sp>
        <p:nvSpPr>
          <p:cNvPr id="8" name="Shape 6"/>
          <p:cNvSpPr/>
          <p:nvPr/>
        </p:nvSpPr>
        <p:spPr>
          <a:xfrm>
            <a:off x="1143000" y="8018022"/>
            <a:ext cx="16002000" cy="9525"/>
          </a:xfrm>
          <a:prstGeom prst="rect">
            <a:avLst/>
          </a:prstGeom>
          <a:solidFill>
            <a:srgbClr val="1A1813">
              <a:alpha val="13000"/>
            </a:srgbClr>
          </a:solidFill>
          <a:ln/>
        </p:spPr>
        <p:txBody>
          <a:bodyPr/>
          <a:lstStyle/>
          <a:p>
            <a:endParaRPr lang="en-GB"/>
          </a:p>
        </p:txBody>
      </p:sp>
      <p:sp>
        <p:nvSpPr>
          <p:cNvPr id="9" name="Text 7"/>
          <p:cNvSpPr/>
          <p:nvPr/>
        </p:nvSpPr>
        <p:spPr>
          <a:xfrm>
            <a:off x="1143000" y="8340607"/>
            <a:ext cx="2982315" cy="514350"/>
          </a:xfrm>
          <a:prstGeom prst="rect">
            <a:avLst/>
          </a:prstGeom>
          <a:noFill/>
          <a:ln/>
        </p:spPr>
        <p:txBody>
          <a:bodyPr wrap="square" lIns="0" tIns="0" rIns="0" bIns="0" rtlCol="0" anchor="t">
            <a:normAutofit fontScale="92500" lnSpcReduction="10000"/>
          </a:bodyPr>
          <a:lstStyle/>
          <a:p>
            <a:pPr marL="0" indent="0" algn="l">
              <a:lnSpc>
                <a:spcPct val="120000"/>
              </a:lnSpc>
              <a:buNone/>
            </a:pPr>
            <a:r>
              <a:rPr lang="en-US" sz="3300" dirty="0">
                <a:solidFill>
                  <a:srgbClr val="1A1813"/>
                </a:solidFill>
                <a:latin typeface="Georgia" pitchFamily="34" charset="0"/>
                <a:ea typeface="Georgia" pitchFamily="34" charset="-122"/>
                <a:cs typeface="Georgia" pitchFamily="34" charset="-120"/>
              </a:rPr>
              <a:t>Tom Cranstoun</a:t>
            </a:r>
            <a:endParaRPr lang="en-US" sz="3300" dirty="0"/>
          </a:p>
        </p:txBody>
      </p:sp>
      <p:sp>
        <p:nvSpPr>
          <p:cNvPr id="10" name="Text 8"/>
          <p:cNvSpPr/>
          <p:nvPr/>
        </p:nvSpPr>
        <p:spPr>
          <a:xfrm>
            <a:off x="1143000" y="8869691"/>
            <a:ext cx="12843843" cy="312409"/>
          </a:xfrm>
          <a:prstGeom prst="rect">
            <a:avLst/>
          </a:prstGeom>
          <a:noFill/>
          <a:ln/>
        </p:spPr>
        <p:txBody>
          <a:bodyPr wrap="square" lIns="25400" tIns="25400" rIns="25400" bIns="25400" rtlCol="0" anchor="t">
            <a:normAutofit fontScale="92500" lnSpcReduction="20000"/>
          </a:bodyPr>
          <a:lstStyle/>
          <a:p>
            <a:pPr marL="0" indent="0" algn="l">
              <a:lnSpc>
                <a:spcPct val="120000"/>
              </a:lnSpc>
              <a:buNone/>
            </a:pPr>
            <a:r>
              <a:rPr lang="en-US" sz="1800" dirty="0">
                <a:solidFill>
                  <a:srgbClr val="4B463A"/>
                </a:solidFill>
                <a:latin typeface="Arial" pitchFamily="34" charset="0"/>
                <a:ea typeface="Arial" pitchFamily="34" charset="-122"/>
                <a:cs typeface="Arial" pitchFamily="34" charset="-120"/>
              </a:rPr>
              <a:t>Founder, Machine Experience community</a:t>
            </a:r>
            <a:endParaRPr lang="en-US" sz="1800" dirty="0"/>
          </a:p>
        </p:txBody>
      </p:sp>
      <p:sp>
        <p:nvSpPr>
          <p:cNvPr id="11" name="Text 9"/>
          <p:cNvSpPr/>
          <p:nvPr/>
        </p:nvSpPr>
        <p:spPr>
          <a:xfrm>
            <a:off x="13820650" y="8431485"/>
            <a:ext cx="3324350" cy="750615"/>
          </a:xfrm>
          <a:prstGeom prst="rect">
            <a:avLst/>
          </a:prstGeom>
          <a:noFill/>
          <a:ln/>
        </p:spPr>
        <p:txBody>
          <a:bodyPr wrap="square" lIns="25400" tIns="25400" rIns="25400" bIns="25400" rtlCol="0" anchor="t">
            <a:normAutofit fontScale="92500" lnSpcReduction="10000"/>
          </a:bodyPr>
          <a:lstStyle/>
          <a:p>
            <a:pPr marL="0" indent="0" algn="r">
              <a:lnSpc>
                <a:spcPct val="170000"/>
              </a:lnSpc>
              <a:buNone/>
            </a:pPr>
            <a:r>
              <a:rPr lang="en-US" sz="1650" kern="0" spc="165" dirty="0">
                <a:solidFill>
                  <a:srgbClr val="4B463A"/>
                </a:solidFill>
                <a:latin typeface="Courier New" pitchFamily="34" charset="0"/>
                <a:ea typeface="Courier New" pitchFamily="34" charset="-122"/>
                <a:cs typeface="Courier New" pitchFamily="34" charset="-120"/>
              </a:rPr>
              <a:t>CMS SUMMIT · FRANKFURT 12 MAY 2026</a:t>
            </a:r>
            <a:endParaRPr lang="en-US" sz="16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EFE7"/>
        </a:solidFill>
        <a:effectLst/>
      </p:bgPr>
    </p:bg>
    <p:spTree>
      <p:nvGrpSpPr>
        <p:cNvPr id="1" name=""/>
        <p:cNvGrpSpPr/>
        <p:nvPr/>
      </p:nvGrpSpPr>
      <p:grpSpPr>
        <a:xfrm>
          <a:off x="0" y="0"/>
          <a:ext cx="0" cy="0"/>
          <a:chOff x="0" y="0"/>
          <a:chExt cx="0" cy="0"/>
        </a:xfrm>
      </p:grpSpPr>
      <p:sp>
        <p:nvSpPr>
          <p:cNvPr id="2" name="Text 0"/>
          <p:cNvSpPr/>
          <p:nvPr/>
        </p:nvSpPr>
        <p:spPr>
          <a:xfrm>
            <a:off x="1352476" y="398859"/>
            <a:ext cx="2979057" cy="258366"/>
          </a:xfrm>
          <a:prstGeom prst="rect">
            <a:avLst/>
          </a:prstGeom>
          <a:noFill/>
          <a:ln/>
        </p:spPr>
        <p:txBody>
          <a:bodyPr wrap="square" lIns="0" tIns="0" rIns="0" bIns="0" rtlCol="0" anchor="t">
            <a:normAutofit fontScale="92500" lnSpcReduction="20000"/>
          </a:bodyPr>
          <a:lstStyle/>
          <a:p>
            <a:pPr marL="0" indent="0" algn="l">
              <a:lnSpc>
                <a:spcPct val="140000"/>
              </a:lnSpc>
              <a:buNone/>
            </a:pPr>
            <a:r>
              <a:rPr lang="en-US" sz="1500" kern="0" spc="90" dirty="0">
                <a:solidFill>
                  <a:srgbClr val="7A7466"/>
                </a:solidFill>
                <a:latin typeface="Courier New" pitchFamily="34" charset="0"/>
                <a:ea typeface="Courier New" pitchFamily="34" charset="-122"/>
                <a:cs typeface="Courier New" pitchFamily="34" charset="-120"/>
              </a:rPr>
              <a:t>PART ONE · THE AUDIENCE</a:t>
            </a:r>
            <a:endParaRPr lang="en-US" sz="1500" dirty="0"/>
          </a:p>
        </p:txBody>
      </p:sp>
      <p:sp>
        <p:nvSpPr>
          <p:cNvPr id="3" name="Text 1"/>
          <p:cNvSpPr/>
          <p:nvPr/>
        </p:nvSpPr>
        <p:spPr>
          <a:xfrm>
            <a:off x="12183721" y="381000"/>
            <a:ext cx="3367559"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7A7466"/>
                </a:solidFill>
                <a:latin typeface="Courier New" pitchFamily="34" charset="0"/>
                <a:ea typeface="Courier New" pitchFamily="34" charset="-122"/>
                <a:cs typeface="Courier New" pitchFamily="34" charset="-120"/>
              </a:rPr>
              <a:t>THE WEB HAS A NEW AUDIENCE</a:t>
            </a:r>
            <a:endParaRPr lang="en-US" sz="1500" dirty="0"/>
          </a:p>
        </p:txBody>
      </p:sp>
      <p:sp>
        <p:nvSpPr>
          <p:cNvPr id="4" name="Text 2"/>
          <p:cNvSpPr/>
          <p:nvPr/>
        </p:nvSpPr>
        <p:spPr>
          <a:xfrm>
            <a:off x="15796059" y="381000"/>
            <a:ext cx="201960"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1A1813">
                    <a:alpha val="7000"/>
                  </a:srgbClr>
                </a:solidFill>
                <a:latin typeface="Courier New" pitchFamily="34" charset="0"/>
                <a:ea typeface="Courier New" pitchFamily="34" charset="-122"/>
                <a:cs typeface="Courier New" pitchFamily="34" charset="-120"/>
              </a:rPr>
              <a:t>·</a:t>
            </a:r>
            <a:endParaRPr lang="en-US" sz="1500" dirty="0"/>
          </a:p>
        </p:txBody>
      </p:sp>
      <p:sp>
        <p:nvSpPr>
          <p:cNvPr id="5" name="Text 3"/>
          <p:cNvSpPr/>
          <p:nvPr/>
        </p:nvSpPr>
        <p:spPr>
          <a:xfrm>
            <a:off x="16264682" y="381000"/>
            <a:ext cx="956518"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7A7466"/>
                </a:solidFill>
                <a:latin typeface="Courier New" pitchFamily="34" charset="0"/>
                <a:ea typeface="Courier New" pitchFamily="34" charset="-122"/>
                <a:cs typeface="Courier New" pitchFamily="34" charset="-120"/>
              </a:rPr>
              <a:t>02 / 11</a:t>
            </a:r>
            <a:endParaRPr lang="en-US" sz="1500" dirty="0"/>
          </a:p>
        </p:txBody>
      </p:sp>
      <p:sp>
        <p:nvSpPr>
          <p:cNvPr id="6" name="Text 4"/>
          <p:cNvSpPr/>
          <p:nvPr/>
        </p:nvSpPr>
        <p:spPr>
          <a:xfrm>
            <a:off x="1143000" y="914363"/>
            <a:ext cx="16482060" cy="331477"/>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650" kern="0" spc="330" dirty="0">
                <a:solidFill>
                  <a:srgbClr val="000000"/>
                </a:solidFill>
                <a:latin typeface="Courier New" pitchFamily="34" charset="0"/>
                <a:ea typeface="Courier New" pitchFamily="34" charset="-122"/>
                <a:cs typeface="Courier New" pitchFamily="34" charset="-120"/>
              </a:rPr>
              <a:t>THE OBSERVATION</a:t>
            </a:r>
            <a:endParaRPr lang="en-US" sz="1650" dirty="0"/>
          </a:p>
        </p:txBody>
      </p:sp>
      <p:sp>
        <p:nvSpPr>
          <p:cNvPr id="7" name="Text 5"/>
          <p:cNvSpPr/>
          <p:nvPr/>
        </p:nvSpPr>
        <p:spPr>
          <a:xfrm>
            <a:off x="1143000" y="1550603"/>
            <a:ext cx="15108555" cy="1753902"/>
          </a:xfrm>
          <a:prstGeom prst="rect">
            <a:avLst/>
          </a:prstGeom>
          <a:noFill/>
          <a:ln/>
        </p:spPr>
        <p:txBody>
          <a:bodyPr wrap="square" lIns="25400" tIns="25400" rIns="25400" bIns="25400" rtlCol="0" anchor="t">
            <a:normAutofit fontScale="92500" lnSpcReduction="20000"/>
          </a:bodyPr>
          <a:lstStyle/>
          <a:p>
            <a:pPr marL="0" indent="0" algn="l">
              <a:lnSpc>
                <a:spcPct val="102000"/>
              </a:lnSpc>
              <a:buNone/>
            </a:pPr>
            <a:r>
              <a:rPr lang="en-US" sz="6600" kern="0" spc="-119" dirty="0">
                <a:solidFill>
                  <a:srgbClr val="1A1813"/>
                </a:solidFill>
                <a:latin typeface="Georgia" pitchFamily="34" charset="0"/>
                <a:ea typeface="Georgia" pitchFamily="34" charset="-122"/>
                <a:cs typeface="Georgia" pitchFamily="34" charset="-120"/>
              </a:rPr>
              <a:t>The traffic to your customers' sites is </a:t>
            </a:r>
            <a:r>
              <a:rPr lang="en-US" sz="6600" i="1" kern="0" spc="-119" dirty="0">
                <a:solidFill>
                  <a:srgbClr val="000000"/>
                </a:solidFill>
                <a:latin typeface="Georgia" pitchFamily="34" charset="0"/>
                <a:ea typeface="Georgia" pitchFamily="34" charset="-122"/>
                <a:cs typeface="Georgia" pitchFamily="34" charset="-120"/>
              </a:rPr>
              <a:t>no longer just human.</a:t>
            </a:r>
            <a:endParaRPr lang="en-US" sz="6600" dirty="0"/>
          </a:p>
        </p:txBody>
      </p:sp>
      <p:sp>
        <p:nvSpPr>
          <p:cNvPr id="8" name="Text 6"/>
          <p:cNvSpPr/>
          <p:nvPr/>
        </p:nvSpPr>
        <p:spPr>
          <a:xfrm>
            <a:off x="1143000" y="3685449"/>
            <a:ext cx="14716125" cy="1028551"/>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3000" dirty="0">
                <a:solidFill>
                  <a:srgbClr val="1A1813"/>
                </a:solidFill>
                <a:latin typeface="Arial" pitchFamily="34" charset="0"/>
                <a:ea typeface="Arial" pitchFamily="34" charset="-122"/>
                <a:cs typeface="Arial" pitchFamily="34" charset="-120"/>
              </a:rPr>
              <a:t>Search agents. Summarisers. Retrieval pipelines. AI assistants working on behalf of someone who never visits the page.</a:t>
            </a:r>
            <a:endParaRPr lang="en-US" sz="3000" dirty="0"/>
          </a:p>
        </p:txBody>
      </p:sp>
      <p:sp>
        <p:nvSpPr>
          <p:cNvPr id="9" name="Text 7"/>
          <p:cNvSpPr/>
          <p:nvPr/>
        </p:nvSpPr>
        <p:spPr>
          <a:xfrm>
            <a:off x="1600181" y="5209263"/>
            <a:ext cx="14245228" cy="470911"/>
          </a:xfrm>
          <a:prstGeom prst="rect">
            <a:avLst/>
          </a:prstGeom>
          <a:noFill/>
          <a:ln/>
        </p:spPr>
        <p:txBody>
          <a:bodyPr wrap="square" lIns="25400" tIns="25400" rIns="25400" bIns="25400" rtlCol="0" anchor="t">
            <a:normAutofit fontScale="92500" lnSpcReduction="10000"/>
          </a:bodyPr>
          <a:lstStyle/>
          <a:p>
            <a:pPr marL="0" indent="0" algn="l">
              <a:lnSpc>
                <a:spcPct val="142000"/>
              </a:lnSpc>
              <a:buNone/>
            </a:pPr>
            <a:r>
              <a:rPr lang="en-US" sz="2400" dirty="0">
                <a:solidFill>
                  <a:srgbClr val="1A1813"/>
                </a:solidFill>
                <a:latin typeface="Arial" pitchFamily="34" charset="0"/>
                <a:ea typeface="Arial" pitchFamily="34" charset="-122"/>
                <a:cs typeface="Arial" pitchFamily="34" charset="-120"/>
              </a:rPr>
              <a:t>They read what your platform publishes.</a:t>
            </a:r>
            <a:endParaRPr lang="en-US" sz="2400" dirty="0"/>
          </a:p>
        </p:txBody>
      </p:sp>
      <p:sp>
        <p:nvSpPr>
          <p:cNvPr id="10" name="Text 8"/>
          <p:cNvSpPr/>
          <p:nvPr/>
        </p:nvSpPr>
        <p:spPr>
          <a:xfrm>
            <a:off x="1600181" y="5870618"/>
            <a:ext cx="14245228" cy="470911"/>
          </a:xfrm>
          <a:prstGeom prst="rect">
            <a:avLst/>
          </a:prstGeom>
          <a:noFill/>
          <a:ln/>
        </p:spPr>
        <p:txBody>
          <a:bodyPr wrap="square" lIns="25400" tIns="25400" rIns="25400" bIns="25400" rtlCol="0" anchor="t">
            <a:normAutofit fontScale="92500" lnSpcReduction="10000"/>
          </a:bodyPr>
          <a:lstStyle/>
          <a:p>
            <a:pPr marL="0" indent="0" algn="l">
              <a:lnSpc>
                <a:spcPct val="142000"/>
              </a:lnSpc>
              <a:buNone/>
            </a:pPr>
            <a:r>
              <a:rPr lang="en-US" sz="2400" dirty="0">
                <a:solidFill>
                  <a:srgbClr val="1A1813"/>
                </a:solidFill>
                <a:latin typeface="Arial" pitchFamily="34" charset="0"/>
                <a:ea typeface="Arial" pitchFamily="34" charset="-122"/>
                <a:cs typeface="Arial" pitchFamily="34" charset="-120"/>
              </a:rPr>
              <a:t>They extract from it.</a:t>
            </a:r>
            <a:endParaRPr lang="en-US" sz="2400" dirty="0"/>
          </a:p>
        </p:txBody>
      </p:sp>
      <p:sp>
        <p:nvSpPr>
          <p:cNvPr id="11" name="Text 9"/>
          <p:cNvSpPr/>
          <p:nvPr/>
        </p:nvSpPr>
        <p:spPr>
          <a:xfrm>
            <a:off x="1600181" y="6531973"/>
            <a:ext cx="14245228" cy="470911"/>
          </a:xfrm>
          <a:prstGeom prst="rect">
            <a:avLst/>
          </a:prstGeom>
          <a:noFill/>
          <a:ln/>
        </p:spPr>
        <p:txBody>
          <a:bodyPr wrap="square" lIns="25400" tIns="25400" rIns="25400" bIns="25400" rtlCol="0" anchor="t">
            <a:normAutofit fontScale="92500" lnSpcReduction="10000"/>
          </a:bodyPr>
          <a:lstStyle/>
          <a:p>
            <a:pPr marL="0" indent="0" algn="l">
              <a:lnSpc>
                <a:spcPct val="142000"/>
              </a:lnSpc>
              <a:buNone/>
            </a:pPr>
            <a:r>
              <a:rPr lang="en-US" sz="2400" dirty="0">
                <a:solidFill>
                  <a:srgbClr val="1A1813"/>
                </a:solidFill>
                <a:latin typeface="Arial" pitchFamily="34" charset="0"/>
                <a:ea typeface="Arial" pitchFamily="34" charset="-122"/>
                <a:cs typeface="Arial" pitchFamily="34" charset="-120"/>
              </a:rPr>
              <a:t>They present an answer somewhere else.</a:t>
            </a:r>
            <a:endParaRPr lang="en-US" sz="2400" dirty="0"/>
          </a:p>
        </p:txBody>
      </p:sp>
      <p:sp>
        <p:nvSpPr>
          <p:cNvPr id="12" name="Shape 10"/>
          <p:cNvSpPr/>
          <p:nvPr/>
        </p:nvSpPr>
        <p:spPr>
          <a:xfrm>
            <a:off x="1143000" y="7557957"/>
            <a:ext cx="14763750" cy="9525"/>
          </a:xfrm>
          <a:prstGeom prst="rect">
            <a:avLst/>
          </a:prstGeom>
          <a:solidFill>
            <a:srgbClr val="1A1813">
              <a:alpha val="13000"/>
            </a:srgbClr>
          </a:solidFill>
          <a:ln/>
        </p:spPr>
        <p:txBody>
          <a:bodyPr/>
          <a:lstStyle/>
          <a:p>
            <a:endParaRPr lang="en-GB"/>
          </a:p>
        </p:txBody>
      </p:sp>
      <p:sp>
        <p:nvSpPr>
          <p:cNvPr id="13" name="Text 11"/>
          <p:cNvSpPr/>
          <p:nvPr/>
        </p:nvSpPr>
        <p:spPr>
          <a:xfrm>
            <a:off x="1143000" y="7868710"/>
            <a:ext cx="15206662" cy="561901"/>
          </a:xfrm>
          <a:prstGeom prst="rect">
            <a:avLst/>
          </a:prstGeom>
          <a:noFill/>
          <a:ln/>
        </p:spPr>
        <p:txBody>
          <a:bodyPr wrap="square" lIns="25400" tIns="25400" rIns="25400" bIns="25400" rtlCol="0" anchor="t">
            <a:normAutofit fontScale="92500" lnSpcReduction="10000"/>
          </a:bodyPr>
          <a:lstStyle/>
          <a:p>
            <a:pPr marL="0" indent="0" algn="l">
              <a:lnSpc>
                <a:spcPct val="125000"/>
              </a:lnSpc>
              <a:buNone/>
            </a:pPr>
            <a:r>
              <a:rPr lang="en-US" sz="3300" i="1" dirty="0">
                <a:solidFill>
                  <a:srgbClr val="1A1813"/>
                </a:solidFill>
                <a:latin typeface="Georgia" pitchFamily="34" charset="0"/>
                <a:ea typeface="Georgia" pitchFamily="34" charset="-122"/>
                <a:cs typeface="Georgia" pitchFamily="34" charset="-120"/>
              </a:rPr>
              <a:t>These are the invisible users. </a:t>
            </a:r>
            <a:r>
              <a:rPr lang="en-US" sz="3300" i="1" dirty="0">
                <a:solidFill>
                  <a:srgbClr val="000000"/>
                </a:solidFill>
                <a:latin typeface="Georgia" pitchFamily="34" charset="0"/>
                <a:ea typeface="Georgia" pitchFamily="34" charset="-122"/>
                <a:cs typeface="Georgia" pitchFamily="34" charset="-120"/>
              </a:rPr>
              <a:t>They are the new audience your product is now serving.</a:t>
            </a:r>
            <a:endParaRPr lang="en-US" sz="3300" dirty="0"/>
          </a:p>
        </p:txBody>
      </p:sp>
      <p:sp>
        <p:nvSpPr>
          <p:cNvPr id="14" name="Shape 12"/>
          <p:cNvSpPr/>
          <p:nvPr/>
        </p:nvSpPr>
        <p:spPr>
          <a:xfrm>
            <a:off x="1143000" y="8833321"/>
            <a:ext cx="16002000" cy="9525"/>
          </a:xfrm>
          <a:prstGeom prst="rect">
            <a:avLst/>
          </a:prstGeom>
          <a:solidFill>
            <a:srgbClr val="1A1813">
              <a:alpha val="13000"/>
            </a:srgbClr>
          </a:solidFill>
          <a:ln/>
        </p:spPr>
        <p:txBody>
          <a:bodyPr/>
          <a:lstStyle/>
          <a:p>
            <a:endParaRPr lang="en-GB"/>
          </a:p>
        </p:txBody>
      </p:sp>
      <p:sp>
        <p:nvSpPr>
          <p:cNvPr id="15" name="Text 13"/>
          <p:cNvSpPr/>
          <p:nvPr/>
        </p:nvSpPr>
        <p:spPr>
          <a:xfrm>
            <a:off x="1143000" y="9105956"/>
            <a:ext cx="3516732"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60" dirty="0">
                <a:solidFill>
                  <a:srgbClr val="7A7466"/>
                </a:solidFill>
                <a:latin typeface="Courier New" pitchFamily="34" charset="0"/>
                <a:ea typeface="Courier New" pitchFamily="34" charset="-122"/>
                <a:cs typeface="Courier New" pitchFamily="34" charset="-120"/>
              </a:rPr>
              <a:t>TOM CRANSTOUN · TG.COMMUNITY</a:t>
            </a:r>
            <a:endParaRPr lang="en-US" sz="1500" dirty="0"/>
          </a:p>
        </p:txBody>
      </p:sp>
      <p:sp>
        <p:nvSpPr>
          <p:cNvPr id="16" name="Text 14"/>
          <p:cNvSpPr/>
          <p:nvPr/>
        </p:nvSpPr>
        <p:spPr>
          <a:xfrm>
            <a:off x="16901108" y="9105956"/>
            <a:ext cx="320092"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60" dirty="0">
                <a:solidFill>
                  <a:srgbClr val="7A7466"/>
                </a:solidFill>
                <a:latin typeface="Courier New" pitchFamily="34" charset="0"/>
                <a:ea typeface="Courier New" pitchFamily="34" charset="-122"/>
                <a:cs typeface="Courier New" pitchFamily="34" charset="-120"/>
              </a:rPr>
              <a:t>02</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EFE7"/>
        </a:solidFill>
        <a:effectLst/>
      </p:bgPr>
    </p:bg>
    <p:spTree>
      <p:nvGrpSpPr>
        <p:cNvPr id="1" name=""/>
        <p:cNvGrpSpPr/>
        <p:nvPr/>
      </p:nvGrpSpPr>
      <p:grpSpPr>
        <a:xfrm>
          <a:off x="0" y="0"/>
          <a:ext cx="0" cy="0"/>
          <a:chOff x="0" y="0"/>
          <a:chExt cx="0" cy="0"/>
        </a:xfrm>
      </p:grpSpPr>
      <p:sp>
        <p:nvSpPr>
          <p:cNvPr id="2" name="Text 0"/>
          <p:cNvSpPr/>
          <p:nvPr/>
        </p:nvSpPr>
        <p:spPr>
          <a:xfrm>
            <a:off x="1352476" y="398859"/>
            <a:ext cx="2979057" cy="258366"/>
          </a:xfrm>
          <a:prstGeom prst="rect">
            <a:avLst/>
          </a:prstGeom>
          <a:noFill/>
          <a:ln/>
        </p:spPr>
        <p:txBody>
          <a:bodyPr wrap="square" lIns="0" tIns="0" rIns="0" bIns="0" rtlCol="0" anchor="t">
            <a:normAutofit fontScale="92500" lnSpcReduction="20000"/>
          </a:bodyPr>
          <a:lstStyle/>
          <a:p>
            <a:pPr marL="0" indent="0" algn="l">
              <a:lnSpc>
                <a:spcPct val="140000"/>
              </a:lnSpc>
              <a:buNone/>
            </a:pPr>
            <a:r>
              <a:rPr lang="en-US" sz="1500" kern="0" spc="90" dirty="0">
                <a:solidFill>
                  <a:srgbClr val="7A7466"/>
                </a:solidFill>
                <a:latin typeface="Courier New" pitchFamily="34" charset="0"/>
                <a:ea typeface="Courier New" pitchFamily="34" charset="-122"/>
                <a:cs typeface="Courier New" pitchFamily="34" charset="-120"/>
              </a:rPr>
              <a:t>PART ONE · THE AUDIENCE</a:t>
            </a:r>
            <a:endParaRPr lang="en-US" sz="1500" dirty="0"/>
          </a:p>
        </p:txBody>
      </p:sp>
      <p:sp>
        <p:nvSpPr>
          <p:cNvPr id="3" name="Text 1"/>
          <p:cNvSpPr/>
          <p:nvPr/>
        </p:nvSpPr>
        <p:spPr>
          <a:xfrm>
            <a:off x="12183721" y="381000"/>
            <a:ext cx="3367559"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7A7466"/>
                </a:solidFill>
                <a:latin typeface="Courier New" pitchFamily="34" charset="0"/>
                <a:ea typeface="Courier New" pitchFamily="34" charset="-122"/>
                <a:cs typeface="Courier New" pitchFamily="34" charset="-120"/>
              </a:rPr>
              <a:t>THE WEB HAS A NEW AUDIENCE</a:t>
            </a:r>
            <a:endParaRPr lang="en-US" sz="1500" dirty="0"/>
          </a:p>
        </p:txBody>
      </p:sp>
      <p:sp>
        <p:nvSpPr>
          <p:cNvPr id="4" name="Text 2"/>
          <p:cNvSpPr/>
          <p:nvPr/>
        </p:nvSpPr>
        <p:spPr>
          <a:xfrm>
            <a:off x="15796059" y="381000"/>
            <a:ext cx="201960"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1A1813">
                    <a:alpha val="7000"/>
                  </a:srgbClr>
                </a:solidFill>
                <a:latin typeface="Courier New" pitchFamily="34" charset="0"/>
                <a:ea typeface="Courier New" pitchFamily="34" charset="-122"/>
                <a:cs typeface="Courier New" pitchFamily="34" charset="-120"/>
              </a:rPr>
              <a:t>·</a:t>
            </a:r>
            <a:endParaRPr lang="en-US" sz="1500" dirty="0"/>
          </a:p>
        </p:txBody>
      </p:sp>
      <p:sp>
        <p:nvSpPr>
          <p:cNvPr id="5" name="Text 3"/>
          <p:cNvSpPr/>
          <p:nvPr/>
        </p:nvSpPr>
        <p:spPr>
          <a:xfrm>
            <a:off x="16264682" y="381000"/>
            <a:ext cx="956518"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7A7466"/>
                </a:solidFill>
                <a:latin typeface="Courier New" pitchFamily="34" charset="0"/>
                <a:ea typeface="Courier New" pitchFamily="34" charset="-122"/>
                <a:cs typeface="Courier New" pitchFamily="34" charset="-120"/>
              </a:rPr>
              <a:t>03 / 11</a:t>
            </a:r>
            <a:endParaRPr lang="en-US" sz="1500" dirty="0"/>
          </a:p>
        </p:txBody>
      </p:sp>
      <p:sp>
        <p:nvSpPr>
          <p:cNvPr id="6" name="Text 4"/>
          <p:cNvSpPr/>
          <p:nvPr/>
        </p:nvSpPr>
        <p:spPr>
          <a:xfrm>
            <a:off x="1143000" y="914363"/>
            <a:ext cx="16482060" cy="331477"/>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650" kern="0" spc="330" dirty="0">
                <a:solidFill>
                  <a:srgbClr val="000000"/>
                </a:solidFill>
                <a:latin typeface="Courier New" pitchFamily="34" charset="0"/>
                <a:ea typeface="Courier New" pitchFamily="34" charset="-122"/>
                <a:cs typeface="Courier New" pitchFamily="34" charset="-120"/>
              </a:rPr>
              <a:t>THE BEHAVIOUR</a:t>
            </a:r>
            <a:endParaRPr lang="en-US" sz="1650" dirty="0"/>
          </a:p>
        </p:txBody>
      </p:sp>
      <p:sp>
        <p:nvSpPr>
          <p:cNvPr id="7" name="Text 5"/>
          <p:cNvSpPr/>
          <p:nvPr/>
        </p:nvSpPr>
        <p:spPr>
          <a:xfrm>
            <a:off x="1143000" y="1550603"/>
            <a:ext cx="15108555" cy="1753902"/>
          </a:xfrm>
          <a:prstGeom prst="rect">
            <a:avLst/>
          </a:prstGeom>
          <a:noFill/>
          <a:ln/>
        </p:spPr>
        <p:txBody>
          <a:bodyPr wrap="square" lIns="25400" tIns="25400" rIns="25400" bIns="25400" rtlCol="0" anchor="t">
            <a:normAutofit fontScale="92500" lnSpcReduction="20000"/>
          </a:bodyPr>
          <a:lstStyle/>
          <a:p>
            <a:pPr marL="0" indent="0" algn="l">
              <a:lnSpc>
                <a:spcPct val="102000"/>
              </a:lnSpc>
              <a:buNone/>
            </a:pPr>
            <a:r>
              <a:rPr lang="en-US" sz="6600" kern="0" spc="-119" dirty="0">
                <a:solidFill>
                  <a:srgbClr val="1A1813"/>
                </a:solidFill>
                <a:latin typeface="Georgia" pitchFamily="34" charset="0"/>
                <a:ea typeface="Georgia" pitchFamily="34" charset="-122"/>
                <a:cs typeface="Georgia" pitchFamily="34" charset="-120"/>
              </a:rPr>
              <a:t>AI reads pages the same way a tourist reads </a:t>
            </a:r>
            <a:r>
              <a:rPr lang="en-US" sz="6600" i="1" kern="0" spc="-119" dirty="0">
                <a:solidFill>
                  <a:srgbClr val="000000"/>
                </a:solidFill>
                <a:latin typeface="Georgia" pitchFamily="34" charset="0"/>
                <a:ea typeface="Georgia" pitchFamily="34" charset="-122"/>
                <a:cs typeface="Georgia" pitchFamily="34" charset="-120"/>
              </a:rPr>
              <a:t>a foreign menu.</a:t>
            </a:r>
            <a:endParaRPr lang="en-US" sz="6600" dirty="0"/>
          </a:p>
        </p:txBody>
      </p:sp>
      <p:sp>
        <p:nvSpPr>
          <p:cNvPr id="8" name="Text 6"/>
          <p:cNvSpPr/>
          <p:nvPr/>
        </p:nvSpPr>
        <p:spPr>
          <a:xfrm>
            <a:off x="1143000" y="3685449"/>
            <a:ext cx="14716125" cy="1028551"/>
          </a:xfrm>
          <a:prstGeom prst="rect">
            <a:avLst/>
          </a:prstGeom>
          <a:noFill/>
          <a:ln/>
        </p:spPr>
        <p:txBody>
          <a:bodyPr wrap="square" lIns="25400" tIns="25400" rIns="25400" bIns="25400" rtlCol="0" anchor="t">
            <a:normAutofit fontScale="92500" lnSpcReduction="20000"/>
          </a:bodyPr>
          <a:lstStyle/>
          <a:p>
            <a:pPr>
              <a:lnSpc>
                <a:spcPct val="130000"/>
              </a:lnSpc>
            </a:pPr>
            <a:r>
              <a:rPr lang="en-US" sz="3000" dirty="0">
                <a:solidFill>
                  <a:srgbClr val="1A1813"/>
                </a:solidFill>
                <a:latin typeface="Arial" pitchFamily="34" charset="0"/>
                <a:ea typeface="Arial" pitchFamily="34" charset="-122"/>
                <a:cs typeface="Arial" pitchFamily="34" charset="-120"/>
              </a:rPr>
              <a:t>A machine sees a string of markup and tries to work out what the headline is, what the price is, what the disclaimer is, and what the noise is.</a:t>
            </a:r>
            <a:endParaRPr lang="en-US" sz="3000" dirty="0"/>
          </a:p>
        </p:txBody>
      </p:sp>
      <p:sp>
        <p:nvSpPr>
          <p:cNvPr id="9" name="Text 7"/>
          <p:cNvSpPr/>
          <p:nvPr/>
        </p:nvSpPr>
        <p:spPr>
          <a:xfrm>
            <a:off x="1600181" y="5209263"/>
            <a:ext cx="14245228" cy="470911"/>
          </a:xfrm>
          <a:prstGeom prst="rect">
            <a:avLst/>
          </a:prstGeom>
          <a:noFill/>
          <a:ln/>
        </p:spPr>
        <p:txBody>
          <a:bodyPr wrap="square" lIns="25400" tIns="25400" rIns="25400" bIns="25400" rtlCol="0" anchor="t">
            <a:normAutofit fontScale="92500" lnSpcReduction="10000"/>
          </a:bodyPr>
          <a:lstStyle/>
          <a:p>
            <a:pPr marL="0" indent="0" algn="l">
              <a:lnSpc>
                <a:spcPct val="142000"/>
              </a:lnSpc>
              <a:buNone/>
            </a:pPr>
            <a:r>
              <a:rPr lang="en-US" sz="2400" dirty="0">
                <a:solidFill>
                  <a:srgbClr val="1A1813"/>
                </a:solidFill>
                <a:latin typeface="Arial" pitchFamily="34" charset="0"/>
                <a:ea typeface="Arial" pitchFamily="34" charset="-122"/>
                <a:cs typeface="Arial" pitchFamily="34" charset="-120"/>
              </a:rPr>
              <a:t>It guesses.</a:t>
            </a:r>
            <a:endParaRPr lang="en-US" sz="2400" dirty="0"/>
          </a:p>
        </p:txBody>
      </p:sp>
      <p:sp>
        <p:nvSpPr>
          <p:cNvPr id="10" name="Text 8"/>
          <p:cNvSpPr/>
          <p:nvPr/>
        </p:nvSpPr>
        <p:spPr>
          <a:xfrm>
            <a:off x="1600181" y="5870618"/>
            <a:ext cx="14245228" cy="470911"/>
          </a:xfrm>
          <a:prstGeom prst="rect">
            <a:avLst/>
          </a:prstGeom>
          <a:noFill/>
          <a:ln/>
        </p:spPr>
        <p:txBody>
          <a:bodyPr wrap="square" lIns="25400" tIns="25400" rIns="25400" bIns="25400" rtlCol="0" anchor="t">
            <a:normAutofit fontScale="92500" lnSpcReduction="10000"/>
          </a:bodyPr>
          <a:lstStyle/>
          <a:p>
            <a:pPr marL="0" indent="0" algn="l">
              <a:lnSpc>
                <a:spcPct val="142000"/>
              </a:lnSpc>
              <a:buNone/>
            </a:pPr>
            <a:r>
              <a:rPr lang="en-US" sz="2400" dirty="0">
                <a:solidFill>
                  <a:srgbClr val="1A1813"/>
                </a:solidFill>
                <a:latin typeface="Arial" pitchFamily="34" charset="0"/>
                <a:ea typeface="Arial" pitchFamily="34" charset="-122"/>
                <a:cs typeface="Arial" pitchFamily="34" charset="-120"/>
              </a:rPr>
              <a:t>It gets it wrong.</a:t>
            </a:r>
            <a:endParaRPr lang="en-US" sz="2400" dirty="0"/>
          </a:p>
        </p:txBody>
      </p:sp>
      <p:sp>
        <p:nvSpPr>
          <p:cNvPr id="11" name="Text 9"/>
          <p:cNvSpPr/>
          <p:nvPr/>
        </p:nvSpPr>
        <p:spPr>
          <a:xfrm>
            <a:off x="1600181" y="6531973"/>
            <a:ext cx="14245228" cy="470911"/>
          </a:xfrm>
          <a:prstGeom prst="rect">
            <a:avLst/>
          </a:prstGeom>
          <a:noFill/>
          <a:ln/>
        </p:spPr>
        <p:txBody>
          <a:bodyPr wrap="square" lIns="25400" tIns="25400" rIns="25400" bIns="25400" rtlCol="0" anchor="t">
            <a:normAutofit fontScale="92500" lnSpcReduction="10000"/>
          </a:bodyPr>
          <a:lstStyle/>
          <a:p>
            <a:pPr marL="0" indent="0" algn="l">
              <a:lnSpc>
                <a:spcPct val="142000"/>
              </a:lnSpc>
              <a:buNone/>
            </a:pPr>
            <a:r>
              <a:rPr lang="en-US" sz="2400" dirty="0">
                <a:solidFill>
                  <a:srgbClr val="1A1813"/>
                </a:solidFill>
                <a:latin typeface="Arial" pitchFamily="34" charset="0"/>
                <a:ea typeface="Arial" pitchFamily="34" charset="-122"/>
                <a:cs typeface="Arial" pitchFamily="34" charset="-120"/>
              </a:rPr>
              <a:t>It moves on.</a:t>
            </a:r>
            <a:endParaRPr lang="en-US" sz="2400" dirty="0"/>
          </a:p>
        </p:txBody>
      </p:sp>
      <p:sp>
        <p:nvSpPr>
          <p:cNvPr id="12" name="Shape 10"/>
          <p:cNvSpPr/>
          <p:nvPr/>
        </p:nvSpPr>
        <p:spPr>
          <a:xfrm>
            <a:off x="1143000" y="7498147"/>
            <a:ext cx="14763750" cy="9525"/>
          </a:xfrm>
          <a:prstGeom prst="rect">
            <a:avLst/>
          </a:prstGeom>
          <a:solidFill>
            <a:srgbClr val="1A1813">
              <a:alpha val="13000"/>
            </a:srgbClr>
          </a:solidFill>
          <a:ln/>
        </p:spPr>
        <p:txBody>
          <a:bodyPr/>
          <a:lstStyle/>
          <a:p>
            <a:endParaRPr lang="en-GB"/>
          </a:p>
        </p:txBody>
      </p:sp>
      <p:sp>
        <p:nvSpPr>
          <p:cNvPr id="13" name="Text 11"/>
          <p:cNvSpPr/>
          <p:nvPr/>
        </p:nvSpPr>
        <p:spPr>
          <a:xfrm>
            <a:off x="1143000" y="7808900"/>
            <a:ext cx="15206662" cy="1085776"/>
          </a:xfrm>
          <a:prstGeom prst="rect">
            <a:avLst/>
          </a:prstGeom>
          <a:noFill/>
          <a:ln/>
        </p:spPr>
        <p:txBody>
          <a:bodyPr wrap="square" lIns="25400" tIns="25400" rIns="25400" bIns="25400" rtlCol="0" anchor="t">
            <a:normAutofit fontScale="92500" lnSpcReduction="20000"/>
          </a:bodyPr>
          <a:lstStyle/>
          <a:p>
            <a:pPr marL="0" indent="0" algn="l">
              <a:lnSpc>
                <a:spcPct val="125000"/>
              </a:lnSpc>
              <a:buNone/>
            </a:pPr>
            <a:r>
              <a:rPr lang="en-US" sz="3300" i="1" dirty="0">
                <a:solidFill>
                  <a:srgbClr val="1A1813"/>
                </a:solidFill>
                <a:latin typeface="Georgia" pitchFamily="34" charset="0"/>
                <a:ea typeface="Georgia" pitchFamily="34" charset="-122"/>
                <a:cs typeface="Georgia" pitchFamily="34" charset="-120"/>
              </a:rPr>
              <a:t>The wrong answer goes out the door wearing your customer's brand. </a:t>
            </a:r>
            <a:r>
              <a:rPr lang="en-US" sz="3300" i="1" dirty="0">
                <a:solidFill>
                  <a:srgbClr val="000000"/>
                </a:solidFill>
                <a:latin typeface="Georgia" pitchFamily="34" charset="0"/>
                <a:ea typeface="Georgia" pitchFamily="34" charset="-122"/>
                <a:cs typeface="Georgia" pitchFamily="34" charset="-120"/>
              </a:rPr>
              <a:t>The support call comes back to you.</a:t>
            </a:r>
            <a:endParaRPr lang="en-US" sz="3300" dirty="0"/>
          </a:p>
        </p:txBody>
      </p:sp>
      <p:sp>
        <p:nvSpPr>
          <p:cNvPr id="14" name="Shape 12"/>
          <p:cNvSpPr/>
          <p:nvPr/>
        </p:nvSpPr>
        <p:spPr>
          <a:xfrm>
            <a:off x="1143000" y="9237576"/>
            <a:ext cx="16002000" cy="9525"/>
          </a:xfrm>
          <a:prstGeom prst="rect">
            <a:avLst/>
          </a:prstGeom>
          <a:solidFill>
            <a:srgbClr val="1A1813">
              <a:alpha val="13000"/>
            </a:srgbClr>
          </a:solidFill>
          <a:ln/>
        </p:spPr>
        <p:txBody>
          <a:bodyPr/>
          <a:lstStyle/>
          <a:p>
            <a:endParaRPr lang="en-GB"/>
          </a:p>
        </p:txBody>
      </p:sp>
      <p:sp>
        <p:nvSpPr>
          <p:cNvPr id="15" name="Text 13"/>
          <p:cNvSpPr/>
          <p:nvPr/>
        </p:nvSpPr>
        <p:spPr>
          <a:xfrm>
            <a:off x="1143000" y="9510210"/>
            <a:ext cx="3516732"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60" dirty="0">
                <a:solidFill>
                  <a:srgbClr val="7A7466"/>
                </a:solidFill>
                <a:latin typeface="Courier New" pitchFamily="34" charset="0"/>
                <a:ea typeface="Courier New" pitchFamily="34" charset="-122"/>
                <a:cs typeface="Courier New" pitchFamily="34" charset="-120"/>
              </a:rPr>
              <a:t>TOM CRANSTOUN · TG.COMMUNITY</a:t>
            </a:r>
            <a:endParaRPr lang="en-US" sz="1500" dirty="0"/>
          </a:p>
        </p:txBody>
      </p:sp>
      <p:sp>
        <p:nvSpPr>
          <p:cNvPr id="16" name="Text 14"/>
          <p:cNvSpPr/>
          <p:nvPr/>
        </p:nvSpPr>
        <p:spPr>
          <a:xfrm>
            <a:off x="16901108" y="9510210"/>
            <a:ext cx="320092"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60" dirty="0">
                <a:solidFill>
                  <a:srgbClr val="7A7466"/>
                </a:solidFill>
                <a:latin typeface="Courier New" pitchFamily="34" charset="0"/>
                <a:ea typeface="Courier New" pitchFamily="34" charset="-122"/>
                <a:cs typeface="Courier New" pitchFamily="34" charset="-120"/>
              </a:rPr>
              <a:t>03</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EFE7"/>
        </a:solidFill>
        <a:effectLst/>
      </p:bgPr>
    </p:bg>
    <p:spTree>
      <p:nvGrpSpPr>
        <p:cNvPr id="1" name=""/>
        <p:cNvGrpSpPr/>
        <p:nvPr/>
      </p:nvGrpSpPr>
      <p:grpSpPr>
        <a:xfrm>
          <a:off x="0" y="0"/>
          <a:ext cx="0" cy="0"/>
          <a:chOff x="0" y="0"/>
          <a:chExt cx="0" cy="0"/>
        </a:xfrm>
      </p:grpSpPr>
      <p:sp>
        <p:nvSpPr>
          <p:cNvPr id="2" name="Text 0"/>
          <p:cNvSpPr/>
          <p:nvPr/>
        </p:nvSpPr>
        <p:spPr>
          <a:xfrm>
            <a:off x="1352476" y="398859"/>
            <a:ext cx="2979057" cy="258366"/>
          </a:xfrm>
          <a:prstGeom prst="rect">
            <a:avLst/>
          </a:prstGeom>
          <a:noFill/>
          <a:ln/>
        </p:spPr>
        <p:txBody>
          <a:bodyPr wrap="square" lIns="0" tIns="0" rIns="0" bIns="0" rtlCol="0" anchor="t">
            <a:normAutofit fontScale="92500" lnSpcReduction="20000"/>
          </a:bodyPr>
          <a:lstStyle/>
          <a:p>
            <a:pPr marL="0" indent="0" algn="l">
              <a:lnSpc>
                <a:spcPct val="140000"/>
              </a:lnSpc>
              <a:buNone/>
            </a:pPr>
            <a:r>
              <a:rPr lang="en-US" sz="1500" kern="0" spc="90" dirty="0">
                <a:solidFill>
                  <a:srgbClr val="7A7466"/>
                </a:solidFill>
                <a:latin typeface="Courier New" pitchFamily="34" charset="0"/>
                <a:ea typeface="Courier New" pitchFamily="34" charset="-122"/>
                <a:cs typeface="Courier New" pitchFamily="34" charset="-120"/>
              </a:rPr>
              <a:t>PART ONE · THE AUDIENCE</a:t>
            </a:r>
            <a:endParaRPr lang="en-US" sz="1500" dirty="0"/>
          </a:p>
        </p:txBody>
      </p:sp>
      <p:sp>
        <p:nvSpPr>
          <p:cNvPr id="3" name="Text 1"/>
          <p:cNvSpPr/>
          <p:nvPr/>
        </p:nvSpPr>
        <p:spPr>
          <a:xfrm>
            <a:off x="12183721" y="381000"/>
            <a:ext cx="3367559"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7A7466"/>
                </a:solidFill>
                <a:latin typeface="Courier New" pitchFamily="34" charset="0"/>
                <a:ea typeface="Courier New" pitchFamily="34" charset="-122"/>
                <a:cs typeface="Courier New" pitchFamily="34" charset="-120"/>
              </a:rPr>
              <a:t>THE WEB HAS A NEW AUDIENCE</a:t>
            </a:r>
            <a:endParaRPr lang="en-US" sz="1500" dirty="0"/>
          </a:p>
        </p:txBody>
      </p:sp>
      <p:sp>
        <p:nvSpPr>
          <p:cNvPr id="4" name="Text 2"/>
          <p:cNvSpPr/>
          <p:nvPr/>
        </p:nvSpPr>
        <p:spPr>
          <a:xfrm>
            <a:off x="15796059" y="381000"/>
            <a:ext cx="201960"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1A1813">
                    <a:alpha val="7000"/>
                  </a:srgbClr>
                </a:solidFill>
                <a:latin typeface="Courier New" pitchFamily="34" charset="0"/>
                <a:ea typeface="Courier New" pitchFamily="34" charset="-122"/>
                <a:cs typeface="Courier New" pitchFamily="34" charset="-120"/>
              </a:rPr>
              <a:t>·</a:t>
            </a:r>
            <a:endParaRPr lang="en-US" sz="1500" dirty="0"/>
          </a:p>
        </p:txBody>
      </p:sp>
      <p:sp>
        <p:nvSpPr>
          <p:cNvPr id="5" name="Text 3"/>
          <p:cNvSpPr/>
          <p:nvPr/>
        </p:nvSpPr>
        <p:spPr>
          <a:xfrm>
            <a:off x="16264682" y="381000"/>
            <a:ext cx="956518"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7A7466"/>
                </a:solidFill>
                <a:latin typeface="Courier New" pitchFamily="34" charset="0"/>
                <a:ea typeface="Courier New" pitchFamily="34" charset="-122"/>
                <a:cs typeface="Courier New" pitchFamily="34" charset="-120"/>
              </a:rPr>
              <a:t>04 / 11</a:t>
            </a:r>
            <a:endParaRPr lang="en-US" sz="1500" dirty="0"/>
          </a:p>
        </p:txBody>
      </p:sp>
      <p:sp>
        <p:nvSpPr>
          <p:cNvPr id="6" name="Text 4"/>
          <p:cNvSpPr/>
          <p:nvPr/>
        </p:nvSpPr>
        <p:spPr>
          <a:xfrm>
            <a:off x="1143000" y="914363"/>
            <a:ext cx="16482060" cy="331477"/>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650" kern="0" spc="330" dirty="0">
                <a:solidFill>
                  <a:srgbClr val="000000"/>
                </a:solidFill>
                <a:latin typeface="Courier New" pitchFamily="34" charset="0"/>
                <a:ea typeface="Courier New" pitchFamily="34" charset="-122"/>
                <a:cs typeface="Courier New" pitchFamily="34" charset="-120"/>
              </a:rPr>
              <a:t>WHERE THIS LANDS ON YOUR ROADMAP</a:t>
            </a:r>
            <a:endParaRPr lang="en-US" sz="1650" dirty="0"/>
          </a:p>
        </p:txBody>
      </p:sp>
      <p:sp>
        <p:nvSpPr>
          <p:cNvPr id="7" name="Text 5"/>
          <p:cNvSpPr/>
          <p:nvPr/>
        </p:nvSpPr>
        <p:spPr>
          <a:xfrm>
            <a:off x="1143000" y="1550603"/>
            <a:ext cx="15108555" cy="1747949"/>
          </a:xfrm>
          <a:prstGeom prst="rect">
            <a:avLst/>
          </a:prstGeom>
          <a:noFill/>
          <a:ln/>
        </p:spPr>
        <p:txBody>
          <a:bodyPr wrap="square" lIns="25400" tIns="25400" rIns="25400" bIns="25400" rtlCol="0" anchor="t">
            <a:normAutofit/>
          </a:bodyPr>
          <a:lstStyle/>
          <a:p>
            <a:pPr marL="0" indent="0" algn="l">
              <a:lnSpc>
                <a:spcPct val="102000"/>
              </a:lnSpc>
              <a:buNone/>
            </a:pPr>
            <a:r>
              <a:rPr lang="en-US" sz="6600" kern="0" spc="-119" dirty="0">
                <a:solidFill>
                  <a:srgbClr val="1A1813"/>
                </a:solidFill>
                <a:latin typeface="Georgia" pitchFamily="34" charset="0"/>
                <a:ea typeface="Georgia" pitchFamily="34" charset="-122"/>
                <a:cs typeface="Georgia" pitchFamily="34" charset="-120"/>
              </a:rPr>
              <a:t>Three failure modes.</a:t>
            </a:r>
            <a:endParaRPr lang="en-US" sz="6600" dirty="0"/>
          </a:p>
        </p:txBody>
      </p:sp>
      <p:sp>
        <p:nvSpPr>
          <p:cNvPr id="8" name="Shape 6"/>
          <p:cNvSpPr/>
          <p:nvPr/>
        </p:nvSpPr>
        <p:spPr>
          <a:xfrm>
            <a:off x="1143000" y="3679496"/>
            <a:ext cx="14287500" cy="9525"/>
          </a:xfrm>
          <a:prstGeom prst="rect">
            <a:avLst/>
          </a:prstGeom>
          <a:solidFill>
            <a:srgbClr val="1A1813">
              <a:alpha val="13000"/>
            </a:srgbClr>
          </a:solidFill>
          <a:ln/>
        </p:spPr>
        <p:txBody>
          <a:bodyPr/>
          <a:lstStyle/>
          <a:p>
            <a:endParaRPr lang="en-GB"/>
          </a:p>
        </p:txBody>
      </p:sp>
      <p:sp>
        <p:nvSpPr>
          <p:cNvPr id="9" name="Text 7"/>
          <p:cNvSpPr/>
          <p:nvPr/>
        </p:nvSpPr>
        <p:spPr>
          <a:xfrm>
            <a:off x="1143000" y="4018787"/>
            <a:ext cx="838200" cy="762930"/>
          </a:xfrm>
          <a:prstGeom prst="rect">
            <a:avLst/>
          </a:prstGeom>
          <a:noFill/>
          <a:ln/>
        </p:spPr>
        <p:txBody>
          <a:bodyPr wrap="square" lIns="25400" tIns="25400" rIns="25400" bIns="25400" rtlCol="0" anchor="t">
            <a:normAutofit/>
          </a:bodyPr>
          <a:lstStyle/>
          <a:p>
            <a:pPr marL="0" indent="0" algn="l">
              <a:lnSpc>
                <a:spcPct val="132000"/>
              </a:lnSpc>
              <a:buNone/>
            </a:pPr>
            <a:r>
              <a:rPr lang="en-US" sz="1500" kern="0" spc="150" dirty="0">
                <a:solidFill>
                  <a:srgbClr val="000000"/>
                </a:solidFill>
                <a:latin typeface="Courier New" pitchFamily="34" charset="0"/>
                <a:ea typeface="Courier New" pitchFamily="34" charset="-122"/>
                <a:cs typeface="Courier New" pitchFamily="34" charset="-120"/>
              </a:rPr>
              <a:t>01</a:t>
            </a:r>
            <a:endParaRPr lang="en-US" sz="1500" dirty="0"/>
          </a:p>
        </p:txBody>
      </p:sp>
      <p:sp>
        <p:nvSpPr>
          <p:cNvPr id="10" name="Text 8"/>
          <p:cNvSpPr/>
          <p:nvPr/>
        </p:nvSpPr>
        <p:spPr>
          <a:xfrm>
            <a:off x="2209726" y="3933062"/>
            <a:ext cx="13617398" cy="848655"/>
          </a:xfrm>
          <a:prstGeom prst="rect">
            <a:avLst/>
          </a:prstGeom>
          <a:noFill/>
          <a:ln/>
        </p:spPr>
        <p:txBody>
          <a:bodyPr wrap="square" lIns="25400" tIns="25400" rIns="25400" bIns="25400" rtlCol="0" anchor="t">
            <a:normAutofit fontScale="92500" lnSpcReduction="10000"/>
          </a:bodyPr>
          <a:lstStyle/>
          <a:p>
            <a:pPr>
              <a:lnSpc>
                <a:spcPct val="132000"/>
              </a:lnSpc>
            </a:pPr>
            <a:r>
              <a:rPr lang="en-US" sz="2400" b="1" dirty="0">
                <a:solidFill>
                  <a:srgbClr val="1A1813"/>
                </a:solidFill>
                <a:latin typeface="Arial" pitchFamily="34" charset="0"/>
                <a:ea typeface="Arial" pitchFamily="34" charset="-122"/>
                <a:cs typeface="Arial" pitchFamily="34" charset="-120"/>
              </a:rPr>
              <a:t>Wrong answers, attributed. </a:t>
            </a:r>
            <a:r>
              <a:rPr lang="en-US" sz="2400" dirty="0">
                <a:solidFill>
                  <a:srgbClr val="1A1813"/>
                </a:solidFill>
                <a:latin typeface="Arial" pitchFamily="34" charset="0"/>
                <a:ea typeface="Arial" pitchFamily="34" charset="-122"/>
                <a:cs typeface="Arial" pitchFamily="34" charset="-120"/>
              </a:rPr>
              <a:t>The brand is quoted, the quote is mangled, they blame the platform, and you inherit the risks.</a:t>
            </a:r>
            <a:endParaRPr lang="en-US" sz="2400" dirty="0"/>
          </a:p>
        </p:txBody>
      </p:sp>
      <p:sp>
        <p:nvSpPr>
          <p:cNvPr id="11" name="Shape 9"/>
          <p:cNvSpPr/>
          <p:nvPr/>
        </p:nvSpPr>
        <p:spPr>
          <a:xfrm>
            <a:off x="1143000" y="4991230"/>
            <a:ext cx="14287500" cy="9525"/>
          </a:xfrm>
          <a:prstGeom prst="rect">
            <a:avLst/>
          </a:prstGeom>
          <a:solidFill>
            <a:srgbClr val="1A1813">
              <a:alpha val="13000"/>
            </a:srgbClr>
          </a:solidFill>
          <a:ln/>
        </p:spPr>
        <p:txBody>
          <a:bodyPr/>
          <a:lstStyle/>
          <a:p>
            <a:endParaRPr lang="en-GB"/>
          </a:p>
        </p:txBody>
      </p:sp>
      <p:sp>
        <p:nvSpPr>
          <p:cNvPr id="12" name="Text 10"/>
          <p:cNvSpPr/>
          <p:nvPr/>
        </p:nvSpPr>
        <p:spPr>
          <a:xfrm>
            <a:off x="1143000" y="5330521"/>
            <a:ext cx="838200" cy="762930"/>
          </a:xfrm>
          <a:prstGeom prst="rect">
            <a:avLst/>
          </a:prstGeom>
          <a:noFill/>
          <a:ln/>
        </p:spPr>
        <p:txBody>
          <a:bodyPr wrap="square" lIns="25400" tIns="25400" rIns="25400" bIns="25400" rtlCol="0" anchor="t">
            <a:normAutofit/>
          </a:bodyPr>
          <a:lstStyle/>
          <a:p>
            <a:pPr marL="0" indent="0" algn="l">
              <a:lnSpc>
                <a:spcPct val="132000"/>
              </a:lnSpc>
              <a:buNone/>
            </a:pPr>
            <a:r>
              <a:rPr lang="en-US" sz="1500" kern="0" spc="150" dirty="0">
                <a:solidFill>
                  <a:srgbClr val="000000"/>
                </a:solidFill>
                <a:latin typeface="Courier New" pitchFamily="34" charset="0"/>
                <a:ea typeface="Courier New" pitchFamily="34" charset="-122"/>
                <a:cs typeface="Courier New" pitchFamily="34" charset="-120"/>
              </a:rPr>
              <a:t>02</a:t>
            </a:r>
            <a:endParaRPr lang="en-US" sz="1500" dirty="0"/>
          </a:p>
        </p:txBody>
      </p:sp>
      <p:sp>
        <p:nvSpPr>
          <p:cNvPr id="13" name="Text 11"/>
          <p:cNvSpPr/>
          <p:nvPr/>
        </p:nvSpPr>
        <p:spPr>
          <a:xfrm>
            <a:off x="2209726" y="5244796"/>
            <a:ext cx="13617398" cy="848655"/>
          </a:xfrm>
          <a:prstGeom prst="rect">
            <a:avLst/>
          </a:prstGeom>
          <a:noFill/>
          <a:ln/>
        </p:spPr>
        <p:txBody>
          <a:bodyPr wrap="square" lIns="25400" tIns="25400" rIns="25400" bIns="25400" rtlCol="0" anchor="t">
            <a:normAutofit fontScale="92500" lnSpcReduction="10000"/>
          </a:bodyPr>
          <a:lstStyle/>
          <a:p>
            <a:pPr marL="0" indent="0" algn="l">
              <a:lnSpc>
                <a:spcPct val="132000"/>
              </a:lnSpc>
              <a:buNone/>
            </a:pPr>
            <a:r>
              <a:rPr lang="en-US" sz="2400" b="1" dirty="0">
                <a:solidFill>
                  <a:srgbClr val="1A1813"/>
                </a:solidFill>
                <a:latin typeface="Arial" pitchFamily="34" charset="0"/>
                <a:ea typeface="Arial" pitchFamily="34" charset="-122"/>
                <a:cs typeface="Arial" pitchFamily="34" charset="-120"/>
              </a:rPr>
              <a:t>Missing answers. </a:t>
            </a:r>
            <a:r>
              <a:rPr lang="en-US" sz="2400" dirty="0">
                <a:solidFill>
                  <a:srgbClr val="1A1813"/>
                </a:solidFill>
                <a:latin typeface="Arial" pitchFamily="34" charset="0"/>
                <a:ea typeface="Arial" pitchFamily="34" charset="-122"/>
                <a:cs typeface="Arial" pitchFamily="34" charset="-120"/>
              </a:rPr>
              <a:t>The agent could not read the output cleanly, so it did not use it. The platform is functionally invisible to its new audience.</a:t>
            </a:r>
            <a:endParaRPr lang="en-US" sz="2400" dirty="0"/>
          </a:p>
        </p:txBody>
      </p:sp>
      <p:sp>
        <p:nvSpPr>
          <p:cNvPr id="14" name="Shape 12"/>
          <p:cNvSpPr/>
          <p:nvPr/>
        </p:nvSpPr>
        <p:spPr>
          <a:xfrm>
            <a:off x="1143000" y="7614698"/>
            <a:ext cx="14287500" cy="9525"/>
          </a:xfrm>
          <a:prstGeom prst="rect">
            <a:avLst/>
          </a:prstGeom>
          <a:solidFill>
            <a:srgbClr val="1A1813">
              <a:alpha val="13000"/>
            </a:srgbClr>
          </a:solidFill>
          <a:ln/>
        </p:spPr>
        <p:txBody>
          <a:bodyPr/>
          <a:lstStyle/>
          <a:p>
            <a:endParaRPr lang="en-GB"/>
          </a:p>
        </p:txBody>
      </p:sp>
      <p:sp>
        <p:nvSpPr>
          <p:cNvPr id="15" name="Shape 13"/>
          <p:cNvSpPr/>
          <p:nvPr/>
        </p:nvSpPr>
        <p:spPr>
          <a:xfrm>
            <a:off x="1143000" y="6302964"/>
            <a:ext cx="14287500" cy="9525"/>
          </a:xfrm>
          <a:prstGeom prst="rect">
            <a:avLst/>
          </a:prstGeom>
          <a:solidFill>
            <a:srgbClr val="1A1813">
              <a:alpha val="13000"/>
            </a:srgbClr>
          </a:solidFill>
          <a:ln/>
        </p:spPr>
        <p:txBody>
          <a:bodyPr/>
          <a:lstStyle/>
          <a:p>
            <a:endParaRPr lang="en-GB"/>
          </a:p>
        </p:txBody>
      </p:sp>
      <p:sp>
        <p:nvSpPr>
          <p:cNvPr id="16" name="Text 14"/>
          <p:cNvSpPr/>
          <p:nvPr/>
        </p:nvSpPr>
        <p:spPr>
          <a:xfrm>
            <a:off x="1143000" y="6642255"/>
            <a:ext cx="838200" cy="762930"/>
          </a:xfrm>
          <a:prstGeom prst="rect">
            <a:avLst/>
          </a:prstGeom>
          <a:noFill/>
          <a:ln/>
        </p:spPr>
        <p:txBody>
          <a:bodyPr wrap="square" lIns="25400" tIns="25400" rIns="25400" bIns="25400" rtlCol="0" anchor="t">
            <a:normAutofit/>
          </a:bodyPr>
          <a:lstStyle/>
          <a:p>
            <a:pPr marL="0" indent="0" algn="l">
              <a:lnSpc>
                <a:spcPct val="132000"/>
              </a:lnSpc>
              <a:buNone/>
            </a:pPr>
            <a:r>
              <a:rPr lang="en-US" sz="1500" kern="0" spc="150" dirty="0">
                <a:solidFill>
                  <a:srgbClr val="000000"/>
                </a:solidFill>
                <a:latin typeface="Courier New" pitchFamily="34" charset="0"/>
                <a:ea typeface="Courier New" pitchFamily="34" charset="-122"/>
                <a:cs typeface="Courier New" pitchFamily="34" charset="-120"/>
              </a:rPr>
              <a:t>03</a:t>
            </a:r>
            <a:endParaRPr lang="en-US" sz="1500" dirty="0"/>
          </a:p>
        </p:txBody>
      </p:sp>
      <p:sp>
        <p:nvSpPr>
          <p:cNvPr id="17" name="Text 15"/>
          <p:cNvSpPr/>
          <p:nvPr/>
        </p:nvSpPr>
        <p:spPr>
          <a:xfrm>
            <a:off x="2209726" y="6556530"/>
            <a:ext cx="13617398" cy="848655"/>
          </a:xfrm>
          <a:prstGeom prst="rect">
            <a:avLst/>
          </a:prstGeom>
          <a:noFill/>
          <a:ln/>
        </p:spPr>
        <p:txBody>
          <a:bodyPr wrap="square" lIns="25400" tIns="25400" rIns="25400" bIns="25400" rtlCol="0" anchor="t">
            <a:normAutofit fontScale="92500"/>
          </a:bodyPr>
          <a:lstStyle/>
          <a:p>
            <a:pPr marL="0" indent="0" algn="l">
              <a:lnSpc>
                <a:spcPct val="132000"/>
              </a:lnSpc>
              <a:buNone/>
            </a:pPr>
            <a:r>
              <a:rPr lang="en-US" sz="2400" b="1" dirty="0">
                <a:solidFill>
                  <a:srgbClr val="1A1813"/>
                </a:solidFill>
                <a:latin typeface="Arial" pitchFamily="34" charset="0"/>
                <a:ea typeface="Arial" pitchFamily="34" charset="-122"/>
                <a:cs typeface="Arial" pitchFamily="34" charset="-120"/>
              </a:rPr>
              <a:t>Lost category. </a:t>
            </a:r>
            <a:r>
              <a:rPr lang="en-US" sz="2400" dirty="0">
                <a:solidFill>
                  <a:srgbClr val="1A1813"/>
                </a:solidFill>
                <a:latin typeface="Arial" pitchFamily="34" charset="0"/>
                <a:ea typeface="Arial" pitchFamily="34" charset="-122"/>
                <a:cs typeface="Arial" pitchFamily="34" charset="-120"/>
              </a:rPr>
              <a:t>A competing vendor's cleaner output becomes the canonical reference for the entire space.</a:t>
            </a:r>
            <a:endParaRPr lang="en-US" sz="2400" dirty="0"/>
          </a:p>
        </p:txBody>
      </p:sp>
      <p:sp>
        <p:nvSpPr>
          <p:cNvPr id="18" name="Shape 16"/>
          <p:cNvSpPr/>
          <p:nvPr/>
        </p:nvSpPr>
        <p:spPr>
          <a:xfrm>
            <a:off x="1143000" y="8077833"/>
            <a:ext cx="14763750" cy="9525"/>
          </a:xfrm>
          <a:prstGeom prst="rect">
            <a:avLst/>
          </a:prstGeom>
          <a:solidFill>
            <a:srgbClr val="1A1813">
              <a:alpha val="13000"/>
            </a:srgbClr>
          </a:solidFill>
          <a:ln/>
        </p:spPr>
        <p:txBody>
          <a:bodyPr/>
          <a:lstStyle/>
          <a:p>
            <a:endParaRPr lang="en-GB"/>
          </a:p>
        </p:txBody>
      </p:sp>
      <p:sp>
        <p:nvSpPr>
          <p:cNvPr id="19" name="Text 17"/>
          <p:cNvSpPr/>
          <p:nvPr/>
        </p:nvSpPr>
        <p:spPr>
          <a:xfrm>
            <a:off x="1143000" y="8388586"/>
            <a:ext cx="15206662" cy="561901"/>
          </a:xfrm>
          <a:prstGeom prst="rect">
            <a:avLst/>
          </a:prstGeom>
          <a:noFill/>
          <a:ln/>
        </p:spPr>
        <p:txBody>
          <a:bodyPr wrap="square" lIns="25400" tIns="25400" rIns="25400" bIns="25400" rtlCol="0" anchor="t">
            <a:normAutofit fontScale="92500" lnSpcReduction="10000"/>
          </a:bodyPr>
          <a:lstStyle/>
          <a:p>
            <a:pPr marL="0" indent="0" algn="l">
              <a:lnSpc>
                <a:spcPct val="125000"/>
              </a:lnSpc>
              <a:buNone/>
            </a:pPr>
            <a:r>
              <a:rPr lang="en-US" sz="3300" i="1" dirty="0">
                <a:solidFill>
                  <a:srgbClr val="1A1813"/>
                </a:solidFill>
                <a:latin typeface="Georgia" pitchFamily="34" charset="0"/>
                <a:ea typeface="Georgia" pitchFamily="34" charset="-122"/>
                <a:cs typeface="Georgia" pitchFamily="34" charset="-120"/>
              </a:rPr>
              <a:t>None of these are theoretical. </a:t>
            </a:r>
            <a:r>
              <a:rPr lang="en-US" sz="3300" i="1" dirty="0">
                <a:solidFill>
                  <a:srgbClr val="000000"/>
                </a:solidFill>
                <a:latin typeface="Georgia" pitchFamily="34" charset="0"/>
                <a:ea typeface="Georgia" pitchFamily="34" charset="-122"/>
                <a:cs typeface="Georgia" pitchFamily="34" charset="-120"/>
              </a:rPr>
              <a:t>They are happening in the products you ship.</a:t>
            </a:r>
            <a:endParaRPr lang="en-US" sz="3300" dirty="0"/>
          </a:p>
        </p:txBody>
      </p:sp>
      <p:sp>
        <p:nvSpPr>
          <p:cNvPr id="20" name="Shape 18"/>
          <p:cNvSpPr/>
          <p:nvPr/>
        </p:nvSpPr>
        <p:spPr>
          <a:xfrm>
            <a:off x="1143000" y="9293386"/>
            <a:ext cx="16002000" cy="9525"/>
          </a:xfrm>
          <a:prstGeom prst="rect">
            <a:avLst/>
          </a:prstGeom>
          <a:solidFill>
            <a:srgbClr val="1A1813">
              <a:alpha val="13000"/>
            </a:srgbClr>
          </a:solidFill>
          <a:ln/>
        </p:spPr>
        <p:txBody>
          <a:bodyPr/>
          <a:lstStyle/>
          <a:p>
            <a:endParaRPr lang="en-GB"/>
          </a:p>
        </p:txBody>
      </p:sp>
      <p:sp>
        <p:nvSpPr>
          <p:cNvPr id="21" name="Text 19"/>
          <p:cNvSpPr/>
          <p:nvPr/>
        </p:nvSpPr>
        <p:spPr>
          <a:xfrm>
            <a:off x="1143000" y="9566021"/>
            <a:ext cx="3516732"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60" dirty="0">
                <a:solidFill>
                  <a:srgbClr val="7A7466"/>
                </a:solidFill>
                <a:latin typeface="Courier New" pitchFamily="34" charset="0"/>
                <a:ea typeface="Courier New" pitchFamily="34" charset="-122"/>
                <a:cs typeface="Courier New" pitchFamily="34" charset="-120"/>
              </a:rPr>
              <a:t>TOM CRANSTOUN · TG.COMMUNITY</a:t>
            </a:r>
            <a:endParaRPr lang="en-US" sz="1500" dirty="0"/>
          </a:p>
        </p:txBody>
      </p:sp>
      <p:sp>
        <p:nvSpPr>
          <p:cNvPr id="22" name="Text 20"/>
          <p:cNvSpPr/>
          <p:nvPr/>
        </p:nvSpPr>
        <p:spPr>
          <a:xfrm>
            <a:off x="16901108" y="9566021"/>
            <a:ext cx="320092"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60" dirty="0">
                <a:solidFill>
                  <a:srgbClr val="7A7466"/>
                </a:solidFill>
                <a:latin typeface="Courier New" pitchFamily="34" charset="0"/>
                <a:ea typeface="Courier New" pitchFamily="34" charset="-122"/>
                <a:cs typeface="Courier New" pitchFamily="34" charset="-120"/>
              </a:rPr>
              <a:t>04</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EFE7"/>
        </a:solidFill>
        <a:effectLst/>
      </p:bgPr>
    </p:bg>
    <p:spTree>
      <p:nvGrpSpPr>
        <p:cNvPr id="1" name=""/>
        <p:cNvGrpSpPr/>
        <p:nvPr/>
      </p:nvGrpSpPr>
      <p:grpSpPr>
        <a:xfrm>
          <a:off x="0" y="0"/>
          <a:ext cx="0" cy="0"/>
          <a:chOff x="0" y="0"/>
          <a:chExt cx="0" cy="0"/>
        </a:xfrm>
      </p:grpSpPr>
      <p:sp>
        <p:nvSpPr>
          <p:cNvPr id="2" name="Text 0"/>
          <p:cNvSpPr/>
          <p:nvPr/>
        </p:nvSpPr>
        <p:spPr>
          <a:xfrm>
            <a:off x="1352476" y="398859"/>
            <a:ext cx="2339690" cy="258366"/>
          </a:xfrm>
          <a:prstGeom prst="rect">
            <a:avLst/>
          </a:prstGeom>
          <a:noFill/>
          <a:ln/>
        </p:spPr>
        <p:txBody>
          <a:bodyPr wrap="square" lIns="0" tIns="0" rIns="0" bIns="0" rtlCol="0" anchor="t">
            <a:normAutofit fontScale="92500" lnSpcReduction="20000"/>
          </a:bodyPr>
          <a:lstStyle/>
          <a:p>
            <a:pPr marL="0" indent="0" algn="l">
              <a:lnSpc>
                <a:spcPct val="140000"/>
              </a:lnSpc>
              <a:buNone/>
            </a:pPr>
            <a:r>
              <a:rPr lang="en-US" sz="1500" kern="0" spc="90" dirty="0">
                <a:solidFill>
                  <a:srgbClr val="7A7466"/>
                </a:solidFill>
                <a:latin typeface="Courier New" pitchFamily="34" charset="0"/>
                <a:ea typeface="Courier New" pitchFamily="34" charset="-122"/>
                <a:cs typeface="Courier New" pitchFamily="34" charset="-120"/>
              </a:rPr>
              <a:t>PART TWO · THE GAP</a:t>
            </a:r>
            <a:endParaRPr lang="en-US" sz="1500" dirty="0"/>
          </a:p>
        </p:txBody>
      </p:sp>
      <p:sp>
        <p:nvSpPr>
          <p:cNvPr id="3" name="Text 1"/>
          <p:cNvSpPr/>
          <p:nvPr/>
        </p:nvSpPr>
        <p:spPr>
          <a:xfrm>
            <a:off x="12183721" y="381000"/>
            <a:ext cx="3367559"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7A7466"/>
                </a:solidFill>
                <a:latin typeface="Courier New" pitchFamily="34" charset="0"/>
                <a:ea typeface="Courier New" pitchFamily="34" charset="-122"/>
                <a:cs typeface="Courier New" pitchFamily="34" charset="-120"/>
              </a:rPr>
              <a:t>THE WEB HAS A NEW AUDIENCE</a:t>
            </a:r>
            <a:endParaRPr lang="en-US" sz="1500" dirty="0"/>
          </a:p>
        </p:txBody>
      </p:sp>
      <p:sp>
        <p:nvSpPr>
          <p:cNvPr id="4" name="Text 2"/>
          <p:cNvSpPr/>
          <p:nvPr/>
        </p:nvSpPr>
        <p:spPr>
          <a:xfrm>
            <a:off x="15796059" y="381000"/>
            <a:ext cx="201960"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1A1813">
                    <a:alpha val="7000"/>
                  </a:srgbClr>
                </a:solidFill>
                <a:latin typeface="Courier New" pitchFamily="34" charset="0"/>
                <a:ea typeface="Courier New" pitchFamily="34" charset="-122"/>
                <a:cs typeface="Courier New" pitchFamily="34" charset="-120"/>
              </a:rPr>
              <a:t>·</a:t>
            </a:r>
            <a:endParaRPr lang="en-US" sz="1500" dirty="0"/>
          </a:p>
        </p:txBody>
      </p:sp>
      <p:sp>
        <p:nvSpPr>
          <p:cNvPr id="5" name="Text 3"/>
          <p:cNvSpPr/>
          <p:nvPr/>
        </p:nvSpPr>
        <p:spPr>
          <a:xfrm>
            <a:off x="16264682" y="381000"/>
            <a:ext cx="956518"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7A7466"/>
                </a:solidFill>
                <a:latin typeface="Courier New" pitchFamily="34" charset="0"/>
                <a:ea typeface="Courier New" pitchFamily="34" charset="-122"/>
                <a:cs typeface="Courier New" pitchFamily="34" charset="-120"/>
              </a:rPr>
              <a:t>05 / 11</a:t>
            </a:r>
            <a:endParaRPr lang="en-US" sz="1500" dirty="0"/>
          </a:p>
        </p:txBody>
      </p:sp>
      <p:sp>
        <p:nvSpPr>
          <p:cNvPr id="6" name="Text 4"/>
          <p:cNvSpPr/>
          <p:nvPr/>
        </p:nvSpPr>
        <p:spPr>
          <a:xfrm>
            <a:off x="1143000" y="914363"/>
            <a:ext cx="16482060" cy="331477"/>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650" kern="0" spc="330" dirty="0">
                <a:solidFill>
                  <a:srgbClr val="000000"/>
                </a:solidFill>
                <a:latin typeface="Courier New" pitchFamily="34" charset="0"/>
                <a:ea typeface="Courier New" pitchFamily="34" charset="-122"/>
                <a:cs typeface="Courier New" pitchFamily="34" charset="-120"/>
              </a:rPr>
              <a:t>THREE STANDARDS, THREE QUESTIONS</a:t>
            </a:r>
            <a:endParaRPr lang="en-US" sz="1650" dirty="0"/>
          </a:p>
        </p:txBody>
      </p:sp>
      <p:sp>
        <p:nvSpPr>
          <p:cNvPr id="7" name="Text 5"/>
          <p:cNvSpPr/>
          <p:nvPr/>
        </p:nvSpPr>
        <p:spPr>
          <a:xfrm>
            <a:off x="1143000" y="1550603"/>
            <a:ext cx="15108555" cy="1747949"/>
          </a:xfrm>
          <a:prstGeom prst="rect">
            <a:avLst/>
          </a:prstGeom>
          <a:noFill/>
          <a:ln/>
        </p:spPr>
        <p:txBody>
          <a:bodyPr wrap="square" lIns="25400" tIns="25400" rIns="25400" bIns="25400" rtlCol="0" anchor="t">
            <a:normAutofit fontScale="92500"/>
          </a:bodyPr>
          <a:lstStyle/>
          <a:p>
            <a:pPr marL="0" indent="0" algn="l">
              <a:lnSpc>
                <a:spcPct val="102000"/>
              </a:lnSpc>
              <a:buNone/>
            </a:pPr>
            <a:r>
              <a:rPr lang="en-US" sz="6600" kern="0" spc="-119" dirty="0">
                <a:solidFill>
                  <a:srgbClr val="1A1813"/>
                </a:solidFill>
                <a:latin typeface="Georgia" pitchFamily="34" charset="0"/>
                <a:ea typeface="Georgia" pitchFamily="34" charset="-122"/>
                <a:cs typeface="Georgia" pitchFamily="34" charset="-120"/>
              </a:rPr>
              <a:t>AI did not answer the questions that matter.</a:t>
            </a:r>
            <a:endParaRPr lang="en-US" sz="6600" dirty="0"/>
          </a:p>
        </p:txBody>
      </p:sp>
      <p:sp>
        <p:nvSpPr>
          <p:cNvPr id="8" name="Shape 6"/>
          <p:cNvSpPr/>
          <p:nvPr/>
        </p:nvSpPr>
        <p:spPr>
          <a:xfrm>
            <a:off x="1143000" y="3679496"/>
            <a:ext cx="16002000" cy="9525"/>
          </a:xfrm>
          <a:prstGeom prst="rect">
            <a:avLst/>
          </a:prstGeom>
          <a:solidFill>
            <a:srgbClr val="1A1813"/>
          </a:solidFill>
          <a:ln/>
        </p:spPr>
        <p:txBody>
          <a:bodyPr/>
          <a:lstStyle/>
          <a:p>
            <a:endParaRPr lang="en-GB"/>
          </a:p>
        </p:txBody>
      </p:sp>
      <p:sp>
        <p:nvSpPr>
          <p:cNvPr id="9" name="Shape 7"/>
          <p:cNvSpPr/>
          <p:nvPr/>
        </p:nvSpPr>
        <p:spPr>
          <a:xfrm>
            <a:off x="6471047" y="3685449"/>
            <a:ext cx="9525" cy="2455850"/>
          </a:xfrm>
          <a:prstGeom prst="rect">
            <a:avLst/>
          </a:prstGeom>
          <a:solidFill>
            <a:srgbClr val="1A1813">
              <a:alpha val="13000"/>
            </a:srgbClr>
          </a:solidFill>
          <a:ln/>
        </p:spPr>
        <p:txBody>
          <a:bodyPr/>
          <a:lstStyle/>
          <a:p>
            <a:endParaRPr lang="en-GB"/>
          </a:p>
        </p:txBody>
      </p:sp>
      <p:sp>
        <p:nvSpPr>
          <p:cNvPr id="10" name="Text 8"/>
          <p:cNvSpPr/>
          <p:nvPr/>
        </p:nvSpPr>
        <p:spPr>
          <a:xfrm>
            <a:off x="1143000" y="4028312"/>
            <a:ext cx="5134740" cy="331477"/>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650" kern="0" spc="264" dirty="0">
                <a:solidFill>
                  <a:srgbClr val="000000"/>
                </a:solidFill>
                <a:latin typeface="Courier New" pitchFamily="34" charset="0"/>
                <a:ea typeface="Courier New" pitchFamily="34" charset="-122"/>
                <a:cs typeface="Courier New" pitchFamily="34" charset="-120"/>
              </a:rPr>
              <a:t>SEO</a:t>
            </a:r>
            <a:endParaRPr lang="en-US" sz="1650" dirty="0"/>
          </a:p>
        </p:txBody>
      </p:sp>
      <p:sp>
        <p:nvSpPr>
          <p:cNvPr id="11" name="Text 9"/>
          <p:cNvSpPr/>
          <p:nvPr/>
        </p:nvSpPr>
        <p:spPr>
          <a:xfrm>
            <a:off x="1143000" y="4493121"/>
            <a:ext cx="5134740" cy="531837"/>
          </a:xfrm>
          <a:prstGeom prst="rect">
            <a:avLst/>
          </a:prstGeom>
          <a:noFill/>
          <a:ln/>
        </p:spPr>
        <p:txBody>
          <a:bodyPr wrap="square" lIns="25400" tIns="25400" rIns="25400" bIns="25400" rtlCol="0" anchor="t">
            <a:normAutofit fontScale="92500" lnSpcReduction="20000"/>
          </a:bodyPr>
          <a:lstStyle/>
          <a:p>
            <a:pPr marL="0" indent="0" algn="l">
              <a:lnSpc>
                <a:spcPct val="108000"/>
              </a:lnSpc>
              <a:buNone/>
            </a:pPr>
            <a:r>
              <a:rPr lang="en-US" sz="3600" i="1" dirty="0">
                <a:solidFill>
                  <a:srgbClr val="1A1813"/>
                </a:solidFill>
                <a:latin typeface="Georgia" pitchFamily="34" charset="0"/>
                <a:ea typeface="Georgia" pitchFamily="34" charset="-122"/>
                <a:cs typeface="Georgia" pitchFamily="34" charset="-120"/>
              </a:rPr>
              <a:t>"Find me."</a:t>
            </a:r>
            <a:endParaRPr lang="en-US" sz="3600" dirty="0"/>
          </a:p>
        </p:txBody>
      </p:sp>
      <p:sp>
        <p:nvSpPr>
          <p:cNvPr id="12" name="Text 10"/>
          <p:cNvSpPr/>
          <p:nvPr/>
        </p:nvSpPr>
        <p:spPr>
          <a:xfrm>
            <a:off x="1143000" y="5158290"/>
            <a:ext cx="5134740" cy="678247"/>
          </a:xfrm>
          <a:prstGeom prst="rect">
            <a:avLst/>
          </a:prstGeom>
          <a:noFill/>
          <a:ln/>
        </p:spPr>
        <p:txBody>
          <a:bodyPr wrap="square" lIns="25400" tIns="25400" rIns="25400" bIns="25400" rtlCol="0" anchor="t">
            <a:normAutofit/>
          </a:bodyPr>
          <a:lstStyle/>
          <a:p>
            <a:pPr marL="0" indent="0" algn="l">
              <a:lnSpc>
                <a:spcPct val="140000"/>
              </a:lnSpc>
              <a:buNone/>
            </a:pPr>
            <a:r>
              <a:rPr lang="en-US" sz="1800" dirty="0">
                <a:solidFill>
                  <a:srgbClr val="4B463A"/>
                </a:solidFill>
                <a:latin typeface="Arial" pitchFamily="34" charset="0"/>
                <a:ea typeface="Arial" pitchFamily="34" charset="-122"/>
                <a:cs typeface="Arial" pitchFamily="34" charset="-120"/>
              </a:rPr>
              <a:t>Get the URL into a result list.</a:t>
            </a:r>
            <a:endParaRPr lang="en-US" sz="1800" dirty="0"/>
          </a:p>
        </p:txBody>
      </p:sp>
      <p:sp>
        <p:nvSpPr>
          <p:cNvPr id="13" name="Shape 11"/>
          <p:cNvSpPr/>
          <p:nvPr/>
        </p:nvSpPr>
        <p:spPr>
          <a:xfrm>
            <a:off x="11805047" y="3685449"/>
            <a:ext cx="9525" cy="2455850"/>
          </a:xfrm>
          <a:prstGeom prst="rect">
            <a:avLst/>
          </a:prstGeom>
          <a:solidFill>
            <a:srgbClr val="1A1813">
              <a:alpha val="13000"/>
            </a:srgbClr>
          </a:solidFill>
          <a:ln/>
        </p:spPr>
        <p:txBody>
          <a:bodyPr/>
          <a:lstStyle/>
          <a:p>
            <a:endParaRPr lang="en-GB"/>
          </a:p>
        </p:txBody>
      </p:sp>
      <p:sp>
        <p:nvSpPr>
          <p:cNvPr id="14" name="Text 12"/>
          <p:cNvSpPr/>
          <p:nvPr/>
        </p:nvSpPr>
        <p:spPr>
          <a:xfrm>
            <a:off x="6477000" y="4028312"/>
            <a:ext cx="5134740" cy="331477"/>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650" kern="0" spc="264" dirty="0">
                <a:solidFill>
                  <a:srgbClr val="000000"/>
                </a:solidFill>
                <a:latin typeface="Courier New" pitchFamily="34" charset="0"/>
                <a:ea typeface="Courier New" pitchFamily="34" charset="-122"/>
                <a:cs typeface="Courier New" pitchFamily="34" charset="-120"/>
              </a:rPr>
              <a:t>ACCESSIBILITY</a:t>
            </a:r>
            <a:endParaRPr lang="en-US" sz="1650" dirty="0"/>
          </a:p>
        </p:txBody>
      </p:sp>
      <p:sp>
        <p:nvSpPr>
          <p:cNvPr id="15" name="Text 13"/>
          <p:cNvSpPr/>
          <p:nvPr/>
        </p:nvSpPr>
        <p:spPr>
          <a:xfrm>
            <a:off x="6477000" y="4493121"/>
            <a:ext cx="5134740" cy="531837"/>
          </a:xfrm>
          <a:prstGeom prst="rect">
            <a:avLst/>
          </a:prstGeom>
          <a:noFill/>
          <a:ln/>
        </p:spPr>
        <p:txBody>
          <a:bodyPr wrap="square" lIns="25400" tIns="25400" rIns="25400" bIns="25400" rtlCol="0" anchor="t">
            <a:normAutofit fontScale="92500" lnSpcReduction="20000"/>
          </a:bodyPr>
          <a:lstStyle/>
          <a:p>
            <a:pPr marL="0" indent="0" algn="l">
              <a:lnSpc>
                <a:spcPct val="108000"/>
              </a:lnSpc>
              <a:buNone/>
            </a:pPr>
            <a:r>
              <a:rPr lang="en-US" sz="3600" i="1" dirty="0">
                <a:solidFill>
                  <a:srgbClr val="1A1813"/>
                </a:solidFill>
                <a:latin typeface="Georgia" pitchFamily="34" charset="0"/>
                <a:ea typeface="Georgia" pitchFamily="34" charset="-122"/>
                <a:cs typeface="Georgia" pitchFamily="34" charset="-120"/>
              </a:rPr>
              <a:t>"Use me."</a:t>
            </a:r>
            <a:endParaRPr lang="en-US" sz="3600" dirty="0"/>
          </a:p>
        </p:txBody>
      </p:sp>
      <p:sp>
        <p:nvSpPr>
          <p:cNvPr id="16" name="Text 14"/>
          <p:cNvSpPr/>
          <p:nvPr/>
        </p:nvSpPr>
        <p:spPr>
          <a:xfrm>
            <a:off x="6477000" y="5158290"/>
            <a:ext cx="5134740" cy="678247"/>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4B463A"/>
                </a:solidFill>
                <a:latin typeface="Arial" pitchFamily="34" charset="0"/>
                <a:ea typeface="Arial" pitchFamily="34" charset="-122"/>
                <a:cs typeface="Arial" pitchFamily="34" charset="-120"/>
              </a:rPr>
              <a:t>Make sure a person with a screen reader can navigate the page, in addition to AI.</a:t>
            </a:r>
            <a:endParaRPr lang="en-US" sz="1800" dirty="0"/>
          </a:p>
        </p:txBody>
      </p:sp>
      <p:sp>
        <p:nvSpPr>
          <p:cNvPr id="17" name="Text 15"/>
          <p:cNvSpPr/>
          <p:nvPr/>
        </p:nvSpPr>
        <p:spPr>
          <a:xfrm>
            <a:off x="11811000" y="4028312"/>
            <a:ext cx="5494020" cy="331477"/>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650" kern="0" spc="264" dirty="0">
                <a:solidFill>
                  <a:srgbClr val="000000"/>
                </a:solidFill>
                <a:latin typeface="Courier New" pitchFamily="34" charset="0"/>
                <a:ea typeface="Courier New" pitchFamily="34" charset="-122"/>
                <a:cs typeface="Courier New" pitchFamily="34" charset="-120"/>
              </a:rPr>
              <a:t>GEO</a:t>
            </a:r>
            <a:endParaRPr lang="en-US" sz="1650" dirty="0"/>
          </a:p>
        </p:txBody>
      </p:sp>
      <p:sp>
        <p:nvSpPr>
          <p:cNvPr id="18" name="Text 16"/>
          <p:cNvSpPr/>
          <p:nvPr/>
        </p:nvSpPr>
        <p:spPr>
          <a:xfrm>
            <a:off x="11811000" y="4493121"/>
            <a:ext cx="5494020" cy="531837"/>
          </a:xfrm>
          <a:prstGeom prst="rect">
            <a:avLst/>
          </a:prstGeom>
          <a:noFill/>
          <a:ln/>
        </p:spPr>
        <p:txBody>
          <a:bodyPr wrap="square" lIns="25400" tIns="25400" rIns="25400" bIns="25400" rtlCol="0" anchor="t">
            <a:normAutofit fontScale="92500" lnSpcReduction="20000"/>
          </a:bodyPr>
          <a:lstStyle/>
          <a:p>
            <a:pPr marL="0" indent="0" algn="l">
              <a:lnSpc>
                <a:spcPct val="108000"/>
              </a:lnSpc>
              <a:buNone/>
            </a:pPr>
            <a:r>
              <a:rPr lang="en-US" sz="3600" i="1" dirty="0">
                <a:solidFill>
                  <a:srgbClr val="1A1813"/>
                </a:solidFill>
                <a:latin typeface="Georgia" pitchFamily="34" charset="0"/>
                <a:ea typeface="Georgia" pitchFamily="34" charset="-122"/>
                <a:cs typeface="Georgia" pitchFamily="34" charset="-120"/>
              </a:rPr>
              <a:t>"Rank in this quarter"</a:t>
            </a:r>
            <a:endParaRPr lang="en-US" sz="3600" dirty="0"/>
          </a:p>
        </p:txBody>
      </p:sp>
      <p:sp>
        <p:nvSpPr>
          <p:cNvPr id="19" name="Text 17"/>
          <p:cNvSpPr/>
          <p:nvPr/>
        </p:nvSpPr>
        <p:spPr>
          <a:xfrm>
            <a:off x="11811000" y="5158290"/>
            <a:ext cx="5494020" cy="678247"/>
          </a:xfrm>
          <a:prstGeom prst="rect">
            <a:avLst/>
          </a:prstGeom>
          <a:noFill/>
          <a:ln/>
        </p:spPr>
        <p:txBody>
          <a:bodyPr wrap="square" lIns="25400" tIns="25400" rIns="25400" bIns="25400" rtlCol="0" anchor="t">
            <a:normAutofit fontScale="92500" lnSpcReduction="20000"/>
          </a:bodyPr>
          <a:lstStyle/>
          <a:p>
            <a:pPr>
              <a:lnSpc>
                <a:spcPct val="140000"/>
              </a:lnSpc>
            </a:pPr>
            <a:r>
              <a:rPr lang="en-US" sz="1800" dirty="0">
                <a:solidFill>
                  <a:srgbClr val="4B463A"/>
                </a:solidFill>
                <a:latin typeface="Arial" pitchFamily="34" charset="0"/>
                <a:ea typeface="Arial" pitchFamily="34" charset="-122"/>
                <a:cs typeface="Arial" pitchFamily="34" charset="-120"/>
              </a:rPr>
              <a:t>Tunes content against today's prompts and models. When the model </a:t>
            </a:r>
            <a:r>
              <a:rPr lang="en-US" dirty="0">
                <a:solidFill>
                  <a:srgbClr val="4B463A"/>
                </a:solidFill>
                <a:latin typeface="Arial" pitchFamily="34" charset="0"/>
                <a:ea typeface="Arial" pitchFamily="34" charset="-122"/>
                <a:cs typeface="Arial" pitchFamily="34" charset="-120"/>
              </a:rPr>
              <a:t>changes, </a:t>
            </a:r>
            <a:r>
              <a:rPr lang="en-US" sz="1800" dirty="0">
                <a:solidFill>
                  <a:srgbClr val="4B463A"/>
                </a:solidFill>
                <a:latin typeface="Arial" pitchFamily="34" charset="0"/>
                <a:ea typeface="Arial" pitchFamily="34" charset="-122"/>
                <a:cs typeface="Arial" pitchFamily="34" charset="-120"/>
              </a:rPr>
              <a:t>the work </a:t>
            </a:r>
            <a:r>
              <a:rPr lang="en-US" dirty="0">
                <a:solidFill>
                  <a:srgbClr val="4B463A"/>
                </a:solidFill>
                <a:latin typeface="Arial" pitchFamily="34" charset="0"/>
                <a:ea typeface="Arial" pitchFamily="34" charset="-122"/>
                <a:cs typeface="Arial" pitchFamily="34" charset="-120"/>
              </a:rPr>
              <a:t>has to be</a:t>
            </a:r>
            <a:r>
              <a:rPr lang="en-US" sz="1800" dirty="0">
                <a:solidFill>
                  <a:srgbClr val="4B463A"/>
                </a:solidFill>
                <a:latin typeface="Arial" pitchFamily="34" charset="0"/>
                <a:ea typeface="Arial" pitchFamily="34" charset="-122"/>
                <a:cs typeface="Arial" pitchFamily="34" charset="-120"/>
              </a:rPr>
              <a:t> redone.</a:t>
            </a:r>
            <a:endParaRPr lang="en-US" sz="1800" dirty="0"/>
          </a:p>
        </p:txBody>
      </p:sp>
      <p:sp>
        <p:nvSpPr>
          <p:cNvPr id="20" name="Shape 18"/>
          <p:cNvSpPr/>
          <p:nvPr/>
        </p:nvSpPr>
        <p:spPr>
          <a:xfrm>
            <a:off x="1143000" y="6884324"/>
            <a:ext cx="14763750" cy="9525"/>
          </a:xfrm>
          <a:prstGeom prst="rect">
            <a:avLst/>
          </a:prstGeom>
          <a:solidFill>
            <a:srgbClr val="1A1813">
              <a:alpha val="13000"/>
            </a:srgbClr>
          </a:solidFill>
          <a:ln/>
        </p:spPr>
        <p:txBody>
          <a:bodyPr/>
          <a:lstStyle/>
          <a:p>
            <a:endParaRPr lang="en-GB"/>
          </a:p>
        </p:txBody>
      </p:sp>
      <p:sp>
        <p:nvSpPr>
          <p:cNvPr id="21" name="Text 19"/>
          <p:cNvSpPr/>
          <p:nvPr/>
        </p:nvSpPr>
        <p:spPr>
          <a:xfrm>
            <a:off x="1143000" y="7195077"/>
            <a:ext cx="15206662" cy="1085776"/>
          </a:xfrm>
          <a:prstGeom prst="rect">
            <a:avLst/>
          </a:prstGeom>
          <a:noFill/>
          <a:ln/>
        </p:spPr>
        <p:txBody>
          <a:bodyPr wrap="square" lIns="25400" tIns="25400" rIns="25400" bIns="25400" rtlCol="0" anchor="t">
            <a:normAutofit fontScale="92500" lnSpcReduction="20000"/>
          </a:bodyPr>
          <a:lstStyle/>
          <a:p>
            <a:pPr marL="0" indent="0" algn="l">
              <a:lnSpc>
                <a:spcPct val="125000"/>
              </a:lnSpc>
              <a:buNone/>
            </a:pPr>
            <a:r>
              <a:rPr lang="en-US" sz="3300" i="1" dirty="0">
                <a:solidFill>
                  <a:srgbClr val="1A1813"/>
                </a:solidFill>
                <a:latin typeface="Georgia" pitchFamily="34" charset="0"/>
                <a:ea typeface="Georgia" pitchFamily="34" charset="-122"/>
                <a:cs typeface="Georgia" pitchFamily="34" charset="-120"/>
              </a:rPr>
              <a:t>MX defines the agreement underneath — </a:t>
            </a:r>
            <a:r>
              <a:rPr lang="en-US" sz="3300" i="1" dirty="0">
                <a:solidFill>
                  <a:srgbClr val="000000"/>
                </a:solidFill>
                <a:latin typeface="Georgia" pitchFamily="34" charset="0"/>
                <a:ea typeface="Georgia" pitchFamily="34" charset="-122"/>
                <a:cs typeface="Georgia" pitchFamily="34" charset="-120"/>
              </a:rPr>
              <a:t>what is true, who said it, when it was last verified. </a:t>
            </a:r>
            <a:r>
              <a:rPr lang="en-US" sz="3300" i="1" dirty="0">
                <a:solidFill>
                  <a:srgbClr val="1A1813"/>
                </a:solidFill>
                <a:latin typeface="Georgia" pitchFamily="34" charset="0"/>
                <a:ea typeface="Georgia" pitchFamily="34" charset="-122"/>
                <a:cs typeface="Georgia" pitchFamily="34" charset="-120"/>
              </a:rPr>
              <a:t>Same content, any era.</a:t>
            </a:r>
            <a:endParaRPr lang="en-US" sz="3300" dirty="0"/>
          </a:p>
        </p:txBody>
      </p:sp>
      <p:sp>
        <p:nvSpPr>
          <p:cNvPr id="22" name="Shape 20"/>
          <p:cNvSpPr/>
          <p:nvPr/>
        </p:nvSpPr>
        <p:spPr>
          <a:xfrm>
            <a:off x="1143000" y="8833321"/>
            <a:ext cx="16002000" cy="9525"/>
          </a:xfrm>
          <a:prstGeom prst="rect">
            <a:avLst/>
          </a:prstGeom>
          <a:solidFill>
            <a:srgbClr val="1A1813">
              <a:alpha val="13000"/>
            </a:srgbClr>
          </a:solidFill>
          <a:ln/>
        </p:spPr>
        <p:txBody>
          <a:bodyPr/>
          <a:lstStyle/>
          <a:p>
            <a:endParaRPr lang="en-GB"/>
          </a:p>
        </p:txBody>
      </p:sp>
      <p:sp>
        <p:nvSpPr>
          <p:cNvPr id="23" name="Text 21"/>
          <p:cNvSpPr/>
          <p:nvPr/>
        </p:nvSpPr>
        <p:spPr>
          <a:xfrm>
            <a:off x="1143000" y="9105956"/>
            <a:ext cx="3516732"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60" dirty="0">
                <a:solidFill>
                  <a:srgbClr val="7A7466"/>
                </a:solidFill>
                <a:latin typeface="Courier New" pitchFamily="34" charset="0"/>
                <a:ea typeface="Courier New" pitchFamily="34" charset="-122"/>
                <a:cs typeface="Courier New" pitchFamily="34" charset="-120"/>
              </a:rPr>
              <a:t>TOM CRANSTOUN · TG.COMMUNITY</a:t>
            </a:r>
            <a:endParaRPr lang="en-US" sz="1500" dirty="0"/>
          </a:p>
        </p:txBody>
      </p:sp>
      <p:sp>
        <p:nvSpPr>
          <p:cNvPr id="24" name="Text 22"/>
          <p:cNvSpPr/>
          <p:nvPr/>
        </p:nvSpPr>
        <p:spPr>
          <a:xfrm>
            <a:off x="16901108" y="9105956"/>
            <a:ext cx="320092"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60" dirty="0">
                <a:solidFill>
                  <a:srgbClr val="7A7466"/>
                </a:solidFill>
                <a:latin typeface="Courier New" pitchFamily="34" charset="0"/>
                <a:ea typeface="Courier New" pitchFamily="34" charset="-122"/>
                <a:cs typeface="Courier New" pitchFamily="34" charset="-120"/>
              </a:rPr>
              <a:t>05</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FE7"/>
        </a:solidFill>
        <a:effectLst/>
      </p:bgPr>
    </p:bg>
    <p:spTree>
      <p:nvGrpSpPr>
        <p:cNvPr id="1" name=""/>
        <p:cNvGrpSpPr/>
        <p:nvPr/>
      </p:nvGrpSpPr>
      <p:grpSpPr>
        <a:xfrm>
          <a:off x="0" y="0"/>
          <a:ext cx="0" cy="0"/>
          <a:chOff x="0" y="0"/>
          <a:chExt cx="0" cy="0"/>
        </a:xfrm>
      </p:grpSpPr>
      <p:sp>
        <p:nvSpPr>
          <p:cNvPr id="2" name="Text 0"/>
          <p:cNvSpPr/>
          <p:nvPr/>
        </p:nvSpPr>
        <p:spPr>
          <a:xfrm>
            <a:off x="1352476" y="398859"/>
            <a:ext cx="2339690" cy="258366"/>
          </a:xfrm>
          <a:prstGeom prst="rect">
            <a:avLst/>
          </a:prstGeom>
          <a:noFill/>
          <a:ln/>
        </p:spPr>
        <p:txBody>
          <a:bodyPr wrap="square" lIns="0" tIns="0" rIns="0" bIns="0" rtlCol="0" anchor="t">
            <a:normAutofit fontScale="92500" lnSpcReduction="20000"/>
          </a:bodyPr>
          <a:lstStyle/>
          <a:p>
            <a:pPr marL="0" indent="0" algn="l">
              <a:lnSpc>
                <a:spcPct val="140000"/>
              </a:lnSpc>
              <a:buNone/>
            </a:pPr>
            <a:r>
              <a:rPr lang="en-US" sz="1500" kern="0" spc="90" dirty="0">
                <a:solidFill>
                  <a:srgbClr val="7A7466"/>
                </a:solidFill>
                <a:latin typeface="Courier New" pitchFamily="34" charset="0"/>
                <a:ea typeface="Courier New" pitchFamily="34" charset="-122"/>
                <a:cs typeface="Courier New" pitchFamily="34" charset="-120"/>
              </a:rPr>
              <a:t>PART TWO · THE GAP</a:t>
            </a:r>
            <a:endParaRPr lang="en-US" sz="1500" dirty="0"/>
          </a:p>
        </p:txBody>
      </p:sp>
      <p:sp>
        <p:nvSpPr>
          <p:cNvPr id="3" name="Text 1"/>
          <p:cNvSpPr/>
          <p:nvPr/>
        </p:nvSpPr>
        <p:spPr>
          <a:xfrm>
            <a:off x="12183721" y="381000"/>
            <a:ext cx="3367559"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7A7466"/>
                </a:solidFill>
                <a:latin typeface="Courier New" pitchFamily="34" charset="0"/>
                <a:ea typeface="Courier New" pitchFamily="34" charset="-122"/>
                <a:cs typeface="Courier New" pitchFamily="34" charset="-120"/>
              </a:rPr>
              <a:t>THE WEB HAS A NEW AUDIENCE</a:t>
            </a:r>
            <a:endParaRPr lang="en-US" sz="1500" dirty="0"/>
          </a:p>
        </p:txBody>
      </p:sp>
      <p:sp>
        <p:nvSpPr>
          <p:cNvPr id="4" name="Text 2"/>
          <p:cNvSpPr/>
          <p:nvPr/>
        </p:nvSpPr>
        <p:spPr>
          <a:xfrm>
            <a:off x="15796059" y="381000"/>
            <a:ext cx="201960"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1A1813">
                    <a:alpha val="7000"/>
                  </a:srgbClr>
                </a:solidFill>
                <a:latin typeface="Courier New" pitchFamily="34" charset="0"/>
                <a:ea typeface="Courier New" pitchFamily="34" charset="-122"/>
                <a:cs typeface="Courier New" pitchFamily="34" charset="-120"/>
              </a:rPr>
              <a:t>·</a:t>
            </a:r>
            <a:endParaRPr lang="en-US" sz="1500" dirty="0"/>
          </a:p>
        </p:txBody>
      </p:sp>
      <p:sp>
        <p:nvSpPr>
          <p:cNvPr id="5" name="Text 3"/>
          <p:cNvSpPr/>
          <p:nvPr/>
        </p:nvSpPr>
        <p:spPr>
          <a:xfrm>
            <a:off x="16264682" y="381000"/>
            <a:ext cx="956518"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7A7466"/>
                </a:solidFill>
                <a:latin typeface="Courier New" pitchFamily="34" charset="0"/>
                <a:ea typeface="Courier New" pitchFamily="34" charset="-122"/>
                <a:cs typeface="Courier New" pitchFamily="34" charset="-120"/>
              </a:rPr>
              <a:t>06 / 11</a:t>
            </a:r>
            <a:endParaRPr lang="en-US" sz="1500" dirty="0"/>
          </a:p>
        </p:txBody>
      </p:sp>
      <p:sp>
        <p:nvSpPr>
          <p:cNvPr id="6" name="Text 4"/>
          <p:cNvSpPr/>
          <p:nvPr/>
        </p:nvSpPr>
        <p:spPr>
          <a:xfrm>
            <a:off x="1143000" y="914363"/>
            <a:ext cx="16482060" cy="331477"/>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650" kern="0" spc="330" dirty="0">
                <a:solidFill>
                  <a:srgbClr val="000000"/>
                </a:solidFill>
                <a:latin typeface="Courier New" pitchFamily="34" charset="0"/>
                <a:ea typeface="Courier New" pitchFamily="34" charset="-122"/>
                <a:cs typeface="Courier New" pitchFamily="34" charset="-120"/>
              </a:rPr>
              <a:t>CARRIER-NEUTRAL</a:t>
            </a:r>
            <a:endParaRPr lang="en-US" sz="1650" dirty="0"/>
          </a:p>
        </p:txBody>
      </p:sp>
      <p:sp>
        <p:nvSpPr>
          <p:cNvPr id="7" name="Text 5"/>
          <p:cNvSpPr/>
          <p:nvPr/>
        </p:nvSpPr>
        <p:spPr>
          <a:xfrm>
            <a:off x="1143000" y="1550603"/>
            <a:ext cx="15108555" cy="1753902"/>
          </a:xfrm>
          <a:prstGeom prst="rect">
            <a:avLst/>
          </a:prstGeom>
          <a:noFill/>
          <a:ln/>
        </p:spPr>
        <p:txBody>
          <a:bodyPr wrap="square" lIns="25400" tIns="25400" rIns="25400" bIns="25400" rtlCol="0" anchor="t">
            <a:normAutofit fontScale="92500" lnSpcReduction="20000"/>
          </a:bodyPr>
          <a:lstStyle/>
          <a:p>
            <a:pPr marL="0" indent="0" algn="l">
              <a:lnSpc>
                <a:spcPct val="102000"/>
              </a:lnSpc>
              <a:buNone/>
            </a:pPr>
            <a:r>
              <a:rPr lang="en-US" sz="6600" kern="0" spc="-119" dirty="0">
                <a:solidFill>
                  <a:srgbClr val="1A1813"/>
                </a:solidFill>
                <a:latin typeface="Georgia" pitchFamily="34" charset="0"/>
                <a:ea typeface="Georgia" pitchFamily="34" charset="-122"/>
                <a:cs typeface="Georgia" pitchFamily="34" charset="-120"/>
              </a:rPr>
              <a:t>AI Agents are everywhere. Not just Web. </a:t>
            </a:r>
            <a:br>
              <a:rPr lang="en-US" sz="6600" kern="0" spc="-119" dirty="0">
                <a:solidFill>
                  <a:srgbClr val="1A1813"/>
                </a:solidFill>
                <a:latin typeface="Georgia" pitchFamily="34" charset="0"/>
                <a:ea typeface="Georgia" pitchFamily="34" charset="-122"/>
                <a:cs typeface="Georgia" pitchFamily="34" charset="-120"/>
              </a:rPr>
            </a:br>
            <a:r>
              <a:rPr lang="en-US" sz="6600" kern="0" spc="-119" dirty="0">
                <a:solidFill>
                  <a:srgbClr val="1A1813"/>
                </a:solidFill>
                <a:latin typeface="Georgia" pitchFamily="34" charset="0"/>
                <a:ea typeface="Georgia" pitchFamily="34" charset="-122"/>
                <a:cs typeface="Georgia" pitchFamily="34" charset="-120"/>
              </a:rPr>
              <a:t>So are the texts </a:t>
            </a:r>
            <a:r>
              <a:rPr lang="en-US" sz="6600" i="1" kern="0" spc="-119" dirty="0">
                <a:solidFill>
                  <a:srgbClr val="000000"/>
                </a:solidFill>
                <a:latin typeface="Georgia" pitchFamily="34" charset="0"/>
                <a:ea typeface="Georgia" pitchFamily="34" charset="-122"/>
                <a:cs typeface="Georgia" pitchFamily="34" charset="-120"/>
              </a:rPr>
              <a:t>they read.</a:t>
            </a:r>
            <a:endParaRPr lang="en-US" sz="6600" dirty="0"/>
          </a:p>
        </p:txBody>
      </p:sp>
      <p:sp>
        <p:nvSpPr>
          <p:cNvPr id="8" name="Shape 6"/>
          <p:cNvSpPr/>
          <p:nvPr/>
        </p:nvSpPr>
        <p:spPr>
          <a:xfrm>
            <a:off x="1143000" y="3685449"/>
            <a:ext cx="1828819" cy="625078"/>
          </a:xfrm>
          <a:prstGeom prst="roundRect">
            <a:avLst>
              <a:gd name="adj" fmla="val 50000"/>
            </a:avLst>
          </a:prstGeom>
          <a:ln w="5953">
            <a:solidFill>
              <a:srgbClr val="1A1813"/>
            </a:solidFill>
            <a:prstDash val="solid"/>
          </a:ln>
        </p:spPr>
        <p:txBody>
          <a:bodyPr/>
          <a:lstStyle/>
          <a:p>
            <a:endParaRPr lang="en-GB"/>
          </a:p>
        </p:txBody>
      </p:sp>
      <p:sp>
        <p:nvSpPr>
          <p:cNvPr id="9" name="Text 7"/>
          <p:cNvSpPr/>
          <p:nvPr/>
        </p:nvSpPr>
        <p:spPr>
          <a:xfrm>
            <a:off x="1377553" y="3824753"/>
            <a:ext cx="1435912" cy="384572"/>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950" kern="0" spc="20" dirty="0">
                <a:solidFill>
                  <a:srgbClr val="1A1813"/>
                </a:solidFill>
                <a:latin typeface="Courier New" pitchFamily="34" charset="0"/>
                <a:ea typeface="Courier New" pitchFamily="34" charset="-122"/>
                <a:cs typeface="Courier New" pitchFamily="34" charset="-120"/>
              </a:rPr>
              <a:t>Web pages</a:t>
            </a:r>
            <a:endParaRPr lang="en-US" sz="1950" dirty="0"/>
          </a:p>
        </p:txBody>
      </p:sp>
      <p:sp>
        <p:nvSpPr>
          <p:cNvPr id="10" name="Shape 8"/>
          <p:cNvSpPr/>
          <p:nvPr/>
        </p:nvSpPr>
        <p:spPr>
          <a:xfrm>
            <a:off x="3105113" y="3685449"/>
            <a:ext cx="1073423" cy="625078"/>
          </a:xfrm>
          <a:prstGeom prst="roundRect">
            <a:avLst>
              <a:gd name="adj" fmla="val 50000"/>
            </a:avLst>
          </a:prstGeom>
          <a:ln w="5953">
            <a:solidFill>
              <a:srgbClr val="1A1813"/>
            </a:solidFill>
            <a:prstDash val="solid"/>
          </a:ln>
        </p:spPr>
        <p:txBody>
          <a:bodyPr/>
          <a:lstStyle/>
          <a:p>
            <a:endParaRPr lang="en-GB"/>
          </a:p>
        </p:txBody>
      </p:sp>
      <p:sp>
        <p:nvSpPr>
          <p:cNvPr id="11" name="Text 9"/>
          <p:cNvSpPr/>
          <p:nvPr/>
        </p:nvSpPr>
        <p:spPr>
          <a:xfrm>
            <a:off x="3339666" y="3824753"/>
            <a:ext cx="680517" cy="384572"/>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950" kern="0" spc="20" dirty="0">
                <a:solidFill>
                  <a:srgbClr val="1A1813"/>
                </a:solidFill>
                <a:latin typeface="Courier New" pitchFamily="34" charset="0"/>
                <a:ea typeface="Courier New" pitchFamily="34" charset="-122"/>
                <a:cs typeface="Courier New" pitchFamily="34" charset="-120"/>
              </a:rPr>
              <a:t>PDFs</a:t>
            </a:r>
            <a:endParaRPr lang="en-US" sz="1950" dirty="0"/>
          </a:p>
        </p:txBody>
      </p:sp>
      <p:sp>
        <p:nvSpPr>
          <p:cNvPr id="12" name="Shape 10"/>
          <p:cNvSpPr/>
          <p:nvPr/>
        </p:nvSpPr>
        <p:spPr>
          <a:xfrm>
            <a:off x="4311830" y="3685449"/>
            <a:ext cx="1677758" cy="625078"/>
          </a:xfrm>
          <a:prstGeom prst="roundRect">
            <a:avLst>
              <a:gd name="adj" fmla="val 50000"/>
            </a:avLst>
          </a:prstGeom>
          <a:ln w="5953">
            <a:solidFill>
              <a:srgbClr val="1A1813"/>
            </a:solidFill>
            <a:prstDash val="solid"/>
          </a:ln>
        </p:spPr>
        <p:txBody>
          <a:bodyPr/>
          <a:lstStyle/>
          <a:p>
            <a:endParaRPr lang="en-GB"/>
          </a:p>
        </p:txBody>
      </p:sp>
      <p:sp>
        <p:nvSpPr>
          <p:cNvPr id="13" name="Text 11"/>
          <p:cNvSpPr/>
          <p:nvPr/>
        </p:nvSpPr>
        <p:spPr>
          <a:xfrm>
            <a:off x="4546383" y="3824753"/>
            <a:ext cx="1284852" cy="384572"/>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950" kern="0" spc="20" dirty="0">
                <a:solidFill>
                  <a:srgbClr val="1A1813"/>
                </a:solidFill>
                <a:latin typeface="Courier New" pitchFamily="34" charset="0"/>
                <a:ea typeface="Courier New" pitchFamily="34" charset="-122"/>
                <a:cs typeface="Courier New" pitchFamily="34" charset="-120"/>
              </a:rPr>
              <a:t>Datasets</a:t>
            </a:r>
            <a:endParaRPr lang="en-US" sz="1950" dirty="0"/>
          </a:p>
        </p:txBody>
      </p:sp>
      <p:sp>
        <p:nvSpPr>
          <p:cNvPr id="14" name="Shape 12"/>
          <p:cNvSpPr/>
          <p:nvPr/>
        </p:nvSpPr>
        <p:spPr>
          <a:xfrm>
            <a:off x="6122882" y="3685449"/>
            <a:ext cx="3037582" cy="625078"/>
          </a:xfrm>
          <a:prstGeom prst="roundRect">
            <a:avLst>
              <a:gd name="adj" fmla="val 50000"/>
            </a:avLst>
          </a:prstGeom>
          <a:ln w="5953">
            <a:solidFill>
              <a:srgbClr val="1A1813"/>
            </a:solidFill>
            <a:prstDash val="solid"/>
          </a:ln>
        </p:spPr>
        <p:txBody>
          <a:bodyPr/>
          <a:lstStyle/>
          <a:p>
            <a:endParaRPr lang="en-GB"/>
          </a:p>
        </p:txBody>
      </p:sp>
      <p:sp>
        <p:nvSpPr>
          <p:cNvPr id="15" name="Text 13"/>
          <p:cNvSpPr/>
          <p:nvPr/>
        </p:nvSpPr>
        <p:spPr>
          <a:xfrm>
            <a:off x="6357435" y="3824753"/>
            <a:ext cx="2659603" cy="384572"/>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950" kern="0" spc="20" dirty="0">
                <a:solidFill>
                  <a:srgbClr val="1A1813"/>
                </a:solidFill>
                <a:latin typeface="Courier New" pitchFamily="34" charset="0"/>
                <a:ea typeface="Courier New" pitchFamily="34" charset="-122"/>
                <a:cs typeface="Courier New" pitchFamily="34" charset="-120"/>
              </a:rPr>
              <a:t>Audio transcripts</a:t>
            </a:r>
            <a:endParaRPr lang="en-US" sz="1950" dirty="0"/>
          </a:p>
        </p:txBody>
      </p:sp>
      <p:sp>
        <p:nvSpPr>
          <p:cNvPr id="16" name="Shape 14"/>
          <p:cNvSpPr/>
          <p:nvPr/>
        </p:nvSpPr>
        <p:spPr>
          <a:xfrm>
            <a:off x="9293758" y="3685449"/>
            <a:ext cx="2433247" cy="625078"/>
          </a:xfrm>
          <a:prstGeom prst="roundRect">
            <a:avLst>
              <a:gd name="adj" fmla="val 50000"/>
            </a:avLst>
          </a:prstGeom>
          <a:ln w="5953">
            <a:solidFill>
              <a:srgbClr val="1A1813"/>
            </a:solidFill>
            <a:prstDash val="solid"/>
          </a:ln>
        </p:spPr>
        <p:txBody>
          <a:bodyPr/>
          <a:lstStyle/>
          <a:p>
            <a:endParaRPr lang="en-GB"/>
          </a:p>
        </p:txBody>
      </p:sp>
      <p:sp>
        <p:nvSpPr>
          <p:cNvPr id="17" name="Text 15"/>
          <p:cNvSpPr/>
          <p:nvPr/>
        </p:nvSpPr>
        <p:spPr>
          <a:xfrm>
            <a:off x="9528311" y="3824753"/>
            <a:ext cx="2040341" cy="384572"/>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950" kern="0" spc="20" dirty="0">
                <a:solidFill>
                  <a:srgbClr val="1A1813"/>
                </a:solidFill>
                <a:latin typeface="Courier New" pitchFamily="34" charset="0"/>
                <a:ea typeface="Courier New" pitchFamily="34" charset="-122"/>
                <a:cs typeface="Courier New" pitchFamily="34" charset="-120"/>
              </a:rPr>
              <a:t>API responses</a:t>
            </a:r>
            <a:endParaRPr lang="en-US" sz="1950" dirty="0"/>
          </a:p>
        </p:txBody>
      </p:sp>
      <p:sp>
        <p:nvSpPr>
          <p:cNvPr id="18" name="Shape 16"/>
          <p:cNvSpPr/>
          <p:nvPr/>
        </p:nvSpPr>
        <p:spPr>
          <a:xfrm>
            <a:off x="11860299" y="3685449"/>
            <a:ext cx="3641917" cy="625078"/>
          </a:xfrm>
          <a:prstGeom prst="roundRect">
            <a:avLst>
              <a:gd name="adj" fmla="val 50000"/>
            </a:avLst>
          </a:prstGeom>
          <a:ln w="5953">
            <a:solidFill>
              <a:srgbClr val="1A1813"/>
            </a:solidFill>
            <a:prstDash val="solid"/>
          </a:ln>
        </p:spPr>
        <p:txBody>
          <a:bodyPr/>
          <a:lstStyle/>
          <a:p>
            <a:endParaRPr lang="en-GB"/>
          </a:p>
        </p:txBody>
      </p:sp>
      <p:sp>
        <p:nvSpPr>
          <p:cNvPr id="19" name="Text 17"/>
          <p:cNvSpPr/>
          <p:nvPr/>
        </p:nvSpPr>
        <p:spPr>
          <a:xfrm>
            <a:off x="12094852" y="3824753"/>
            <a:ext cx="3282069" cy="384572"/>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950" kern="0" spc="20" dirty="0">
                <a:solidFill>
                  <a:srgbClr val="1A1813"/>
                </a:solidFill>
                <a:latin typeface="Courier New" pitchFamily="34" charset="0"/>
                <a:ea typeface="Courier New" pitchFamily="34" charset="-122"/>
                <a:cs typeface="Courier New" pitchFamily="34" charset="-120"/>
              </a:rPr>
              <a:t>Spreadsheets in email</a:t>
            </a:r>
            <a:endParaRPr lang="en-US" sz="1950" dirty="0"/>
          </a:p>
        </p:txBody>
      </p:sp>
      <p:sp>
        <p:nvSpPr>
          <p:cNvPr id="20" name="Shape 18"/>
          <p:cNvSpPr/>
          <p:nvPr/>
        </p:nvSpPr>
        <p:spPr>
          <a:xfrm>
            <a:off x="1143000" y="4443822"/>
            <a:ext cx="5152802" cy="625078"/>
          </a:xfrm>
          <a:prstGeom prst="roundRect">
            <a:avLst>
              <a:gd name="adj" fmla="val 50000"/>
            </a:avLst>
          </a:prstGeom>
          <a:ln w="5953">
            <a:solidFill>
              <a:srgbClr val="1A1813"/>
            </a:solidFill>
            <a:prstDash val="solid"/>
          </a:ln>
        </p:spPr>
        <p:txBody>
          <a:bodyPr/>
          <a:lstStyle/>
          <a:p>
            <a:endParaRPr lang="en-GB"/>
          </a:p>
        </p:txBody>
      </p:sp>
      <p:sp>
        <p:nvSpPr>
          <p:cNvPr id="21" name="Text 19"/>
          <p:cNvSpPr/>
          <p:nvPr/>
        </p:nvSpPr>
        <p:spPr>
          <a:xfrm>
            <a:off x="1377553" y="4583125"/>
            <a:ext cx="4838280" cy="384572"/>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950" kern="0" spc="20" dirty="0">
                <a:solidFill>
                  <a:srgbClr val="1A1813"/>
                </a:solidFill>
                <a:latin typeface="Courier New" pitchFamily="34" charset="0"/>
                <a:ea typeface="Courier New" pitchFamily="34" charset="-122"/>
                <a:cs typeface="Courier New" pitchFamily="34" charset="-120"/>
              </a:rPr>
              <a:t>KB articles inside the firewall</a:t>
            </a:r>
            <a:endParaRPr lang="en-US" sz="1950" dirty="0"/>
          </a:p>
        </p:txBody>
      </p:sp>
      <p:sp>
        <p:nvSpPr>
          <p:cNvPr id="22" name="Shape 20"/>
          <p:cNvSpPr/>
          <p:nvPr/>
        </p:nvSpPr>
        <p:spPr>
          <a:xfrm>
            <a:off x="6429096" y="4443822"/>
            <a:ext cx="4095192" cy="625078"/>
          </a:xfrm>
          <a:prstGeom prst="roundRect">
            <a:avLst>
              <a:gd name="adj" fmla="val 50000"/>
            </a:avLst>
          </a:prstGeom>
          <a:ln w="5953">
            <a:solidFill>
              <a:srgbClr val="1A1813">
                <a:alpha val="13000"/>
              </a:srgbClr>
            </a:solidFill>
            <a:prstDash val="solid"/>
          </a:ln>
        </p:spPr>
        <p:txBody>
          <a:bodyPr/>
          <a:lstStyle/>
          <a:p>
            <a:endParaRPr lang="en-GB"/>
          </a:p>
        </p:txBody>
      </p:sp>
      <p:sp>
        <p:nvSpPr>
          <p:cNvPr id="23" name="Text 21"/>
          <p:cNvSpPr/>
          <p:nvPr/>
        </p:nvSpPr>
        <p:spPr>
          <a:xfrm>
            <a:off x="6663649" y="4583125"/>
            <a:ext cx="3748941" cy="384572"/>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950" kern="0" spc="20" dirty="0">
                <a:solidFill>
                  <a:srgbClr val="7A7466"/>
                </a:solidFill>
                <a:latin typeface="Courier New" pitchFamily="34" charset="0"/>
                <a:ea typeface="Courier New" pitchFamily="34" charset="-122"/>
                <a:cs typeface="Courier New" pitchFamily="34" charset="-120"/>
              </a:rPr>
              <a:t>…and whatever ships next</a:t>
            </a:r>
            <a:endParaRPr lang="en-US" sz="1950" dirty="0"/>
          </a:p>
        </p:txBody>
      </p:sp>
      <p:sp>
        <p:nvSpPr>
          <p:cNvPr id="24" name="Text 22"/>
          <p:cNvSpPr/>
          <p:nvPr/>
        </p:nvSpPr>
        <p:spPr>
          <a:xfrm>
            <a:off x="1600181" y="5526081"/>
            <a:ext cx="14245228" cy="470911"/>
          </a:xfrm>
          <a:prstGeom prst="rect">
            <a:avLst/>
          </a:prstGeom>
          <a:noFill/>
          <a:ln/>
        </p:spPr>
        <p:txBody>
          <a:bodyPr wrap="square" lIns="25400" tIns="25400" rIns="25400" bIns="25400" rtlCol="0" anchor="t">
            <a:normAutofit fontScale="92500" lnSpcReduction="10000"/>
          </a:bodyPr>
          <a:lstStyle/>
          <a:p>
            <a:pPr marL="0" indent="0" algn="l">
              <a:lnSpc>
                <a:spcPct val="142000"/>
              </a:lnSpc>
              <a:buNone/>
            </a:pPr>
            <a:r>
              <a:rPr lang="en-US" sz="2400" dirty="0">
                <a:solidFill>
                  <a:srgbClr val="1A1813"/>
                </a:solidFill>
                <a:latin typeface="Arial" pitchFamily="34" charset="0"/>
                <a:ea typeface="Arial" pitchFamily="34" charset="-122"/>
                <a:cs typeface="Arial" pitchFamily="34" charset="-120"/>
              </a:rPr>
              <a:t>An agent reads the carrier it finds.</a:t>
            </a:r>
            <a:endParaRPr lang="en-US" sz="2400" dirty="0"/>
          </a:p>
        </p:txBody>
      </p:sp>
      <p:sp>
        <p:nvSpPr>
          <p:cNvPr id="25" name="Text 23"/>
          <p:cNvSpPr/>
          <p:nvPr/>
        </p:nvSpPr>
        <p:spPr>
          <a:xfrm>
            <a:off x="1600181" y="6187436"/>
            <a:ext cx="14245228" cy="470911"/>
          </a:xfrm>
          <a:prstGeom prst="rect">
            <a:avLst/>
          </a:prstGeom>
          <a:noFill/>
          <a:ln/>
        </p:spPr>
        <p:txBody>
          <a:bodyPr wrap="square" lIns="25400" tIns="25400" rIns="25400" bIns="25400" rtlCol="0" anchor="t">
            <a:normAutofit fontScale="92500" lnSpcReduction="10000"/>
          </a:bodyPr>
          <a:lstStyle/>
          <a:p>
            <a:pPr marL="0" indent="0" algn="l">
              <a:lnSpc>
                <a:spcPct val="142000"/>
              </a:lnSpc>
              <a:buNone/>
            </a:pPr>
            <a:r>
              <a:rPr lang="en-US" sz="2400" dirty="0">
                <a:solidFill>
                  <a:srgbClr val="1A1813"/>
                </a:solidFill>
                <a:latin typeface="Arial" pitchFamily="34" charset="0"/>
                <a:ea typeface="Arial" pitchFamily="34" charset="-122"/>
                <a:cs typeface="Arial" pitchFamily="34" charset="-120"/>
              </a:rPr>
              <a:t>The carrier is rarely HTML.</a:t>
            </a:r>
            <a:endParaRPr lang="en-US" sz="2400" dirty="0"/>
          </a:p>
        </p:txBody>
      </p:sp>
      <p:sp>
        <p:nvSpPr>
          <p:cNvPr id="26" name="Shape 24"/>
          <p:cNvSpPr/>
          <p:nvPr/>
        </p:nvSpPr>
        <p:spPr>
          <a:xfrm>
            <a:off x="1143000" y="7153610"/>
            <a:ext cx="14763750" cy="9525"/>
          </a:xfrm>
          <a:prstGeom prst="rect">
            <a:avLst/>
          </a:prstGeom>
          <a:solidFill>
            <a:srgbClr val="1A1813">
              <a:alpha val="13000"/>
            </a:srgbClr>
          </a:solidFill>
          <a:ln/>
        </p:spPr>
        <p:txBody>
          <a:bodyPr/>
          <a:lstStyle/>
          <a:p>
            <a:endParaRPr lang="en-GB"/>
          </a:p>
        </p:txBody>
      </p:sp>
      <p:sp>
        <p:nvSpPr>
          <p:cNvPr id="27" name="Text 25"/>
          <p:cNvSpPr/>
          <p:nvPr/>
        </p:nvSpPr>
        <p:spPr>
          <a:xfrm>
            <a:off x="1143000" y="7464363"/>
            <a:ext cx="15206662" cy="1085776"/>
          </a:xfrm>
          <a:prstGeom prst="rect">
            <a:avLst/>
          </a:prstGeom>
          <a:noFill/>
          <a:ln/>
        </p:spPr>
        <p:txBody>
          <a:bodyPr wrap="square" lIns="25400" tIns="25400" rIns="25400" bIns="25400" rtlCol="0" anchor="t">
            <a:normAutofit fontScale="92500" lnSpcReduction="20000"/>
          </a:bodyPr>
          <a:lstStyle/>
          <a:p>
            <a:pPr marL="0" indent="0" algn="l">
              <a:lnSpc>
                <a:spcPct val="125000"/>
              </a:lnSpc>
              <a:buNone/>
            </a:pPr>
            <a:r>
              <a:rPr lang="en-US" sz="3300" i="1" dirty="0">
                <a:solidFill>
                  <a:srgbClr val="1A1813"/>
                </a:solidFill>
                <a:latin typeface="Georgia" pitchFamily="34" charset="0"/>
                <a:ea typeface="Georgia" pitchFamily="34" charset="-122"/>
                <a:cs typeface="Georgia" pitchFamily="34" charset="-120"/>
              </a:rPr>
              <a:t>A standard built for one carrier is already behind. </a:t>
            </a:r>
            <a:br>
              <a:rPr lang="en-US" sz="3300" i="1" dirty="0">
                <a:solidFill>
                  <a:srgbClr val="1A1813"/>
                </a:solidFill>
                <a:latin typeface="Georgia" pitchFamily="34" charset="0"/>
                <a:ea typeface="Georgia" pitchFamily="34" charset="-122"/>
                <a:cs typeface="Georgia" pitchFamily="34" charset="-120"/>
              </a:rPr>
            </a:br>
            <a:r>
              <a:rPr lang="en-US" sz="3300" i="1" dirty="0">
                <a:solidFill>
                  <a:srgbClr val="000000"/>
                </a:solidFill>
                <a:latin typeface="Georgia" pitchFamily="34" charset="0"/>
                <a:ea typeface="Georgia" pitchFamily="34" charset="-122"/>
                <a:cs typeface="Georgia" pitchFamily="34" charset="-120"/>
              </a:rPr>
              <a:t>MX is carrier-neutral; the contract travels with the content.</a:t>
            </a:r>
            <a:endParaRPr lang="en-US" sz="3300" dirty="0"/>
          </a:p>
        </p:txBody>
      </p:sp>
      <p:sp>
        <p:nvSpPr>
          <p:cNvPr id="28" name="Shape 26"/>
          <p:cNvSpPr/>
          <p:nvPr/>
        </p:nvSpPr>
        <p:spPr>
          <a:xfrm>
            <a:off x="1143000" y="8893039"/>
            <a:ext cx="16002000" cy="9525"/>
          </a:xfrm>
          <a:prstGeom prst="rect">
            <a:avLst/>
          </a:prstGeom>
          <a:solidFill>
            <a:srgbClr val="1A1813">
              <a:alpha val="13000"/>
            </a:srgbClr>
          </a:solidFill>
          <a:ln/>
        </p:spPr>
        <p:txBody>
          <a:bodyPr/>
          <a:lstStyle/>
          <a:p>
            <a:endParaRPr lang="en-GB"/>
          </a:p>
        </p:txBody>
      </p:sp>
      <p:sp>
        <p:nvSpPr>
          <p:cNvPr id="29" name="Text 27"/>
          <p:cNvSpPr/>
          <p:nvPr/>
        </p:nvSpPr>
        <p:spPr>
          <a:xfrm>
            <a:off x="1143000" y="9165673"/>
            <a:ext cx="3516732"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60" dirty="0">
                <a:solidFill>
                  <a:srgbClr val="7A7466"/>
                </a:solidFill>
                <a:latin typeface="Courier New" pitchFamily="34" charset="0"/>
                <a:ea typeface="Courier New" pitchFamily="34" charset="-122"/>
                <a:cs typeface="Courier New" pitchFamily="34" charset="-120"/>
              </a:rPr>
              <a:t>TOM CRANSTOUN · TG.COMMUNITY</a:t>
            </a:r>
            <a:endParaRPr lang="en-US" sz="1500" dirty="0"/>
          </a:p>
        </p:txBody>
      </p:sp>
      <p:sp>
        <p:nvSpPr>
          <p:cNvPr id="30" name="Text 28"/>
          <p:cNvSpPr/>
          <p:nvPr/>
        </p:nvSpPr>
        <p:spPr>
          <a:xfrm>
            <a:off x="16901108" y="9165673"/>
            <a:ext cx="320092"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60" dirty="0">
                <a:solidFill>
                  <a:srgbClr val="7A7466"/>
                </a:solidFill>
                <a:latin typeface="Courier New" pitchFamily="34" charset="0"/>
                <a:ea typeface="Courier New" pitchFamily="34" charset="-122"/>
                <a:cs typeface="Courier New" pitchFamily="34" charset="-120"/>
              </a:rPr>
              <a:t>06</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3EFE7"/>
        </a:solidFill>
        <a:effectLst/>
      </p:bgPr>
    </p:bg>
    <p:spTree>
      <p:nvGrpSpPr>
        <p:cNvPr id="1" name="">
          <a:extLst>
            <a:ext uri="{FF2B5EF4-FFF2-40B4-BE49-F238E27FC236}">
              <a16:creationId xmlns:a16="http://schemas.microsoft.com/office/drawing/2014/main" id="{1C371F77-F049-2256-765F-1D2BF2EB3941}"/>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27F770B6-DA95-E85C-4888-0968FC9DC6A1}"/>
              </a:ext>
            </a:extLst>
          </p:cNvPr>
          <p:cNvSpPr/>
          <p:nvPr/>
        </p:nvSpPr>
        <p:spPr>
          <a:xfrm>
            <a:off x="1352476" y="398859"/>
            <a:ext cx="2339690" cy="258366"/>
          </a:xfrm>
          <a:prstGeom prst="rect">
            <a:avLst/>
          </a:prstGeom>
          <a:noFill/>
          <a:ln/>
        </p:spPr>
        <p:txBody>
          <a:bodyPr wrap="square" lIns="0" tIns="0" rIns="0" bIns="0" rtlCol="0" anchor="t">
            <a:normAutofit fontScale="92500" lnSpcReduction="20000"/>
          </a:bodyPr>
          <a:lstStyle/>
          <a:p>
            <a:pPr marL="0" indent="0" algn="l">
              <a:lnSpc>
                <a:spcPct val="140000"/>
              </a:lnSpc>
              <a:buNone/>
            </a:pPr>
            <a:r>
              <a:rPr lang="en-US" sz="1500" kern="0" spc="90" dirty="0">
                <a:solidFill>
                  <a:srgbClr val="7A7466"/>
                </a:solidFill>
                <a:latin typeface="Courier New" pitchFamily="34" charset="0"/>
                <a:ea typeface="Courier New" pitchFamily="34" charset="-122"/>
                <a:cs typeface="Courier New" pitchFamily="34" charset="-120"/>
              </a:rPr>
              <a:t>PART TWO · THE GAP</a:t>
            </a:r>
            <a:endParaRPr lang="en-US" sz="1500" dirty="0"/>
          </a:p>
        </p:txBody>
      </p:sp>
      <p:sp>
        <p:nvSpPr>
          <p:cNvPr id="3" name="Text 1">
            <a:extLst>
              <a:ext uri="{FF2B5EF4-FFF2-40B4-BE49-F238E27FC236}">
                <a16:creationId xmlns:a16="http://schemas.microsoft.com/office/drawing/2014/main" id="{58E89E7D-9055-0B68-71D0-75B81D4BD491}"/>
              </a:ext>
            </a:extLst>
          </p:cNvPr>
          <p:cNvSpPr/>
          <p:nvPr/>
        </p:nvSpPr>
        <p:spPr>
          <a:xfrm>
            <a:off x="12183721" y="381000"/>
            <a:ext cx="3367559"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7A7466"/>
                </a:solidFill>
                <a:latin typeface="Courier New" pitchFamily="34" charset="0"/>
                <a:ea typeface="Courier New" pitchFamily="34" charset="-122"/>
                <a:cs typeface="Courier New" pitchFamily="34" charset="-120"/>
              </a:rPr>
              <a:t>THE WEB HAS A NEW AUDIENCE</a:t>
            </a:r>
            <a:endParaRPr lang="en-US" sz="1500" dirty="0"/>
          </a:p>
        </p:txBody>
      </p:sp>
      <p:sp>
        <p:nvSpPr>
          <p:cNvPr id="4" name="Text 2">
            <a:extLst>
              <a:ext uri="{FF2B5EF4-FFF2-40B4-BE49-F238E27FC236}">
                <a16:creationId xmlns:a16="http://schemas.microsoft.com/office/drawing/2014/main" id="{E469DA49-8E1A-5933-A248-EAFD2D558188}"/>
              </a:ext>
            </a:extLst>
          </p:cNvPr>
          <p:cNvSpPr/>
          <p:nvPr/>
        </p:nvSpPr>
        <p:spPr>
          <a:xfrm>
            <a:off x="15796059" y="381000"/>
            <a:ext cx="201960"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1A1813">
                    <a:alpha val="7000"/>
                  </a:srgbClr>
                </a:solidFill>
                <a:latin typeface="Courier New" pitchFamily="34" charset="0"/>
                <a:ea typeface="Courier New" pitchFamily="34" charset="-122"/>
                <a:cs typeface="Courier New" pitchFamily="34" charset="-120"/>
              </a:rPr>
              <a:t>·</a:t>
            </a:r>
            <a:endParaRPr lang="en-US" sz="1500" dirty="0"/>
          </a:p>
        </p:txBody>
      </p:sp>
      <p:sp>
        <p:nvSpPr>
          <p:cNvPr id="5" name="Text 3">
            <a:extLst>
              <a:ext uri="{FF2B5EF4-FFF2-40B4-BE49-F238E27FC236}">
                <a16:creationId xmlns:a16="http://schemas.microsoft.com/office/drawing/2014/main" id="{1EA3495E-0F2A-B8D7-8B53-68B52BF57B0B}"/>
              </a:ext>
            </a:extLst>
          </p:cNvPr>
          <p:cNvSpPr/>
          <p:nvPr/>
        </p:nvSpPr>
        <p:spPr>
          <a:xfrm>
            <a:off x="16264682" y="381000"/>
            <a:ext cx="956518"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7A7466"/>
                </a:solidFill>
                <a:latin typeface="Courier New" pitchFamily="34" charset="0"/>
                <a:ea typeface="Courier New" pitchFamily="34" charset="-122"/>
                <a:cs typeface="Courier New" pitchFamily="34" charset="-120"/>
              </a:rPr>
              <a:t>06 / 11</a:t>
            </a:r>
            <a:endParaRPr lang="en-US" sz="1500" dirty="0"/>
          </a:p>
        </p:txBody>
      </p:sp>
      <p:sp>
        <p:nvSpPr>
          <p:cNvPr id="6" name="Text 4">
            <a:extLst>
              <a:ext uri="{FF2B5EF4-FFF2-40B4-BE49-F238E27FC236}">
                <a16:creationId xmlns:a16="http://schemas.microsoft.com/office/drawing/2014/main" id="{1AAE6B56-D854-F959-0AA3-133DAA01A8AB}"/>
              </a:ext>
            </a:extLst>
          </p:cNvPr>
          <p:cNvSpPr/>
          <p:nvPr/>
        </p:nvSpPr>
        <p:spPr>
          <a:xfrm>
            <a:off x="1143000" y="914363"/>
            <a:ext cx="16482060" cy="331477"/>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650" kern="0" spc="330" dirty="0">
                <a:solidFill>
                  <a:srgbClr val="000000"/>
                </a:solidFill>
                <a:latin typeface="Courier New" pitchFamily="34" charset="0"/>
                <a:ea typeface="Courier New" pitchFamily="34" charset="-122"/>
                <a:cs typeface="Courier New" pitchFamily="34" charset="-120"/>
              </a:rPr>
              <a:t>CARRIER-NEUTRAL</a:t>
            </a:r>
            <a:endParaRPr lang="en-US" sz="1650" dirty="0"/>
          </a:p>
        </p:txBody>
      </p:sp>
      <p:sp>
        <p:nvSpPr>
          <p:cNvPr id="7" name="Text 5">
            <a:extLst>
              <a:ext uri="{FF2B5EF4-FFF2-40B4-BE49-F238E27FC236}">
                <a16:creationId xmlns:a16="http://schemas.microsoft.com/office/drawing/2014/main" id="{40ED41D2-CACE-80A5-C0AA-773C5D32606E}"/>
              </a:ext>
            </a:extLst>
          </p:cNvPr>
          <p:cNvSpPr/>
          <p:nvPr/>
        </p:nvSpPr>
        <p:spPr>
          <a:xfrm>
            <a:off x="1143000" y="1550603"/>
            <a:ext cx="15108555" cy="1753902"/>
          </a:xfrm>
          <a:prstGeom prst="rect">
            <a:avLst/>
          </a:prstGeom>
          <a:noFill/>
          <a:ln/>
        </p:spPr>
        <p:txBody>
          <a:bodyPr wrap="square" lIns="25400" tIns="25400" rIns="25400" bIns="25400" rtlCol="0" anchor="t">
            <a:normAutofit/>
          </a:bodyPr>
          <a:lstStyle/>
          <a:p>
            <a:pPr marL="0" indent="0" algn="l">
              <a:lnSpc>
                <a:spcPct val="102000"/>
              </a:lnSpc>
              <a:buNone/>
            </a:pPr>
            <a:r>
              <a:rPr lang="en-US" sz="6600" i="1" kern="0" spc="-119" dirty="0">
                <a:solidFill>
                  <a:srgbClr val="1A1813"/>
                </a:solidFill>
                <a:latin typeface="Georgia" pitchFamily="34" charset="0"/>
                <a:ea typeface="Georgia" pitchFamily="34" charset="-122"/>
                <a:cs typeface="Georgia" pitchFamily="34" charset="-120"/>
              </a:rPr>
              <a:t>Some Metadata an Agent needs</a:t>
            </a:r>
            <a:r>
              <a:rPr lang="en-US" sz="6600" i="1" kern="0" spc="-119" dirty="0">
                <a:solidFill>
                  <a:srgbClr val="000000"/>
                </a:solidFill>
                <a:latin typeface="Georgia" pitchFamily="34" charset="0"/>
                <a:ea typeface="Georgia" pitchFamily="34" charset="-122"/>
                <a:cs typeface="Georgia" pitchFamily="34" charset="-120"/>
              </a:rPr>
              <a:t>.</a:t>
            </a:r>
            <a:endParaRPr lang="en-US" sz="6600" dirty="0"/>
          </a:p>
        </p:txBody>
      </p:sp>
      <p:sp>
        <p:nvSpPr>
          <p:cNvPr id="24" name="Text 22">
            <a:extLst>
              <a:ext uri="{FF2B5EF4-FFF2-40B4-BE49-F238E27FC236}">
                <a16:creationId xmlns:a16="http://schemas.microsoft.com/office/drawing/2014/main" id="{3E325856-8A43-2822-9045-F7254921C689}"/>
              </a:ext>
            </a:extLst>
          </p:cNvPr>
          <p:cNvSpPr/>
          <p:nvPr/>
        </p:nvSpPr>
        <p:spPr>
          <a:xfrm>
            <a:off x="1600181" y="5526081"/>
            <a:ext cx="14245228" cy="470911"/>
          </a:xfrm>
          <a:prstGeom prst="rect">
            <a:avLst/>
          </a:prstGeom>
          <a:noFill/>
          <a:ln/>
        </p:spPr>
        <p:txBody>
          <a:bodyPr wrap="square" lIns="25400" tIns="25400" rIns="25400" bIns="25400" rtlCol="0" anchor="t">
            <a:normAutofit fontScale="92500" lnSpcReduction="10000"/>
          </a:bodyPr>
          <a:lstStyle/>
          <a:p>
            <a:pPr>
              <a:lnSpc>
                <a:spcPct val="142000"/>
              </a:lnSpc>
            </a:pPr>
            <a:r>
              <a:rPr lang="en-US" sz="2400" dirty="0">
                <a:solidFill>
                  <a:srgbClr val="1A1813"/>
                </a:solidFill>
                <a:latin typeface="Arial" pitchFamily="34" charset="0"/>
                <a:ea typeface="Arial" pitchFamily="34" charset="-122"/>
                <a:cs typeface="Arial" pitchFamily="34" charset="-120"/>
              </a:rPr>
              <a:t>Agent needs proof that the data is owned, maintained, recent and unchanged</a:t>
            </a:r>
            <a:endParaRPr lang="en-US" sz="2400" dirty="0"/>
          </a:p>
        </p:txBody>
      </p:sp>
      <p:sp>
        <p:nvSpPr>
          <p:cNvPr id="25" name="Text 23">
            <a:extLst>
              <a:ext uri="{FF2B5EF4-FFF2-40B4-BE49-F238E27FC236}">
                <a16:creationId xmlns:a16="http://schemas.microsoft.com/office/drawing/2014/main" id="{7A3F456B-F094-BFB2-723A-A03AA303DAF0}"/>
              </a:ext>
            </a:extLst>
          </p:cNvPr>
          <p:cNvSpPr/>
          <p:nvPr/>
        </p:nvSpPr>
        <p:spPr>
          <a:xfrm>
            <a:off x="1600181" y="6187436"/>
            <a:ext cx="14245228" cy="470911"/>
          </a:xfrm>
          <a:prstGeom prst="rect">
            <a:avLst/>
          </a:prstGeom>
          <a:noFill/>
          <a:ln/>
        </p:spPr>
        <p:txBody>
          <a:bodyPr wrap="square" lIns="25400" tIns="25400" rIns="25400" bIns="25400" rtlCol="0" anchor="t">
            <a:normAutofit fontScale="92500" lnSpcReduction="10000"/>
          </a:bodyPr>
          <a:lstStyle/>
          <a:p>
            <a:pPr>
              <a:lnSpc>
                <a:spcPct val="142000"/>
              </a:lnSpc>
            </a:pPr>
            <a:r>
              <a:rPr lang="en-US" sz="2400" dirty="0">
                <a:solidFill>
                  <a:srgbClr val="1A1813"/>
                </a:solidFill>
                <a:latin typeface="Arial" pitchFamily="34" charset="0"/>
                <a:ea typeface="Arial" pitchFamily="34" charset="-122"/>
                <a:cs typeface="Arial" pitchFamily="34" charset="-120"/>
              </a:rPr>
              <a:t>Humans do not need this information on the screen - but can discover it.</a:t>
            </a:r>
            <a:endParaRPr lang="en-US" sz="2400" dirty="0"/>
          </a:p>
        </p:txBody>
      </p:sp>
      <p:sp>
        <p:nvSpPr>
          <p:cNvPr id="26" name="Shape 24">
            <a:extLst>
              <a:ext uri="{FF2B5EF4-FFF2-40B4-BE49-F238E27FC236}">
                <a16:creationId xmlns:a16="http://schemas.microsoft.com/office/drawing/2014/main" id="{34EEAE96-21E1-ED64-7918-1D8EE403AF42}"/>
              </a:ext>
            </a:extLst>
          </p:cNvPr>
          <p:cNvSpPr/>
          <p:nvPr/>
        </p:nvSpPr>
        <p:spPr>
          <a:xfrm>
            <a:off x="1143000" y="7153610"/>
            <a:ext cx="14763750" cy="9525"/>
          </a:xfrm>
          <a:prstGeom prst="rect">
            <a:avLst/>
          </a:prstGeom>
          <a:solidFill>
            <a:srgbClr val="1A1813">
              <a:alpha val="13000"/>
            </a:srgbClr>
          </a:solidFill>
          <a:ln/>
        </p:spPr>
        <p:txBody>
          <a:bodyPr/>
          <a:lstStyle/>
          <a:p>
            <a:endParaRPr lang="en-GB"/>
          </a:p>
        </p:txBody>
      </p:sp>
      <p:sp>
        <p:nvSpPr>
          <p:cNvPr id="27" name="Text 25">
            <a:extLst>
              <a:ext uri="{FF2B5EF4-FFF2-40B4-BE49-F238E27FC236}">
                <a16:creationId xmlns:a16="http://schemas.microsoft.com/office/drawing/2014/main" id="{5BFF8E75-6150-A2F6-03D7-8C2E0798AC4B}"/>
              </a:ext>
            </a:extLst>
          </p:cNvPr>
          <p:cNvSpPr/>
          <p:nvPr/>
        </p:nvSpPr>
        <p:spPr>
          <a:xfrm>
            <a:off x="1143000" y="7464363"/>
            <a:ext cx="15206662" cy="1085776"/>
          </a:xfrm>
          <a:prstGeom prst="rect">
            <a:avLst/>
          </a:prstGeom>
          <a:noFill/>
          <a:ln/>
        </p:spPr>
        <p:txBody>
          <a:bodyPr wrap="square" lIns="25400" tIns="25400" rIns="25400" bIns="25400" rtlCol="0" anchor="t">
            <a:normAutofit fontScale="92500" lnSpcReduction="20000"/>
          </a:bodyPr>
          <a:lstStyle/>
          <a:p>
            <a:pPr>
              <a:lnSpc>
                <a:spcPct val="125000"/>
              </a:lnSpc>
            </a:pPr>
            <a:r>
              <a:rPr lang="en-US" sz="3300" i="1" dirty="0">
                <a:solidFill>
                  <a:srgbClr val="1A1813"/>
                </a:solidFill>
                <a:latin typeface="Georgia" pitchFamily="34" charset="0"/>
                <a:ea typeface="Georgia" pitchFamily="34" charset="-122"/>
                <a:cs typeface="Georgia" pitchFamily="34" charset="-120"/>
              </a:rPr>
              <a:t>A standards body needs to create this away from Vendors, we do not want to repeat the 1995 Web – Build for Netscape, Microsoft, Firefox all at once</a:t>
            </a:r>
            <a:endParaRPr lang="en-US" sz="3300" dirty="0"/>
          </a:p>
        </p:txBody>
      </p:sp>
      <p:sp>
        <p:nvSpPr>
          <p:cNvPr id="28" name="Shape 26">
            <a:extLst>
              <a:ext uri="{FF2B5EF4-FFF2-40B4-BE49-F238E27FC236}">
                <a16:creationId xmlns:a16="http://schemas.microsoft.com/office/drawing/2014/main" id="{16583C11-43F0-DB20-B438-7EAA20761595}"/>
              </a:ext>
            </a:extLst>
          </p:cNvPr>
          <p:cNvSpPr/>
          <p:nvPr/>
        </p:nvSpPr>
        <p:spPr>
          <a:xfrm>
            <a:off x="1143000" y="8893039"/>
            <a:ext cx="16002000" cy="9525"/>
          </a:xfrm>
          <a:prstGeom prst="rect">
            <a:avLst/>
          </a:prstGeom>
          <a:solidFill>
            <a:srgbClr val="1A1813">
              <a:alpha val="13000"/>
            </a:srgbClr>
          </a:solidFill>
          <a:ln/>
        </p:spPr>
        <p:txBody>
          <a:bodyPr/>
          <a:lstStyle/>
          <a:p>
            <a:endParaRPr lang="en-GB"/>
          </a:p>
        </p:txBody>
      </p:sp>
      <p:sp>
        <p:nvSpPr>
          <p:cNvPr id="29" name="Text 27">
            <a:extLst>
              <a:ext uri="{FF2B5EF4-FFF2-40B4-BE49-F238E27FC236}">
                <a16:creationId xmlns:a16="http://schemas.microsoft.com/office/drawing/2014/main" id="{FED9A853-FF70-08B0-031F-5E74D70D8111}"/>
              </a:ext>
            </a:extLst>
          </p:cNvPr>
          <p:cNvSpPr/>
          <p:nvPr/>
        </p:nvSpPr>
        <p:spPr>
          <a:xfrm>
            <a:off x="1143000" y="9165673"/>
            <a:ext cx="3516732"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60" dirty="0">
                <a:solidFill>
                  <a:srgbClr val="7A7466"/>
                </a:solidFill>
                <a:latin typeface="Courier New" pitchFamily="34" charset="0"/>
                <a:ea typeface="Courier New" pitchFamily="34" charset="-122"/>
                <a:cs typeface="Courier New" pitchFamily="34" charset="-120"/>
              </a:rPr>
              <a:t>TOM CRANSTOUN · TG.COMMUNITY</a:t>
            </a:r>
            <a:endParaRPr lang="en-US" sz="1500" dirty="0"/>
          </a:p>
        </p:txBody>
      </p:sp>
      <p:sp>
        <p:nvSpPr>
          <p:cNvPr id="30" name="Text 28">
            <a:extLst>
              <a:ext uri="{FF2B5EF4-FFF2-40B4-BE49-F238E27FC236}">
                <a16:creationId xmlns:a16="http://schemas.microsoft.com/office/drawing/2014/main" id="{BA55BE84-BFF4-3241-6E05-EF2B57E4E433}"/>
              </a:ext>
            </a:extLst>
          </p:cNvPr>
          <p:cNvSpPr/>
          <p:nvPr/>
        </p:nvSpPr>
        <p:spPr>
          <a:xfrm>
            <a:off x="16901108" y="9165673"/>
            <a:ext cx="320092"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60" dirty="0">
                <a:solidFill>
                  <a:srgbClr val="7A7466"/>
                </a:solidFill>
                <a:latin typeface="Courier New" pitchFamily="34" charset="0"/>
                <a:ea typeface="Courier New" pitchFamily="34" charset="-122"/>
                <a:cs typeface="Courier New" pitchFamily="34" charset="-120"/>
              </a:rPr>
              <a:t>06</a:t>
            </a:r>
            <a:endParaRPr lang="en-US" sz="1500" dirty="0"/>
          </a:p>
        </p:txBody>
      </p:sp>
      <p:sp>
        <p:nvSpPr>
          <p:cNvPr id="32" name="TextBox 31">
            <a:extLst>
              <a:ext uri="{FF2B5EF4-FFF2-40B4-BE49-F238E27FC236}">
                <a16:creationId xmlns:a16="http://schemas.microsoft.com/office/drawing/2014/main" id="{B67F78D0-23D2-B8B5-B43F-3B1818A6A4B7}"/>
              </a:ext>
            </a:extLst>
          </p:cNvPr>
          <p:cNvSpPr txBox="1"/>
          <p:nvPr/>
        </p:nvSpPr>
        <p:spPr>
          <a:xfrm>
            <a:off x="1600181" y="2998033"/>
            <a:ext cx="10122127" cy="2585323"/>
          </a:xfrm>
          <a:prstGeom prst="rect">
            <a:avLst/>
          </a:prstGeom>
          <a:noFill/>
        </p:spPr>
        <p:txBody>
          <a:bodyPr wrap="square" rtlCol="0">
            <a:spAutoFit/>
          </a:bodyPr>
          <a:lstStyle/>
          <a:p>
            <a:r>
              <a:rPr lang="en-GB" dirty="0"/>
              <a:t>Author:</a:t>
            </a:r>
          </a:p>
          <a:p>
            <a:r>
              <a:rPr lang="en-GB" dirty="0"/>
              <a:t>Maintainer:</a:t>
            </a:r>
          </a:p>
          <a:p>
            <a:r>
              <a:rPr lang="en-GB" dirty="0"/>
              <a:t>Creation Date:</a:t>
            </a:r>
          </a:p>
          <a:p>
            <a:r>
              <a:rPr lang="en-GB" dirty="0"/>
              <a:t>Status:</a:t>
            </a:r>
          </a:p>
          <a:p>
            <a:r>
              <a:rPr lang="en-GB" dirty="0"/>
              <a:t>Usage:</a:t>
            </a:r>
          </a:p>
          <a:p>
            <a:r>
              <a:rPr lang="en-GB" dirty="0"/>
              <a:t>AI training allowed:</a:t>
            </a:r>
          </a:p>
          <a:p>
            <a:r>
              <a:rPr lang="en-GB" dirty="0"/>
              <a:t>Modification History:</a:t>
            </a:r>
          </a:p>
          <a:p>
            <a:r>
              <a:rPr lang="en-GB" dirty="0"/>
              <a:t>Provenance:</a:t>
            </a:r>
          </a:p>
          <a:p>
            <a:r>
              <a:rPr lang="en-GB" dirty="0"/>
              <a:t>Electronic signature:</a:t>
            </a:r>
          </a:p>
        </p:txBody>
      </p:sp>
    </p:spTree>
    <p:extLst>
      <p:ext uri="{BB962C8B-B14F-4D97-AF65-F5344CB8AC3E}">
        <p14:creationId xmlns:p14="http://schemas.microsoft.com/office/powerpoint/2010/main" val="282020447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3EFE7"/>
        </a:solidFill>
        <a:effectLst/>
      </p:bgPr>
    </p:bg>
    <p:spTree>
      <p:nvGrpSpPr>
        <p:cNvPr id="1" name=""/>
        <p:cNvGrpSpPr/>
        <p:nvPr/>
      </p:nvGrpSpPr>
      <p:grpSpPr>
        <a:xfrm>
          <a:off x="0" y="0"/>
          <a:ext cx="0" cy="0"/>
          <a:chOff x="0" y="0"/>
          <a:chExt cx="0" cy="0"/>
        </a:xfrm>
      </p:grpSpPr>
      <p:sp>
        <p:nvSpPr>
          <p:cNvPr id="2" name="Text 0"/>
          <p:cNvSpPr/>
          <p:nvPr/>
        </p:nvSpPr>
        <p:spPr>
          <a:xfrm>
            <a:off x="1352476" y="398859"/>
            <a:ext cx="2339690" cy="258366"/>
          </a:xfrm>
          <a:prstGeom prst="rect">
            <a:avLst/>
          </a:prstGeom>
          <a:noFill/>
          <a:ln/>
        </p:spPr>
        <p:txBody>
          <a:bodyPr wrap="square" lIns="0" tIns="0" rIns="0" bIns="0" rtlCol="0" anchor="t">
            <a:normAutofit fontScale="92500" lnSpcReduction="20000"/>
          </a:bodyPr>
          <a:lstStyle/>
          <a:p>
            <a:pPr marL="0" indent="0" algn="l">
              <a:lnSpc>
                <a:spcPct val="140000"/>
              </a:lnSpc>
              <a:buNone/>
            </a:pPr>
            <a:r>
              <a:rPr lang="en-US" sz="1500" kern="0" spc="90" dirty="0">
                <a:solidFill>
                  <a:srgbClr val="7A7466"/>
                </a:solidFill>
                <a:latin typeface="Courier New" pitchFamily="34" charset="0"/>
                <a:ea typeface="Courier New" pitchFamily="34" charset="-122"/>
                <a:cs typeface="Courier New" pitchFamily="34" charset="-120"/>
              </a:rPr>
              <a:t>PART TWO · THE GAP</a:t>
            </a:r>
            <a:endParaRPr lang="en-US" sz="1500" dirty="0"/>
          </a:p>
        </p:txBody>
      </p:sp>
      <p:sp>
        <p:nvSpPr>
          <p:cNvPr id="3" name="Text 1"/>
          <p:cNvSpPr/>
          <p:nvPr/>
        </p:nvSpPr>
        <p:spPr>
          <a:xfrm>
            <a:off x="12183721" y="381000"/>
            <a:ext cx="3367559"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7A7466"/>
                </a:solidFill>
                <a:latin typeface="Courier New" pitchFamily="34" charset="0"/>
                <a:ea typeface="Courier New" pitchFamily="34" charset="-122"/>
                <a:cs typeface="Courier New" pitchFamily="34" charset="-120"/>
              </a:rPr>
              <a:t>THE WEB HAS A NEW AUDIENCE</a:t>
            </a:r>
            <a:endParaRPr lang="en-US" sz="1500" dirty="0"/>
          </a:p>
        </p:txBody>
      </p:sp>
      <p:sp>
        <p:nvSpPr>
          <p:cNvPr id="4" name="Text 2"/>
          <p:cNvSpPr/>
          <p:nvPr/>
        </p:nvSpPr>
        <p:spPr>
          <a:xfrm>
            <a:off x="15796059" y="381000"/>
            <a:ext cx="201960"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1A1813">
                    <a:alpha val="7000"/>
                  </a:srgbClr>
                </a:solidFill>
                <a:latin typeface="Courier New" pitchFamily="34" charset="0"/>
                <a:ea typeface="Courier New" pitchFamily="34" charset="-122"/>
                <a:cs typeface="Courier New" pitchFamily="34" charset="-120"/>
              </a:rPr>
              <a:t>·</a:t>
            </a:r>
            <a:endParaRPr lang="en-US" sz="1500" dirty="0"/>
          </a:p>
        </p:txBody>
      </p:sp>
      <p:sp>
        <p:nvSpPr>
          <p:cNvPr id="5" name="Text 3"/>
          <p:cNvSpPr/>
          <p:nvPr/>
        </p:nvSpPr>
        <p:spPr>
          <a:xfrm>
            <a:off x="16264682" y="381000"/>
            <a:ext cx="956518"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7A7466"/>
                </a:solidFill>
                <a:latin typeface="Courier New" pitchFamily="34" charset="0"/>
                <a:ea typeface="Courier New" pitchFamily="34" charset="-122"/>
                <a:cs typeface="Courier New" pitchFamily="34" charset="-120"/>
              </a:rPr>
              <a:t>07 / 11</a:t>
            </a:r>
            <a:endParaRPr lang="en-US" sz="1500" dirty="0"/>
          </a:p>
        </p:txBody>
      </p:sp>
      <p:sp>
        <p:nvSpPr>
          <p:cNvPr id="6" name="Text 4"/>
          <p:cNvSpPr/>
          <p:nvPr/>
        </p:nvSpPr>
        <p:spPr>
          <a:xfrm>
            <a:off x="1143000" y="914363"/>
            <a:ext cx="16482060" cy="331477"/>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650" kern="0" spc="330" dirty="0">
                <a:solidFill>
                  <a:srgbClr val="000000"/>
                </a:solidFill>
                <a:latin typeface="Courier New" pitchFamily="34" charset="0"/>
                <a:ea typeface="Courier New" pitchFamily="34" charset="-122"/>
                <a:cs typeface="Courier New" pitchFamily="34" charset="-120"/>
              </a:rPr>
              <a:t>THE PRINCIPLE</a:t>
            </a:r>
            <a:endParaRPr lang="en-US" sz="1650" dirty="0"/>
          </a:p>
        </p:txBody>
      </p:sp>
      <p:sp>
        <p:nvSpPr>
          <p:cNvPr id="7" name="Text 5"/>
          <p:cNvSpPr/>
          <p:nvPr/>
        </p:nvSpPr>
        <p:spPr>
          <a:xfrm>
            <a:off x="1143000" y="1550603"/>
            <a:ext cx="15108555" cy="1753902"/>
          </a:xfrm>
          <a:prstGeom prst="rect">
            <a:avLst/>
          </a:prstGeom>
          <a:noFill/>
          <a:ln/>
        </p:spPr>
        <p:txBody>
          <a:bodyPr wrap="square" lIns="25400" tIns="25400" rIns="25400" bIns="25400" rtlCol="0" anchor="t">
            <a:normAutofit fontScale="92500" lnSpcReduction="20000"/>
          </a:bodyPr>
          <a:lstStyle/>
          <a:p>
            <a:pPr marL="0" indent="0" algn="l">
              <a:lnSpc>
                <a:spcPct val="102000"/>
              </a:lnSpc>
              <a:buNone/>
            </a:pPr>
            <a:r>
              <a:rPr lang="en-US" sz="6600" kern="0" spc="-119" dirty="0">
                <a:solidFill>
                  <a:srgbClr val="1A1813"/>
                </a:solidFill>
                <a:latin typeface="Georgia" pitchFamily="34" charset="0"/>
                <a:ea typeface="Georgia" pitchFamily="34" charset="-122"/>
                <a:cs typeface="Georgia" pitchFamily="34" charset="-120"/>
              </a:rPr>
              <a:t>HTML example with explicit structure and v</a:t>
            </a:r>
            <a:r>
              <a:rPr lang="en-US" sz="6600" i="1" kern="0" spc="-119" dirty="0">
                <a:solidFill>
                  <a:srgbClr val="000000"/>
                </a:solidFill>
                <a:latin typeface="Georgia" pitchFamily="34" charset="0"/>
                <a:ea typeface="Georgia" pitchFamily="34" charset="-122"/>
                <a:cs typeface="Georgia" pitchFamily="34" charset="-120"/>
              </a:rPr>
              <a:t>erifiable claims.</a:t>
            </a:r>
            <a:endParaRPr lang="en-US" sz="6600" dirty="0"/>
          </a:p>
        </p:txBody>
      </p:sp>
      <p:sp>
        <p:nvSpPr>
          <p:cNvPr id="8" name="Shape 6"/>
          <p:cNvSpPr/>
          <p:nvPr/>
        </p:nvSpPr>
        <p:spPr>
          <a:xfrm>
            <a:off x="1277088" y="3336164"/>
            <a:ext cx="7734319" cy="5287225"/>
          </a:xfrm>
          <a:prstGeom prst="rect">
            <a:avLst/>
          </a:prstGeom>
          <a:solidFill>
            <a:srgbClr val="FAF6ED"/>
          </a:solidFill>
          <a:ln w="5953">
            <a:solidFill>
              <a:srgbClr val="1A1813">
                <a:alpha val="13000"/>
              </a:srgbClr>
            </a:solidFill>
            <a:prstDash val="solid"/>
          </a:ln>
        </p:spPr>
        <p:txBody>
          <a:bodyPr/>
          <a:lstStyle/>
          <a:p>
            <a:endParaRPr lang="en-GB"/>
          </a:p>
        </p:txBody>
      </p:sp>
      <p:sp>
        <p:nvSpPr>
          <p:cNvPr id="9" name="Text 7"/>
          <p:cNvSpPr/>
          <p:nvPr/>
        </p:nvSpPr>
        <p:spPr>
          <a:xfrm>
            <a:off x="1277088" y="3036029"/>
            <a:ext cx="7247787" cy="278085"/>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350" kern="0" spc="216" dirty="0">
                <a:solidFill>
                  <a:srgbClr val="000000"/>
                </a:solidFill>
                <a:latin typeface="Courier New" pitchFamily="34" charset="0"/>
                <a:ea typeface="Courier New" pitchFamily="34" charset="-122"/>
                <a:cs typeface="Courier New" pitchFamily="34" charset="-120"/>
              </a:rPr>
              <a:t>FOR THE HUMAN</a:t>
            </a:r>
            <a:endParaRPr lang="en-US" sz="1350" dirty="0"/>
          </a:p>
        </p:txBody>
      </p:sp>
      <p:sp>
        <p:nvSpPr>
          <p:cNvPr id="10" name="Text 8"/>
          <p:cNvSpPr/>
          <p:nvPr/>
        </p:nvSpPr>
        <p:spPr>
          <a:xfrm>
            <a:off x="1491816" y="4407545"/>
            <a:ext cx="7247787" cy="943347"/>
          </a:xfrm>
          <a:prstGeom prst="rect">
            <a:avLst/>
          </a:prstGeom>
          <a:noFill/>
          <a:ln/>
        </p:spPr>
        <p:txBody>
          <a:bodyPr wrap="square" lIns="25400" tIns="25400" rIns="25400" bIns="25400" rtlCol="0" anchor="t">
            <a:normAutofit/>
          </a:bodyPr>
          <a:lstStyle/>
          <a:p>
            <a:pPr marL="0" indent="0" algn="l">
              <a:lnSpc>
                <a:spcPct val="108000"/>
              </a:lnSpc>
              <a:buNone/>
            </a:pPr>
            <a:r>
              <a:rPr lang="en-US" sz="3300" kern="0" spc="-40" dirty="0">
                <a:solidFill>
                  <a:srgbClr val="1A1813"/>
                </a:solidFill>
                <a:latin typeface="Georgia" pitchFamily="34" charset="0"/>
                <a:ea typeface="Georgia" pitchFamily="34" charset="-122"/>
                <a:cs typeface="Georgia" pitchFamily="34" charset="-120"/>
              </a:rPr>
              <a:t>New Frankfurt route opens this autumn</a:t>
            </a:r>
            <a:endParaRPr lang="en-US" sz="3300" dirty="0"/>
          </a:p>
        </p:txBody>
      </p:sp>
      <p:sp>
        <p:nvSpPr>
          <p:cNvPr id="11" name="Text 9"/>
          <p:cNvSpPr/>
          <p:nvPr/>
        </p:nvSpPr>
        <p:spPr>
          <a:xfrm>
            <a:off x="1491816" y="5484223"/>
            <a:ext cx="7247787" cy="645691"/>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1650" dirty="0">
                <a:solidFill>
                  <a:srgbClr val="4B463A"/>
                </a:solidFill>
                <a:latin typeface="Arial" pitchFamily="34" charset="0"/>
                <a:ea typeface="Arial" pitchFamily="34" charset="-122"/>
                <a:cs typeface="Arial" pitchFamily="34" charset="-120"/>
              </a:rPr>
              <a:t>Direct service from October 19, weekdays only. Standard fare applies; advance booking refundable up to 24h before departure.</a:t>
            </a:r>
            <a:endParaRPr lang="en-US" sz="1650" dirty="0"/>
          </a:p>
        </p:txBody>
      </p:sp>
      <p:sp>
        <p:nvSpPr>
          <p:cNvPr id="12" name="Text 10"/>
          <p:cNvSpPr/>
          <p:nvPr/>
        </p:nvSpPr>
        <p:spPr>
          <a:xfrm>
            <a:off x="1491816" y="6263246"/>
            <a:ext cx="7247787" cy="491468"/>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550" dirty="0">
                <a:solidFill>
                  <a:srgbClr val="1A1813"/>
                </a:solidFill>
                <a:latin typeface="Georgia" pitchFamily="34" charset="0"/>
                <a:ea typeface="Georgia" pitchFamily="34" charset="-122"/>
                <a:cs typeface="Georgia" pitchFamily="34" charset="-120"/>
              </a:rPr>
              <a:t>€ 89,00 — standard, one-way</a:t>
            </a:r>
            <a:endParaRPr lang="en-US" sz="2550" dirty="0"/>
          </a:p>
        </p:txBody>
      </p:sp>
      <p:sp>
        <p:nvSpPr>
          <p:cNvPr id="18" name="Text 16"/>
          <p:cNvSpPr/>
          <p:nvPr/>
        </p:nvSpPr>
        <p:spPr>
          <a:xfrm>
            <a:off x="9759497" y="5744487"/>
            <a:ext cx="7247787" cy="303758"/>
          </a:xfrm>
          <a:prstGeom prst="rect">
            <a:avLst/>
          </a:prstGeom>
          <a:noFill/>
          <a:ln/>
        </p:spPr>
        <p:txBody>
          <a:bodyPr wrap="square" lIns="25400" tIns="25400" rIns="25400" bIns="25400" rtlCol="0" anchor="t">
            <a:normAutofit fontScale="92500"/>
          </a:bodyPr>
          <a:lstStyle/>
          <a:p>
            <a:pPr marL="0" indent="0" algn="l">
              <a:lnSpc>
                <a:spcPct val="155000"/>
              </a:lnSpc>
              <a:buNone/>
            </a:pPr>
            <a:endParaRPr lang="en-US" sz="1350" dirty="0"/>
          </a:p>
        </p:txBody>
      </p:sp>
      <p:sp>
        <p:nvSpPr>
          <p:cNvPr id="19" name="Text 17"/>
          <p:cNvSpPr/>
          <p:nvPr/>
        </p:nvSpPr>
        <p:spPr>
          <a:xfrm>
            <a:off x="9759497" y="6181576"/>
            <a:ext cx="7247787" cy="303758"/>
          </a:xfrm>
          <a:prstGeom prst="rect">
            <a:avLst/>
          </a:prstGeom>
          <a:noFill/>
          <a:ln/>
        </p:spPr>
        <p:txBody>
          <a:bodyPr wrap="square" lIns="25400" tIns="25400" rIns="25400" bIns="25400" rtlCol="0" anchor="t">
            <a:normAutofit fontScale="92500" lnSpcReduction="10000"/>
          </a:bodyPr>
          <a:lstStyle/>
          <a:p>
            <a:pPr marL="0" indent="0" algn="l">
              <a:lnSpc>
                <a:spcPct val="155000"/>
              </a:lnSpc>
              <a:buNone/>
            </a:pPr>
            <a:r>
              <a:rPr lang="en-US" sz="1350" dirty="0">
                <a:solidFill>
                  <a:srgbClr val="7A7466"/>
                </a:solidFill>
                <a:latin typeface="Courier New" pitchFamily="34" charset="0"/>
                <a:ea typeface="Courier New" pitchFamily="34" charset="-122"/>
                <a:cs typeface="Courier New" pitchFamily="34" charset="-120"/>
              </a:rPr>
              <a:t>&gt;</a:t>
            </a:r>
            <a:endParaRPr lang="en-US" sz="1350" dirty="0"/>
          </a:p>
        </p:txBody>
      </p:sp>
      <p:sp>
        <p:nvSpPr>
          <p:cNvPr id="26" name="Text 24"/>
          <p:cNvSpPr/>
          <p:nvPr/>
        </p:nvSpPr>
        <p:spPr>
          <a:xfrm>
            <a:off x="9759497" y="9241203"/>
            <a:ext cx="7247787" cy="303758"/>
          </a:xfrm>
          <a:prstGeom prst="rect">
            <a:avLst/>
          </a:prstGeom>
          <a:noFill/>
          <a:ln/>
        </p:spPr>
        <p:txBody>
          <a:bodyPr wrap="square" lIns="25400" tIns="25400" rIns="25400" bIns="25400" rtlCol="0" anchor="t">
            <a:normAutofit fontScale="92500" lnSpcReduction="10000"/>
          </a:bodyPr>
          <a:lstStyle/>
          <a:p>
            <a:pPr marL="0" indent="0" algn="l">
              <a:lnSpc>
                <a:spcPct val="155000"/>
              </a:lnSpc>
              <a:buNone/>
            </a:pPr>
            <a:r>
              <a:rPr lang="en-US" sz="1350" dirty="0">
                <a:solidFill>
                  <a:srgbClr val="7A7466"/>
                </a:solidFill>
                <a:latin typeface="Courier New" pitchFamily="34" charset="0"/>
                <a:ea typeface="Courier New" pitchFamily="34" charset="-122"/>
                <a:cs typeface="Courier New" pitchFamily="34" charset="-120"/>
              </a:rPr>
              <a:t>/&gt;</a:t>
            </a:r>
            <a:endParaRPr lang="en-US" sz="1350" dirty="0"/>
          </a:p>
        </p:txBody>
      </p:sp>
      <p:sp>
        <p:nvSpPr>
          <p:cNvPr id="32" name="Text 30"/>
          <p:cNvSpPr/>
          <p:nvPr/>
        </p:nvSpPr>
        <p:spPr>
          <a:xfrm>
            <a:off x="9759497" y="11863741"/>
            <a:ext cx="7247787" cy="303758"/>
          </a:xfrm>
          <a:prstGeom prst="rect">
            <a:avLst/>
          </a:prstGeom>
          <a:noFill/>
          <a:ln/>
        </p:spPr>
        <p:txBody>
          <a:bodyPr wrap="square" lIns="25400" tIns="25400" rIns="25400" bIns="25400" rtlCol="0" anchor="t">
            <a:normAutofit fontScale="92500" lnSpcReduction="10000"/>
          </a:bodyPr>
          <a:lstStyle/>
          <a:p>
            <a:pPr marL="0" indent="0" algn="l">
              <a:lnSpc>
                <a:spcPct val="155000"/>
              </a:lnSpc>
              <a:buNone/>
            </a:pPr>
            <a:r>
              <a:rPr lang="en-US" sz="1350" dirty="0">
                <a:solidFill>
                  <a:srgbClr val="1A1813"/>
                </a:solidFill>
                <a:latin typeface="Courier New" pitchFamily="34" charset="0"/>
                <a:ea typeface="Courier New" pitchFamily="34" charset="-122"/>
                <a:cs typeface="Courier New" pitchFamily="34" charset="-120"/>
              </a:rPr>
              <a:t>"89.0"</a:t>
            </a:r>
            <a:endParaRPr lang="en-US" sz="1350" dirty="0"/>
          </a:p>
        </p:txBody>
      </p:sp>
      <p:sp>
        <p:nvSpPr>
          <p:cNvPr id="36" name="Text 34"/>
          <p:cNvSpPr/>
          <p:nvPr/>
        </p:nvSpPr>
        <p:spPr>
          <a:xfrm>
            <a:off x="9759497" y="13612099"/>
            <a:ext cx="7247787" cy="303758"/>
          </a:xfrm>
          <a:prstGeom prst="rect">
            <a:avLst/>
          </a:prstGeom>
          <a:noFill/>
          <a:ln/>
        </p:spPr>
        <p:txBody>
          <a:bodyPr wrap="square" lIns="25400" tIns="25400" rIns="25400" bIns="25400" rtlCol="0" anchor="t">
            <a:normAutofit fontScale="92500" lnSpcReduction="10000"/>
          </a:bodyPr>
          <a:lstStyle/>
          <a:p>
            <a:pPr marL="0" indent="0" algn="l">
              <a:lnSpc>
                <a:spcPct val="155000"/>
              </a:lnSpc>
              <a:buNone/>
            </a:pPr>
            <a:r>
              <a:rPr lang="en-US" sz="1350" dirty="0">
                <a:solidFill>
                  <a:srgbClr val="1A1813"/>
                </a:solidFill>
                <a:latin typeface="Courier New" pitchFamily="34" charset="0"/>
                <a:ea typeface="Courier New" pitchFamily="34" charset="-122"/>
                <a:cs typeface="Courier New" pitchFamily="34" charset="-120"/>
              </a:rPr>
              <a:t>"star"</a:t>
            </a:r>
            <a:endParaRPr lang="en-US" sz="1350" dirty="0"/>
          </a:p>
        </p:txBody>
      </p:sp>
      <p:sp>
        <p:nvSpPr>
          <p:cNvPr id="47" name="Shape 45"/>
          <p:cNvSpPr/>
          <p:nvPr/>
        </p:nvSpPr>
        <p:spPr>
          <a:xfrm>
            <a:off x="1143000" y="19016514"/>
            <a:ext cx="14763750" cy="9525"/>
          </a:xfrm>
          <a:prstGeom prst="rect">
            <a:avLst/>
          </a:prstGeom>
          <a:solidFill>
            <a:srgbClr val="1A1813">
              <a:alpha val="13000"/>
            </a:srgbClr>
          </a:solidFill>
          <a:ln/>
        </p:spPr>
        <p:txBody>
          <a:bodyPr/>
          <a:lstStyle/>
          <a:p>
            <a:endParaRPr lang="en-GB"/>
          </a:p>
        </p:txBody>
      </p:sp>
      <p:sp>
        <p:nvSpPr>
          <p:cNvPr id="49" name="Shape 47"/>
          <p:cNvSpPr/>
          <p:nvPr/>
        </p:nvSpPr>
        <p:spPr>
          <a:xfrm>
            <a:off x="1143000" y="20232067"/>
            <a:ext cx="16002000" cy="9525"/>
          </a:xfrm>
          <a:prstGeom prst="rect">
            <a:avLst/>
          </a:prstGeom>
          <a:solidFill>
            <a:srgbClr val="1A1813">
              <a:alpha val="13000"/>
            </a:srgbClr>
          </a:solidFill>
          <a:ln/>
        </p:spPr>
        <p:txBody>
          <a:bodyPr/>
          <a:lstStyle/>
          <a:p>
            <a:endParaRPr lang="en-GB"/>
          </a:p>
        </p:txBody>
      </p:sp>
      <p:sp>
        <p:nvSpPr>
          <p:cNvPr id="52" name="Shape 6">
            <a:extLst>
              <a:ext uri="{FF2B5EF4-FFF2-40B4-BE49-F238E27FC236}">
                <a16:creationId xmlns:a16="http://schemas.microsoft.com/office/drawing/2014/main" id="{E0B992CE-4424-AA98-A95A-E7F49119C83C}"/>
              </a:ext>
            </a:extLst>
          </p:cNvPr>
          <p:cNvSpPr/>
          <p:nvPr/>
        </p:nvSpPr>
        <p:spPr>
          <a:xfrm>
            <a:off x="9759497" y="3363380"/>
            <a:ext cx="7734319" cy="5287226"/>
          </a:xfrm>
          <a:prstGeom prst="rect">
            <a:avLst/>
          </a:prstGeom>
          <a:solidFill>
            <a:srgbClr val="FAF6ED"/>
          </a:solidFill>
          <a:ln w="5953">
            <a:solidFill>
              <a:srgbClr val="1A1813">
                <a:alpha val="13000"/>
              </a:srgbClr>
            </a:solidFill>
            <a:prstDash val="solid"/>
          </a:ln>
        </p:spPr>
        <p:txBody>
          <a:bodyPr/>
          <a:lstStyle/>
          <a:p>
            <a:r>
              <a:rPr lang="en-US" dirty="0"/>
              <a:t>&lt;link </a:t>
            </a:r>
            <a:r>
              <a:rPr lang="en-US" dirty="0" err="1"/>
              <a:t>rel</a:t>
            </a:r>
            <a:r>
              <a:rPr lang="en-US" dirty="0"/>
              <a:t>="cog-spec” </a:t>
            </a:r>
            <a:r>
              <a:rPr lang="en-US" dirty="0" err="1"/>
              <a:t>href</a:t>
            </a:r>
            <a:r>
              <a:rPr lang="en-US" dirty="0"/>
              <a:t>="https://</a:t>
            </a:r>
            <a:r>
              <a:rPr lang="en-US" dirty="0" err="1"/>
              <a:t>mx.allabout.network</a:t>
            </a:r>
            <a:r>
              <a:rPr lang="en-US" dirty="0"/>
              <a:t>/cog-spec.v1.md"&gt;</a:t>
            </a:r>
          </a:p>
          <a:p>
            <a:r>
              <a:rPr lang="en-US" dirty="0"/>
              <a:t>&lt;article </a:t>
            </a:r>
            <a:r>
              <a:rPr lang="en-US" dirty="0" err="1"/>
              <a:t>itemscope</a:t>
            </a:r>
            <a:r>
              <a:rPr lang="en-US" dirty="0"/>
              <a:t> </a:t>
            </a:r>
            <a:r>
              <a:rPr lang="en-US" dirty="0" err="1"/>
              <a:t>itemtype</a:t>
            </a:r>
            <a:r>
              <a:rPr lang="en-US" dirty="0"/>
              <a:t>="https://schema.org/</a:t>
            </a:r>
            <a:r>
              <a:rPr lang="en-US" dirty="0" err="1"/>
              <a:t>TrainTrip</a:t>
            </a:r>
            <a:r>
              <a:rPr lang="en-US" dirty="0"/>
              <a:t>"&gt;</a:t>
            </a:r>
          </a:p>
          <a:p>
            <a:r>
              <a:rPr lang="en-US" dirty="0"/>
              <a:t>  &lt;h1 itemprop="name"&gt;New Frankfurt route&lt;/h1&gt;</a:t>
            </a:r>
          </a:p>
          <a:p>
            <a:r>
              <a:rPr lang="en-US" dirty="0"/>
              <a:t>  &lt;p itemprop="description"&gt;  Direct service, weekdays only. &lt;/p&gt;</a:t>
            </a:r>
          </a:p>
          <a:p>
            <a:r>
              <a:rPr lang="en-US" dirty="0"/>
              <a:t>  &lt;meta itemprop="</a:t>
            </a:r>
            <a:r>
              <a:rPr lang="en-US" dirty="0" err="1"/>
              <a:t>departureTime</a:t>
            </a:r>
            <a:r>
              <a:rPr lang="en-US" dirty="0"/>
              <a:t>” content="2026-10-19"&gt;</a:t>
            </a:r>
          </a:p>
          <a:p>
            <a:r>
              <a:rPr lang="en-US" dirty="0"/>
              <a:t>  &lt;div itemprop="offers" </a:t>
            </a:r>
            <a:r>
              <a:rPr lang="en-US" dirty="0" err="1"/>
              <a:t>itemscope</a:t>
            </a:r>
            <a:r>
              <a:rPr lang="en-US" dirty="0"/>
              <a:t> </a:t>
            </a:r>
            <a:r>
              <a:rPr lang="en-US" dirty="0" err="1"/>
              <a:t>itemtype</a:t>
            </a:r>
            <a:r>
              <a:rPr lang="en-US" dirty="0"/>
              <a:t>="https://schema.org/Offer"&gt;</a:t>
            </a:r>
          </a:p>
          <a:p>
            <a:r>
              <a:rPr lang="en-US" dirty="0"/>
              <a:t>    &lt;meta itemprop="price" content="89.00"&gt;</a:t>
            </a:r>
          </a:p>
          <a:p>
            <a:r>
              <a:rPr lang="en-US" dirty="0"/>
              <a:t>    &lt;meta itemprop="</a:t>
            </a:r>
            <a:r>
              <a:rPr lang="en-US" dirty="0" err="1"/>
              <a:t>priceCurrency</a:t>
            </a:r>
            <a:r>
              <a:rPr lang="en-US" dirty="0"/>
              <a:t>" content="EUR"&gt;</a:t>
            </a:r>
          </a:p>
          <a:p>
            <a:r>
              <a:rPr lang="en-US" dirty="0"/>
              <a:t>    &lt;meta itemprop="category" content="standard, one-way"&gt;</a:t>
            </a:r>
          </a:p>
          <a:p>
            <a:r>
              <a:rPr lang="en-US" dirty="0"/>
              <a:t>    &lt;link itemprop="availability” </a:t>
            </a:r>
            <a:r>
              <a:rPr lang="en-US" dirty="0" err="1"/>
              <a:t>href</a:t>
            </a:r>
            <a:r>
              <a:rPr lang="en-US" dirty="0"/>
              <a:t>="https://schema.org/</a:t>
            </a:r>
            <a:r>
              <a:rPr lang="en-US" dirty="0" err="1"/>
              <a:t>InStock</a:t>
            </a:r>
            <a:r>
              <a:rPr lang="en-US" dirty="0"/>
              <a:t>"&gt;</a:t>
            </a:r>
          </a:p>
          <a:p>
            <a:r>
              <a:rPr lang="en-US" dirty="0"/>
              <a:t>  &lt;/div&gt;</a:t>
            </a:r>
            <a:br>
              <a:rPr lang="en-US" dirty="0"/>
            </a:br>
            <a:endParaRPr lang="en-US" dirty="0"/>
          </a:p>
          <a:p>
            <a:r>
              <a:rPr lang="en-US" dirty="0">
                <a:solidFill>
                  <a:srgbClr val="1A1813"/>
                </a:solidFill>
                <a:latin typeface="Georgia" pitchFamily="34" charset="0"/>
                <a:ea typeface="Georgia" pitchFamily="34" charset="-122"/>
                <a:cs typeface="Georgia" pitchFamily="34" charset="-120"/>
              </a:rPr>
              <a:t> € 89,00 — standard, one-way</a:t>
            </a:r>
            <a:br>
              <a:rPr lang="en-US" dirty="0">
                <a:solidFill>
                  <a:srgbClr val="1A1813"/>
                </a:solidFill>
                <a:latin typeface="Georgia" pitchFamily="34" charset="0"/>
                <a:ea typeface="Georgia" pitchFamily="34" charset="-122"/>
                <a:cs typeface="Georgia" pitchFamily="34" charset="-120"/>
              </a:rPr>
            </a:br>
            <a:endParaRPr lang="en-US" dirty="0"/>
          </a:p>
          <a:p>
            <a:r>
              <a:rPr lang="en-US" dirty="0"/>
              <a:t>  </a:t>
            </a:r>
            <a:r>
              <a:rPr lang="en-US" i="1" dirty="0"/>
              <a:t>&lt;!-- MX extension: claims schema.org does not cover --&gt;</a:t>
            </a:r>
            <a:endParaRPr lang="en-US" dirty="0"/>
          </a:p>
          <a:p>
            <a:r>
              <a:rPr lang="en-US" dirty="0"/>
              <a:t>  &lt;meta data-mx-operating-days="</a:t>
            </a:r>
            <a:r>
              <a:rPr lang="en-US" dirty="0" err="1"/>
              <a:t>Mo,Tu,We,Th,Fr</a:t>
            </a:r>
            <a:r>
              <a:rPr lang="en-US" dirty="0"/>
              <a:t>"&gt;</a:t>
            </a:r>
          </a:p>
          <a:p>
            <a:r>
              <a:rPr lang="en-US" dirty="0"/>
              <a:t>  &lt;meta data-mx-advance-booking="required"&gt;</a:t>
            </a:r>
          </a:p>
          <a:p>
            <a:r>
              <a:rPr lang="en-US" dirty="0"/>
              <a:t>  &lt;meta data-mx-refund-window="PT24H"&gt;</a:t>
            </a:r>
          </a:p>
          <a:p>
            <a:r>
              <a:rPr lang="en-US" dirty="0"/>
              <a:t>&lt;/article&gt;</a:t>
            </a:r>
          </a:p>
          <a:p>
            <a:br>
              <a:rPr lang="en-US" dirty="0"/>
            </a:br>
            <a:endParaRPr lang="en-GB" dirty="0"/>
          </a:p>
        </p:txBody>
      </p:sp>
      <p:sp>
        <p:nvSpPr>
          <p:cNvPr id="54" name="Text 7">
            <a:extLst>
              <a:ext uri="{FF2B5EF4-FFF2-40B4-BE49-F238E27FC236}">
                <a16:creationId xmlns:a16="http://schemas.microsoft.com/office/drawing/2014/main" id="{B93D5043-51D3-6F72-DBC0-4DA08A0E79F7}"/>
              </a:ext>
            </a:extLst>
          </p:cNvPr>
          <p:cNvSpPr/>
          <p:nvPr/>
        </p:nvSpPr>
        <p:spPr>
          <a:xfrm>
            <a:off x="9759497" y="3055116"/>
            <a:ext cx="7247787" cy="278085"/>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350" kern="0" spc="216" dirty="0">
                <a:solidFill>
                  <a:srgbClr val="000000"/>
                </a:solidFill>
                <a:latin typeface="Courier New" pitchFamily="34" charset="0"/>
                <a:ea typeface="Courier New" pitchFamily="34" charset="-122"/>
                <a:cs typeface="Courier New" pitchFamily="34" charset="-120"/>
              </a:rPr>
              <a:t>FOR THE MACHINE (abbreviated)</a:t>
            </a:r>
            <a:endParaRPr lang="en-US" sz="1350" dirty="0"/>
          </a:p>
        </p:txBody>
      </p:sp>
      <p:sp>
        <p:nvSpPr>
          <p:cNvPr id="56" name="Text 46">
            <a:extLst>
              <a:ext uri="{FF2B5EF4-FFF2-40B4-BE49-F238E27FC236}">
                <a16:creationId xmlns:a16="http://schemas.microsoft.com/office/drawing/2014/main" id="{6B731FF5-C72F-F1E8-75A9-BE447E30B6B5}"/>
              </a:ext>
            </a:extLst>
          </p:cNvPr>
          <p:cNvSpPr/>
          <p:nvPr/>
        </p:nvSpPr>
        <p:spPr>
          <a:xfrm>
            <a:off x="2522321" y="8679302"/>
            <a:ext cx="15206662" cy="561901"/>
          </a:xfrm>
          <a:prstGeom prst="rect">
            <a:avLst/>
          </a:prstGeom>
          <a:noFill/>
          <a:ln/>
        </p:spPr>
        <p:txBody>
          <a:bodyPr wrap="square" lIns="25400" tIns="25400" rIns="25400" bIns="25400" rtlCol="0" anchor="t">
            <a:normAutofit fontScale="92500" lnSpcReduction="10000"/>
          </a:bodyPr>
          <a:lstStyle/>
          <a:p>
            <a:pPr marL="0" indent="0" algn="l">
              <a:lnSpc>
                <a:spcPct val="125000"/>
              </a:lnSpc>
              <a:buNone/>
            </a:pPr>
            <a:r>
              <a:rPr lang="en-US" sz="3300" i="1" dirty="0">
                <a:solidFill>
                  <a:srgbClr val="1A1813"/>
                </a:solidFill>
                <a:latin typeface="Georgia" pitchFamily="34" charset="0"/>
                <a:ea typeface="Georgia" pitchFamily="34" charset="-122"/>
                <a:cs typeface="Georgia" pitchFamily="34" charset="-120"/>
              </a:rPr>
              <a:t>A machine does not have to guess. </a:t>
            </a:r>
            <a:r>
              <a:rPr lang="en-US" sz="3300" i="1" dirty="0">
                <a:solidFill>
                  <a:srgbClr val="000000"/>
                </a:solidFill>
                <a:latin typeface="Georgia" pitchFamily="34" charset="0"/>
                <a:ea typeface="Georgia" pitchFamily="34" charset="-122"/>
                <a:cs typeface="Georgia" pitchFamily="34" charset="-120"/>
              </a:rPr>
              <a:t>A human does not see the difference.</a:t>
            </a:r>
            <a:endParaRPr lang="en-US" sz="3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3EFE7"/>
        </a:solidFill>
        <a:effectLst/>
      </p:bgPr>
    </p:bg>
    <p:spTree>
      <p:nvGrpSpPr>
        <p:cNvPr id="1" name=""/>
        <p:cNvGrpSpPr/>
        <p:nvPr/>
      </p:nvGrpSpPr>
      <p:grpSpPr>
        <a:xfrm>
          <a:off x="0" y="0"/>
          <a:ext cx="0" cy="0"/>
          <a:chOff x="0" y="0"/>
          <a:chExt cx="0" cy="0"/>
        </a:xfrm>
      </p:grpSpPr>
      <p:sp>
        <p:nvSpPr>
          <p:cNvPr id="2" name="Text 0"/>
          <p:cNvSpPr/>
          <p:nvPr/>
        </p:nvSpPr>
        <p:spPr>
          <a:xfrm>
            <a:off x="1352476" y="398859"/>
            <a:ext cx="2339690" cy="258366"/>
          </a:xfrm>
          <a:prstGeom prst="rect">
            <a:avLst/>
          </a:prstGeom>
          <a:noFill/>
          <a:ln/>
        </p:spPr>
        <p:txBody>
          <a:bodyPr wrap="square" lIns="0" tIns="0" rIns="0" bIns="0" rtlCol="0" anchor="t">
            <a:normAutofit fontScale="92500" lnSpcReduction="20000"/>
          </a:bodyPr>
          <a:lstStyle/>
          <a:p>
            <a:pPr marL="0" indent="0" algn="l">
              <a:lnSpc>
                <a:spcPct val="140000"/>
              </a:lnSpc>
              <a:buNone/>
            </a:pPr>
            <a:r>
              <a:rPr lang="en-US" sz="1500" kern="0" spc="90" dirty="0">
                <a:solidFill>
                  <a:srgbClr val="7A7466"/>
                </a:solidFill>
                <a:latin typeface="Courier New" pitchFamily="34" charset="0"/>
                <a:ea typeface="Courier New" pitchFamily="34" charset="-122"/>
                <a:cs typeface="Courier New" pitchFamily="34" charset="-120"/>
              </a:rPr>
              <a:t>PART TWO · THE GAP</a:t>
            </a:r>
            <a:endParaRPr lang="en-US" sz="1500" dirty="0"/>
          </a:p>
        </p:txBody>
      </p:sp>
      <p:sp>
        <p:nvSpPr>
          <p:cNvPr id="3" name="Text 1"/>
          <p:cNvSpPr/>
          <p:nvPr/>
        </p:nvSpPr>
        <p:spPr>
          <a:xfrm>
            <a:off x="12183721" y="381000"/>
            <a:ext cx="3367559"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7A7466"/>
                </a:solidFill>
                <a:latin typeface="Courier New" pitchFamily="34" charset="0"/>
                <a:ea typeface="Courier New" pitchFamily="34" charset="-122"/>
                <a:cs typeface="Courier New" pitchFamily="34" charset="-120"/>
              </a:rPr>
              <a:t>THE WEB HAS A NEW AUDIENCE</a:t>
            </a:r>
            <a:endParaRPr lang="en-US" sz="1500" dirty="0"/>
          </a:p>
        </p:txBody>
      </p:sp>
      <p:sp>
        <p:nvSpPr>
          <p:cNvPr id="4" name="Text 2"/>
          <p:cNvSpPr/>
          <p:nvPr/>
        </p:nvSpPr>
        <p:spPr>
          <a:xfrm>
            <a:off x="15796059" y="381000"/>
            <a:ext cx="201960"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1A1813">
                    <a:alpha val="7000"/>
                  </a:srgbClr>
                </a:solidFill>
                <a:latin typeface="Courier New" pitchFamily="34" charset="0"/>
                <a:ea typeface="Courier New" pitchFamily="34" charset="-122"/>
                <a:cs typeface="Courier New" pitchFamily="34" charset="-120"/>
              </a:rPr>
              <a:t>·</a:t>
            </a:r>
            <a:endParaRPr lang="en-US" sz="1500" dirty="0"/>
          </a:p>
        </p:txBody>
      </p:sp>
      <p:sp>
        <p:nvSpPr>
          <p:cNvPr id="5" name="Text 3"/>
          <p:cNvSpPr/>
          <p:nvPr/>
        </p:nvSpPr>
        <p:spPr>
          <a:xfrm>
            <a:off x="16264682" y="381000"/>
            <a:ext cx="956518"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7A7466"/>
                </a:solidFill>
                <a:latin typeface="Courier New" pitchFamily="34" charset="0"/>
                <a:ea typeface="Courier New" pitchFamily="34" charset="-122"/>
                <a:cs typeface="Courier New" pitchFamily="34" charset="-120"/>
              </a:rPr>
              <a:t>08 / 11</a:t>
            </a:r>
            <a:endParaRPr lang="en-US" sz="1500" dirty="0"/>
          </a:p>
        </p:txBody>
      </p:sp>
      <p:sp>
        <p:nvSpPr>
          <p:cNvPr id="6" name="Text 4"/>
          <p:cNvSpPr/>
          <p:nvPr/>
        </p:nvSpPr>
        <p:spPr>
          <a:xfrm>
            <a:off x="1143000" y="914363"/>
            <a:ext cx="16482060" cy="331477"/>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650" kern="0" spc="330" dirty="0">
                <a:solidFill>
                  <a:srgbClr val="000000"/>
                </a:solidFill>
                <a:latin typeface="Courier New" pitchFamily="34" charset="0"/>
                <a:ea typeface="Courier New" pitchFamily="34" charset="-122"/>
                <a:cs typeface="Courier New" pitchFamily="34" charset="-120"/>
              </a:rPr>
              <a:t>FOR THE ARCHITECTS IN THE ROOM</a:t>
            </a:r>
            <a:endParaRPr lang="en-US" sz="1650" dirty="0"/>
          </a:p>
        </p:txBody>
      </p:sp>
      <p:sp>
        <p:nvSpPr>
          <p:cNvPr id="7" name="Text 5"/>
          <p:cNvSpPr/>
          <p:nvPr/>
        </p:nvSpPr>
        <p:spPr>
          <a:xfrm>
            <a:off x="1143000" y="1550603"/>
            <a:ext cx="15108555" cy="1753902"/>
          </a:xfrm>
          <a:prstGeom prst="rect">
            <a:avLst/>
          </a:prstGeom>
          <a:noFill/>
          <a:ln/>
        </p:spPr>
        <p:txBody>
          <a:bodyPr wrap="square" lIns="25400" tIns="25400" rIns="25400" bIns="25400" rtlCol="0" anchor="t">
            <a:normAutofit fontScale="92500" lnSpcReduction="20000"/>
          </a:bodyPr>
          <a:lstStyle/>
          <a:p>
            <a:pPr marL="0" indent="0" algn="l">
              <a:lnSpc>
                <a:spcPct val="102000"/>
              </a:lnSpc>
              <a:buNone/>
            </a:pPr>
            <a:r>
              <a:rPr lang="en-US" sz="6600" kern="0" spc="-119" dirty="0">
                <a:solidFill>
                  <a:srgbClr val="1A1813"/>
                </a:solidFill>
                <a:latin typeface="Georgia" pitchFamily="34" charset="0"/>
                <a:ea typeface="Georgia" pitchFamily="34" charset="-122"/>
                <a:cs typeface="Georgia" pitchFamily="34" charset="-120"/>
              </a:rPr>
              <a:t>When you ship an "AI-ready" CMS - </a:t>
            </a:r>
            <a:r>
              <a:rPr lang="en-US" sz="6600" i="1" kern="0" spc="-119" dirty="0">
                <a:solidFill>
                  <a:srgbClr val="000000"/>
                </a:solidFill>
                <a:latin typeface="Georgia" pitchFamily="34" charset="0"/>
                <a:ea typeface="Georgia" pitchFamily="34" charset="-122"/>
                <a:cs typeface="Georgia" pitchFamily="34" charset="-120"/>
              </a:rPr>
              <a:t>what does an agent execute against?</a:t>
            </a:r>
            <a:endParaRPr lang="en-US" sz="6600" dirty="0"/>
          </a:p>
        </p:txBody>
      </p:sp>
      <p:sp>
        <p:nvSpPr>
          <p:cNvPr id="8" name="Shape 6"/>
          <p:cNvSpPr/>
          <p:nvPr/>
        </p:nvSpPr>
        <p:spPr>
          <a:xfrm>
            <a:off x="1143000" y="3685449"/>
            <a:ext cx="4927606" cy="9525"/>
          </a:xfrm>
          <a:prstGeom prst="rect">
            <a:avLst/>
          </a:prstGeom>
          <a:solidFill>
            <a:srgbClr val="1A1813"/>
          </a:solidFill>
          <a:ln/>
        </p:spPr>
        <p:txBody>
          <a:bodyPr/>
          <a:lstStyle/>
          <a:p>
            <a:endParaRPr lang="en-GB"/>
          </a:p>
        </p:txBody>
      </p:sp>
      <p:sp>
        <p:nvSpPr>
          <p:cNvPr id="9" name="Text 7"/>
          <p:cNvSpPr/>
          <p:nvPr/>
        </p:nvSpPr>
        <p:spPr>
          <a:xfrm>
            <a:off x="1143000" y="3958084"/>
            <a:ext cx="5075434"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210" dirty="0">
                <a:solidFill>
                  <a:srgbClr val="000000"/>
                </a:solidFill>
                <a:latin typeface="Courier New" pitchFamily="34" charset="0"/>
                <a:ea typeface="Courier New" pitchFamily="34" charset="-122"/>
                <a:cs typeface="Courier New" pitchFamily="34" charset="-120"/>
              </a:rPr>
              <a:t>OPTION · A</a:t>
            </a:r>
            <a:endParaRPr lang="en-US" sz="1500" dirty="0"/>
          </a:p>
        </p:txBody>
      </p:sp>
      <p:sp>
        <p:nvSpPr>
          <p:cNvPr id="10" name="Text 8"/>
          <p:cNvSpPr/>
          <p:nvPr/>
        </p:nvSpPr>
        <p:spPr>
          <a:xfrm>
            <a:off x="1143000" y="4396197"/>
            <a:ext cx="5075434" cy="518071"/>
          </a:xfrm>
          <a:prstGeom prst="rect">
            <a:avLst/>
          </a:prstGeom>
          <a:noFill/>
          <a:ln/>
        </p:spPr>
        <p:txBody>
          <a:bodyPr wrap="square" lIns="25400" tIns="25400" rIns="25400" bIns="25400" rtlCol="0" anchor="t">
            <a:normAutofit fontScale="77500" lnSpcReduction="20000"/>
          </a:bodyPr>
          <a:lstStyle/>
          <a:p>
            <a:pPr marL="0" indent="0" algn="l">
              <a:lnSpc>
                <a:spcPct val="105000"/>
              </a:lnSpc>
              <a:buNone/>
            </a:pPr>
            <a:r>
              <a:rPr lang="en-US" sz="3600" i="1" kern="0" spc="-43" dirty="0">
                <a:solidFill>
                  <a:srgbClr val="1A1813"/>
                </a:solidFill>
                <a:latin typeface="Georgia" pitchFamily="34" charset="0"/>
                <a:ea typeface="Georgia" pitchFamily="34" charset="-122"/>
                <a:cs typeface="Georgia" pitchFamily="34" charset="-120"/>
              </a:rPr>
              <a:t>A content record in your CMS.</a:t>
            </a:r>
            <a:endParaRPr lang="en-US" sz="3600" dirty="0"/>
          </a:p>
        </p:txBody>
      </p:sp>
      <p:sp>
        <p:nvSpPr>
          <p:cNvPr id="11" name="Text 9"/>
          <p:cNvSpPr/>
          <p:nvPr/>
        </p:nvSpPr>
        <p:spPr>
          <a:xfrm>
            <a:off x="1143000" y="5047599"/>
            <a:ext cx="5075434" cy="416775"/>
          </a:xfrm>
          <a:prstGeom prst="rect">
            <a:avLst/>
          </a:prstGeom>
          <a:noFill/>
          <a:ln/>
        </p:spPr>
        <p:txBody>
          <a:bodyPr wrap="square" lIns="25400" tIns="25400" rIns="25400" bIns="25400" rtlCol="0" anchor="t">
            <a:normAutofit fontScale="92500"/>
          </a:bodyPr>
          <a:lstStyle/>
          <a:p>
            <a:pPr marL="0" indent="0" algn="l">
              <a:lnSpc>
                <a:spcPct val="142000"/>
              </a:lnSpc>
              <a:buNone/>
            </a:pPr>
            <a:r>
              <a:rPr lang="en-US" sz="2100" dirty="0">
                <a:solidFill>
                  <a:srgbClr val="4B463A"/>
                </a:solidFill>
                <a:latin typeface="Arial" pitchFamily="34" charset="0"/>
                <a:ea typeface="Arial" pitchFamily="34" charset="-122"/>
                <a:cs typeface="Arial" pitchFamily="34" charset="-120"/>
              </a:rPr>
              <a:t>Familiar. Vendor-shaped. Doesn't travel.</a:t>
            </a:r>
            <a:endParaRPr lang="en-US" sz="2100" dirty="0"/>
          </a:p>
        </p:txBody>
      </p:sp>
      <p:sp>
        <p:nvSpPr>
          <p:cNvPr id="12" name="Shape 10"/>
          <p:cNvSpPr/>
          <p:nvPr/>
        </p:nvSpPr>
        <p:spPr>
          <a:xfrm>
            <a:off x="6680150" y="3685449"/>
            <a:ext cx="4927606" cy="9525"/>
          </a:xfrm>
          <a:prstGeom prst="rect">
            <a:avLst/>
          </a:prstGeom>
          <a:solidFill>
            <a:srgbClr val="1A1813"/>
          </a:solidFill>
          <a:ln/>
        </p:spPr>
        <p:txBody>
          <a:bodyPr/>
          <a:lstStyle/>
          <a:p>
            <a:endParaRPr lang="en-GB"/>
          </a:p>
        </p:txBody>
      </p:sp>
      <p:sp>
        <p:nvSpPr>
          <p:cNvPr id="13" name="Text 11"/>
          <p:cNvSpPr/>
          <p:nvPr/>
        </p:nvSpPr>
        <p:spPr>
          <a:xfrm>
            <a:off x="6680150" y="3958084"/>
            <a:ext cx="5075434"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210" dirty="0">
                <a:solidFill>
                  <a:srgbClr val="000000"/>
                </a:solidFill>
                <a:latin typeface="Courier New" pitchFamily="34" charset="0"/>
                <a:ea typeface="Courier New" pitchFamily="34" charset="-122"/>
                <a:cs typeface="Courier New" pitchFamily="34" charset="-120"/>
              </a:rPr>
              <a:t>OPTION · B</a:t>
            </a:r>
            <a:endParaRPr lang="en-US" sz="1500" dirty="0"/>
          </a:p>
        </p:txBody>
      </p:sp>
      <p:sp>
        <p:nvSpPr>
          <p:cNvPr id="14" name="Text 12"/>
          <p:cNvSpPr/>
          <p:nvPr/>
        </p:nvSpPr>
        <p:spPr>
          <a:xfrm>
            <a:off x="6680150" y="4396197"/>
            <a:ext cx="5075434" cy="998041"/>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3600" i="1" kern="0" spc="-43" dirty="0">
                <a:solidFill>
                  <a:srgbClr val="1A1813"/>
                </a:solidFill>
                <a:latin typeface="Georgia" pitchFamily="34" charset="0"/>
                <a:ea typeface="Georgia" pitchFamily="34" charset="-122"/>
                <a:cs typeface="Georgia" pitchFamily="34" charset="-120"/>
              </a:rPr>
              <a:t>A schema behind your GraphQL endpoint.</a:t>
            </a:r>
            <a:endParaRPr lang="en-US" sz="3600" dirty="0"/>
          </a:p>
        </p:txBody>
      </p:sp>
      <p:sp>
        <p:nvSpPr>
          <p:cNvPr id="15" name="Text 13"/>
          <p:cNvSpPr/>
          <p:nvPr/>
        </p:nvSpPr>
        <p:spPr>
          <a:xfrm>
            <a:off x="6680150" y="5527570"/>
            <a:ext cx="5075434" cy="795449"/>
          </a:xfrm>
          <a:prstGeom prst="rect">
            <a:avLst/>
          </a:prstGeom>
          <a:noFill/>
          <a:ln/>
        </p:spPr>
        <p:txBody>
          <a:bodyPr wrap="square" lIns="25400" tIns="25400" rIns="25400" bIns="25400" rtlCol="0" anchor="t">
            <a:normAutofit fontScale="92500" lnSpcReduction="10000"/>
          </a:bodyPr>
          <a:lstStyle/>
          <a:p>
            <a:pPr marL="0" indent="0" algn="l">
              <a:lnSpc>
                <a:spcPct val="142000"/>
              </a:lnSpc>
              <a:buNone/>
            </a:pPr>
            <a:r>
              <a:rPr lang="en-US" sz="2100" dirty="0">
                <a:solidFill>
                  <a:srgbClr val="4B463A"/>
                </a:solidFill>
                <a:latin typeface="Arial" pitchFamily="34" charset="0"/>
                <a:ea typeface="Arial" pitchFamily="34" charset="-122"/>
                <a:cs typeface="Arial" pitchFamily="34" charset="-120"/>
              </a:rPr>
              <a:t>Closer to the wire. Couples agents to your transport.</a:t>
            </a:r>
            <a:endParaRPr lang="en-US" sz="2100" dirty="0"/>
          </a:p>
        </p:txBody>
      </p:sp>
      <p:sp>
        <p:nvSpPr>
          <p:cNvPr id="16" name="Shape 14"/>
          <p:cNvSpPr/>
          <p:nvPr/>
        </p:nvSpPr>
        <p:spPr>
          <a:xfrm>
            <a:off x="12217301" y="3685449"/>
            <a:ext cx="4927606" cy="9525"/>
          </a:xfrm>
          <a:prstGeom prst="rect">
            <a:avLst/>
          </a:prstGeom>
          <a:solidFill>
            <a:srgbClr val="1A1813"/>
          </a:solidFill>
          <a:ln/>
        </p:spPr>
        <p:txBody>
          <a:bodyPr/>
          <a:lstStyle/>
          <a:p>
            <a:endParaRPr lang="en-GB"/>
          </a:p>
        </p:txBody>
      </p:sp>
      <p:sp>
        <p:nvSpPr>
          <p:cNvPr id="17" name="Text 15"/>
          <p:cNvSpPr/>
          <p:nvPr/>
        </p:nvSpPr>
        <p:spPr>
          <a:xfrm>
            <a:off x="12217301" y="3958084"/>
            <a:ext cx="5075434"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210" dirty="0">
                <a:solidFill>
                  <a:srgbClr val="000000"/>
                </a:solidFill>
                <a:latin typeface="Courier New" pitchFamily="34" charset="0"/>
                <a:ea typeface="Courier New" pitchFamily="34" charset="-122"/>
                <a:cs typeface="Courier New" pitchFamily="34" charset="-120"/>
              </a:rPr>
              <a:t>OPTION · C</a:t>
            </a:r>
            <a:endParaRPr lang="en-US" sz="1500" dirty="0"/>
          </a:p>
        </p:txBody>
      </p:sp>
      <p:sp>
        <p:nvSpPr>
          <p:cNvPr id="18" name="Text 16"/>
          <p:cNvSpPr/>
          <p:nvPr/>
        </p:nvSpPr>
        <p:spPr>
          <a:xfrm>
            <a:off x="12217301" y="4396197"/>
            <a:ext cx="5075434" cy="998041"/>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3600" i="1" kern="0" spc="-43" dirty="0">
                <a:solidFill>
                  <a:srgbClr val="1A1813"/>
                </a:solidFill>
                <a:latin typeface="Georgia" pitchFamily="34" charset="0"/>
                <a:ea typeface="Georgia" pitchFamily="34" charset="-122"/>
                <a:cs typeface="Georgia" pitchFamily="34" charset="-120"/>
              </a:rPr>
              <a:t>An MCP tool call your server resolves.</a:t>
            </a:r>
            <a:endParaRPr lang="en-US" sz="3600" dirty="0"/>
          </a:p>
        </p:txBody>
      </p:sp>
      <p:sp>
        <p:nvSpPr>
          <p:cNvPr id="19" name="Text 17"/>
          <p:cNvSpPr/>
          <p:nvPr/>
        </p:nvSpPr>
        <p:spPr>
          <a:xfrm>
            <a:off x="12217301" y="5527570"/>
            <a:ext cx="5075434" cy="1174124"/>
          </a:xfrm>
          <a:prstGeom prst="rect">
            <a:avLst/>
          </a:prstGeom>
          <a:noFill/>
          <a:ln/>
        </p:spPr>
        <p:txBody>
          <a:bodyPr wrap="square" lIns="25400" tIns="25400" rIns="25400" bIns="25400" rtlCol="0" anchor="t">
            <a:normAutofit/>
          </a:bodyPr>
          <a:lstStyle/>
          <a:p>
            <a:pPr marL="0" indent="0" algn="l">
              <a:lnSpc>
                <a:spcPct val="142000"/>
              </a:lnSpc>
              <a:buNone/>
            </a:pPr>
            <a:r>
              <a:rPr lang="en-US" sz="2100" dirty="0">
                <a:solidFill>
                  <a:srgbClr val="4B463A"/>
                </a:solidFill>
                <a:latin typeface="Arial" pitchFamily="34" charset="0"/>
                <a:ea typeface="Arial" pitchFamily="34" charset="-122"/>
                <a:cs typeface="Arial" pitchFamily="34" charset="-120"/>
              </a:rPr>
              <a:t>Closest to how agents actually work today. Binds customers to your CMS</a:t>
            </a:r>
            <a:endParaRPr lang="en-US" sz="2100" dirty="0"/>
          </a:p>
        </p:txBody>
      </p:sp>
      <p:sp>
        <p:nvSpPr>
          <p:cNvPr id="20" name="Shape 18"/>
          <p:cNvSpPr/>
          <p:nvPr/>
        </p:nvSpPr>
        <p:spPr>
          <a:xfrm>
            <a:off x="1143000" y="7196956"/>
            <a:ext cx="14763750" cy="9525"/>
          </a:xfrm>
          <a:prstGeom prst="rect">
            <a:avLst/>
          </a:prstGeom>
          <a:solidFill>
            <a:srgbClr val="1A1813">
              <a:alpha val="13000"/>
            </a:srgbClr>
          </a:solidFill>
          <a:ln/>
        </p:spPr>
        <p:txBody>
          <a:bodyPr/>
          <a:lstStyle/>
          <a:p>
            <a:endParaRPr lang="en-GB"/>
          </a:p>
        </p:txBody>
      </p:sp>
      <p:sp>
        <p:nvSpPr>
          <p:cNvPr id="21" name="Text 19"/>
          <p:cNvSpPr/>
          <p:nvPr/>
        </p:nvSpPr>
        <p:spPr>
          <a:xfrm>
            <a:off x="1143000" y="7507709"/>
            <a:ext cx="15206662" cy="1085776"/>
          </a:xfrm>
          <a:prstGeom prst="rect">
            <a:avLst/>
          </a:prstGeom>
          <a:noFill/>
          <a:ln/>
        </p:spPr>
        <p:txBody>
          <a:bodyPr wrap="square" lIns="25400" tIns="25400" rIns="25400" bIns="25400" rtlCol="0" anchor="t">
            <a:normAutofit fontScale="92500" lnSpcReduction="20000"/>
          </a:bodyPr>
          <a:lstStyle/>
          <a:p>
            <a:pPr marL="0" indent="0" algn="l">
              <a:lnSpc>
                <a:spcPct val="125000"/>
              </a:lnSpc>
              <a:buNone/>
            </a:pPr>
            <a:r>
              <a:rPr lang="en-US" sz="3300" i="1" dirty="0">
                <a:solidFill>
                  <a:srgbClr val="1A1813"/>
                </a:solidFill>
                <a:latin typeface="Georgia" pitchFamily="34" charset="0"/>
                <a:ea typeface="Georgia" pitchFamily="34" charset="-122"/>
                <a:cs typeface="Georgia" pitchFamily="34" charset="-120"/>
              </a:rPr>
              <a:t>Each is a reasonable answer. </a:t>
            </a:r>
            <a:r>
              <a:rPr lang="en-US" sz="3300" i="1" dirty="0">
                <a:solidFill>
                  <a:srgbClr val="000000"/>
                </a:solidFill>
                <a:latin typeface="Georgia" pitchFamily="34" charset="0"/>
                <a:ea typeface="Georgia" pitchFamily="34" charset="-122"/>
                <a:cs typeface="Georgia" pitchFamily="34" charset="-120"/>
              </a:rPr>
              <a:t>None of them interoperates across vendors yet. </a:t>
            </a:r>
            <a:br>
              <a:rPr lang="en-US" sz="3300" i="1" dirty="0">
                <a:solidFill>
                  <a:srgbClr val="000000"/>
                </a:solidFill>
                <a:latin typeface="Georgia" pitchFamily="34" charset="0"/>
                <a:ea typeface="Georgia" pitchFamily="34" charset="-122"/>
                <a:cs typeface="Georgia" pitchFamily="34" charset="-120"/>
              </a:rPr>
            </a:br>
            <a:r>
              <a:rPr lang="en-US" sz="3300" i="1" dirty="0">
                <a:solidFill>
                  <a:srgbClr val="1A1813"/>
                </a:solidFill>
                <a:latin typeface="Georgia" pitchFamily="34" charset="0"/>
                <a:ea typeface="Georgia" pitchFamily="34" charset="-122"/>
                <a:cs typeface="Georgia" pitchFamily="34" charset="-120"/>
              </a:rPr>
              <a:t>The gap is the standards work.</a:t>
            </a:r>
            <a:endParaRPr lang="en-US" sz="3300" dirty="0"/>
          </a:p>
        </p:txBody>
      </p:sp>
      <p:sp>
        <p:nvSpPr>
          <p:cNvPr id="22" name="Shape 20"/>
          <p:cNvSpPr/>
          <p:nvPr/>
        </p:nvSpPr>
        <p:spPr>
          <a:xfrm>
            <a:off x="1143000" y="8936385"/>
            <a:ext cx="16002000" cy="9525"/>
          </a:xfrm>
          <a:prstGeom prst="rect">
            <a:avLst/>
          </a:prstGeom>
          <a:solidFill>
            <a:srgbClr val="1A1813">
              <a:alpha val="13000"/>
            </a:srgbClr>
          </a:solidFill>
          <a:ln/>
        </p:spPr>
        <p:txBody>
          <a:bodyPr/>
          <a:lstStyle/>
          <a:p>
            <a:endParaRPr lang="en-GB"/>
          </a:p>
        </p:txBody>
      </p:sp>
      <p:sp>
        <p:nvSpPr>
          <p:cNvPr id="23" name="Text 21"/>
          <p:cNvSpPr/>
          <p:nvPr/>
        </p:nvSpPr>
        <p:spPr>
          <a:xfrm>
            <a:off x="1143000" y="9209019"/>
            <a:ext cx="3516732"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60" dirty="0">
                <a:solidFill>
                  <a:srgbClr val="7A7466"/>
                </a:solidFill>
                <a:latin typeface="Courier New" pitchFamily="34" charset="0"/>
                <a:ea typeface="Courier New" pitchFamily="34" charset="-122"/>
                <a:cs typeface="Courier New" pitchFamily="34" charset="-120"/>
              </a:rPr>
              <a:t>TOM CRANSTOUN · TG.COMMUNITY</a:t>
            </a:r>
            <a:endParaRPr lang="en-US" sz="1500" dirty="0"/>
          </a:p>
        </p:txBody>
      </p:sp>
      <p:sp>
        <p:nvSpPr>
          <p:cNvPr id="24" name="Text 22"/>
          <p:cNvSpPr/>
          <p:nvPr/>
        </p:nvSpPr>
        <p:spPr>
          <a:xfrm>
            <a:off x="16901108" y="9209019"/>
            <a:ext cx="320092"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60" dirty="0">
                <a:solidFill>
                  <a:srgbClr val="7A7466"/>
                </a:solidFill>
                <a:latin typeface="Courier New" pitchFamily="34" charset="0"/>
                <a:ea typeface="Courier New" pitchFamily="34" charset="-122"/>
                <a:cs typeface="Courier New" pitchFamily="34" charset="-120"/>
              </a:rPr>
              <a:t>08</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1A1813"/>
        </a:solidFill>
        <a:effectLst/>
      </p:bgPr>
    </p:bg>
    <p:spTree>
      <p:nvGrpSpPr>
        <p:cNvPr id="1" name=""/>
        <p:cNvGrpSpPr/>
        <p:nvPr/>
      </p:nvGrpSpPr>
      <p:grpSpPr>
        <a:xfrm>
          <a:off x="0" y="0"/>
          <a:ext cx="0" cy="0"/>
          <a:chOff x="0" y="0"/>
          <a:chExt cx="0" cy="0"/>
        </a:xfrm>
      </p:grpSpPr>
      <p:sp>
        <p:nvSpPr>
          <p:cNvPr id="2" name="Text 0"/>
          <p:cNvSpPr/>
          <p:nvPr/>
        </p:nvSpPr>
        <p:spPr>
          <a:xfrm>
            <a:off x="1352476" y="398859"/>
            <a:ext cx="2719992" cy="258366"/>
          </a:xfrm>
          <a:prstGeom prst="rect">
            <a:avLst/>
          </a:prstGeom>
          <a:noFill/>
          <a:ln/>
        </p:spPr>
        <p:txBody>
          <a:bodyPr wrap="square" lIns="0" tIns="0" rIns="0" bIns="0" rtlCol="0" anchor="t">
            <a:normAutofit fontScale="92500" lnSpcReduction="20000"/>
          </a:bodyPr>
          <a:lstStyle/>
          <a:p>
            <a:pPr marL="0" indent="0" algn="l">
              <a:lnSpc>
                <a:spcPct val="140000"/>
              </a:lnSpc>
              <a:buNone/>
            </a:pPr>
            <a:r>
              <a:rPr lang="en-US" sz="1500" kern="0" spc="90" dirty="0">
                <a:solidFill>
                  <a:srgbClr val="FAF6ED">
                    <a:alpha val="55000"/>
                  </a:srgbClr>
                </a:solidFill>
                <a:latin typeface="Courier New" pitchFamily="34" charset="0"/>
                <a:ea typeface="Courier New" pitchFamily="34" charset="-122"/>
                <a:cs typeface="Courier New" pitchFamily="34" charset="-120"/>
              </a:rPr>
              <a:t>PART THREE · THE WORK</a:t>
            </a:r>
            <a:endParaRPr lang="en-US" sz="1500" dirty="0"/>
          </a:p>
        </p:txBody>
      </p:sp>
      <p:sp>
        <p:nvSpPr>
          <p:cNvPr id="3" name="Text 1"/>
          <p:cNvSpPr/>
          <p:nvPr/>
        </p:nvSpPr>
        <p:spPr>
          <a:xfrm>
            <a:off x="12183721" y="381000"/>
            <a:ext cx="3367559"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FAF6ED">
                    <a:alpha val="55000"/>
                  </a:srgbClr>
                </a:solidFill>
                <a:latin typeface="Courier New" pitchFamily="34" charset="0"/>
                <a:ea typeface="Courier New" pitchFamily="34" charset="-122"/>
                <a:cs typeface="Courier New" pitchFamily="34" charset="-120"/>
              </a:rPr>
              <a:t>THE WEB HAS A NEW AUDIENCE</a:t>
            </a:r>
            <a:endParaRPr lang="en-US" sz="1500" dirty="0"/>
          </a:p>
        </p:txBody>
      </p:sp>
      <p:sp>
        <p:nvSpPr>
          <p:cNvPr id="4" name="Text 2"/>
          <p:cNvSpPr/>
          <p:nvPr/>
        </p:nvSpPr>
        <p:spPr>
          <a:xfrm>
            <a:off x="15796059" y="381000"/>
            <a:ext cx="201960"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FAF6ED">
                    <a:alpha val="18000"/>
                  </a:srgbClr>
                </a:solidFill>
                <a:latin typeface="Courier New" pitchFamily="34" charset="0"/>
                <a:ea typeface="Courier New" pitchFamily="34" charset="-122"/>
                <a:cs typeface="Courier New" pitchFamily="34" charset="-120"/>
              </a:rPr>
              <a:t>·</a:t>
            </a:r>
            <a:endParaRPr lang="en-US" sz="1500" dirty="0"/>
          </a:p>
        </p:txBody>
      </p:sp>
      <p:sp>
        <p:nvSpPr>
          <p:cNvPr id="5" name="Text 3"/>
          <p:cNvSpPr/>
          <p:nvPr/>
        </p:nvSpPr>
        <p:spPr>
          <a:xfrm>
            <a:off x="16264682" y="381000"/>
            <a:ext cx="956518"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FAF6ED">
                    <a:alpha val="55000"/>
                  </a:srgbClr>
                </a:solidFill>
                <a:latin typeface="Courier New" pitchFamily="34" charset="0"/>
                <a:ea typeface="Courier New" pitchFamily="34" charset="-122"/>
                <a:cs typeface="Courier New" pitchFamily="34" charset="-120"/>
              </a:rPr>
              <a:t>09 / 11</a:t>
            </a:r>
            <a:endParaRPr lang="en-US" sz="1500" dirty="0"/>
          </a:p>
        </p:txBody>
      </p:sp>
      <p:sp>
        <p:nvSpPr>
          <p:cNvPr id="6" name="Text 4"/>
          <p:cNvSpPr/>
          <p:nvPr/>
        </p:nvSpPr>
        <p:spPr>
          <a:xfrm>
            <a:off x="1143000" y="3295985"/>
            <a:ext cx="16482060" cy="331477"/>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650" kern="0" spc="330" dirty="0">
                <a:solidFill>
                  <a:srgbClr val="000000"/>
                </a:solidFill>
                <a:latin typeface="Courier New" pitchFamily="34" charset="0"/>
                <a:ea typeface="Courier New" pitchFamily="34" charset="-122"/>
                <a:cs typeface="Courier New" pitchFamily="34" charset="-120"/>
              </a:rPr>
              <a:t>AN INVITATION</a:t>
            </a:r>
            <a:endParaRPr lang="en-US" sz="1650" dirty="0"/>
          </a:p>
        </p:txBody>
      </p:sp>
      <p:sp>
        <p:nvSpPr>
          <p:cNvPr id="7" name="Text 5"/>
          <p:cNvSpPr/>
          <p:nvPr/>
        </p:nvSpPr>
        <p:spPr>
          <a:xfrm>
            <a:off x="1143000" y="3932225"/>
            <a:ext cx="16482060" cy="1810736"/>
          </a:xfrm>
          <a:prstGeom prst="rect">
            <a:avLst/>
          </a:prstGeom>
          <a:noFill/>
          <a:ln/>
        </p:spPr>
        <p:txBody>
          <a:bodyPr wrap="square" lIns="25400" tIns="25400" rIns="25400" bIns="25400" rtlCol="0" anchor="t">
            <a:normAutofit fontScale="92500" lnSpcReduction="10000"/>
          </a:bodyPr>
          <a:lstStyle/>
          <a:p>
            <a:pPr marL="0" indent="0" algn="l">
              <a:lnSpc>
                <a:spcPct val="94000"/>
              </a:lnSpc>
              <a:buNone/>
            </a:pPr>
            <a:r>
              <a:rPr lang="en-US" sz="14700" kern="0" spc="-412" dirty="0">
                <a:solidFill>
                  <a:srgbClr val="FAF6ED"/>
                </a:solidFill>
                <a:latin typeface="Georgia" pitchFamily="34" charset="0"/>
                <a:ea typeface="Georgia" pitchFamily="34" charset="-122"/>
                <a:cs typeface="Georgia" pitchFamily="34" charset="-120"/>
              </a:rPr>
              <a:t>The </a:t>
            </a:r>
            <a:r>
              <a:rPr lang="en-US" sz="14700" i="1" kern="0" spc="-412" dirty="0">
                <a:solidFill>
                  <a:srgbClr val="000000"/>
                </a:solidFill>
                <a:latin typeface="Georgia" pitchFamily="34" charset="0"/>
                <a:ea typeface="Georgia" pitchFamily="34" charset="-122"/>
                <a:cs typeface="Georgia" pitchFamily="34" charset="-120"/>
              </a:rPr>
              <a:t>Gathering.</a:t>
            </a:r>
            <a:endParaRPr lang="en-US" sz="14700" dirty="0"/>
          </a:p>
        </p:txBody>
      </p:sp>
      <p:sp>
        <p:nvSpPr>
          <p:cNvPr id="8" name="Text 6"/>
          <p:cNvSpPr/>
          <p:nvPr/>
        </p:nvSpPr>
        <p:spPr>
          <a:xfrm>
            <a:off x="1143000" y="6085861"/>
            <a:ext cx="13735050" cy="943161"/>
          </a:xfrm>
          <a:prstGeom prst="rect">
            <a:avLst/>
          </a:prstGeom>
          <a:noFill/>
          <a:ln/>
        </p:spPr>
        <p:txBody>
          <a:bodyPr wrap="square" lIns="25400" tIns="25400" rIns="25400" bIns="25400" rtlCol="0" anchor="t">
            <a:normAutofit fontScale="92500" lnSpcReduction="10000"/>
          </a:bodyPr>
          <a:lstStyle/>
          <a:p>
            <a:pPr marL="0" indent="0" algn="l">
              <a:lnSpc>
                <a:spcPct val="132000"/>
              </a:lnSpc>
              <a:buNone/>
            </a:pPr>
            <a:r>
              <a:rPr lang="en-US" sz="2700" dirty="0">
                <a:solidFill>
                  <a:srgbClr val="FAF6ED">
                    <a:alpha val="85000"/>
                  </a:srgbClr>
                </a:solidFill>
                <a:latin typeface="Arial" pitchFamily="34" charset="0"/>
                <a:ea typeface="Arial" pitchFamily="34" charset="-122"/>
                <a:cs typeface="Arial" pitchFamily="34" charset="-120"/>
              </a:rPr>
              <a:t>Open standards for Machine Experience, drafted in public, by practitioners — including the vendors building what comes next. No membership. No fees. No invitation needed.</a:t>
            </a:r>
            <a:endParaRPr lang="en-US" sz="2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3EFE7"/>
        </a:solidFill>
        <a:effectLst/>
      </p:bgPr>
    </p:bg>
    <p:spTree>
      <p:nvGrpSpPr>
        <p:cNvPr id="1" name=""/>
        <p:cNvGrpSpPr/>
        <p:nvPr/>
      </p:nvGrpSpPr>
      <p:grpSpPr>
        <a:xfrm>
          <a:off x="0" y="0"/>
          <a:ext cx="0" cy="0"/>
          <a:chOff x="0" y="0"/>
          <a:chExt cx="0" cy="0"/>
        </a:xfrm>
      </p:grpSpPr>
      <p:sp>
        <p:nvSpPr>
          <p:cNvPr id="2" name="Text 0"/>
          <p:cNvSpPr/>
          <p:nvPr/>
        </p:nvSpPr>
        <p:spPr>
          <a:xfrm>
            <a:off x="1352476" y="398859"/>
            <a:ext cx="2719992" cy="258366"/>
          </a:xfrm>
          <a:prstGeom prst="rect">
            <a:avLst/>
          </a:prstGeom>
          <a:noFill/>
          <a:ln/>
        </p:spPr>
        <p:txBody>
          <a:bodyPr wrap="square" lIns="0" tIns="0" rIns="0" bIns="0" rtlCol="0" anchor="t">
            <a:normAutofit fontScale="92500" lnSpcReduction="20000"/>
          </a:bodyPr>
          <a:lstStyle/>
          <a:p>
            <a:pPr marL="0" indent="0" algn="l">
              <a:lnSpc>
                <a:spcPct val="140000"/>
              </a:lnSpc>
              <a:buNone/>
            </a:pPr>
            <a:r>
              <a:rPr lang="en-US" sz="1500" kern="0" spc="90" dirty="0">
                <a:solidFill>
                  <a:srgbClr val="7A7466"/>
                </a:solidFill>
                <a:latin typeface="Courier New" pitchFamily="34" charset="0"/>
                <a:ea typeface="Courier New" pitchFamily="34" charset="-122"/>
                <a:cs typeface="Courier New" pitchFamily="34" charset="-120"/>
              </a:rPr>
              <a:t>PART THREE · THE WORK</a:t>
            </a:r>
            <a:endParaRPr lang="en-US" sz="1500" dirty="0"/>
          </a:p>
        </p:txBody>
      </p:sp>
      <p:sp>
        <p:nvSpPr>
          <p:cNvPr id="3" name="Text 1"/>
          <p:cNvSpPr/>
          <p:nvPr/>
        </p:nvSpPr>
        <p:spPr>
          <a:xfrm>
            <a:off x="12183721" y="381000"/>
            <a:ext cx="3367559"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7A7466"/>
                </a:solidFill>
                <a:latin typeface="Courier New" pitchFamily="34" charset="0"/>
                <a:ea typeface="Courier New" pitchFamily="34" charset="-122"/>
                <a:cs typeface="Courier New" pitchFamily="34" charset="-120"/>
              </a:rPr>
              <a:t>THE WEB HAS A NEW AUDIENCE</a:t>
            </a:r>
            <a:endParaRPr lang="en-US" sz="1500" dirty="0"/>
          </a:p>
        </p:txBody>
      </p:sp>
      <p:sp>
        <p:nvSpPr>
          <p:cNvPr id="4" name="Text 2"/>
          <p:cNvSpPr/>
          <p:nvPr/>
        </p:nvSpPr>
        <p:spPr>
          <a:xfrm>
            <a:off x="15796059" y="381000"/>
            <a:ext cx="201960"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1A1813">
                    <a:alpha val="7000"/>
                  </a:srgbClr>
                </a:solidFill>
                <a:latin typeface="Courier New" pitchFamily="34" charset="0"/>
                <a:ea typeface="Courier New" pitchFamily="34" charset="-122"/>
                <a:cs typeface="Courier New" pitchFamily="34" charset="-120"/>
              </a:rPr>
              <a:t>·</a:t>
            </a:r>
            <a:endParaRPr lang="en-US" sz="1500" dirty="0"/>
          </a:p>
        </p:txBody>
      </p:sp>
      <p:sp>
        <p:nvSpPr>
          <p:cNvPr id="5" name="Text 3"/>
          <p:cNvSpPr/>
          <p:nvPr/>
        </p:nvSpPr>
        <p:spPr>
          <a:xfrm>
            <a:off x="16264682" y="381000"/>
            <a:ext cx="956518"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7A7466"/>
                </a:solidFill>
                <a:latin typeface="Courier New" pitchFamily="34" charset="0"/>
                <a:ea typeface="Courier New" pitchFamily="34" charset="-122"/>
                <a:cs typeface="Courier New" pitchFamily="34" charset="-120"/>
              </a:rPr>
              <a:t>10 / 11</a:t>
            </a:r>
            <a:endParaRPr lang="en-US" sz="1500" dirty="0"/>
          </a:p>
        </p:txBody>
      </p:sp>
      <p:sp>
        <p:nvSpPr>
          <p:cNvPr id="6" name="Text 4"/>
          <p:cNvSpPr/>
          <p:nvPr/>
        </p:nvSpPr>
        <p:spPr>
          <a:xfrm>
            <a:off x="1143000" y="914363"/>
            <a:ext cx="16482060" cy="331477"/>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650" kern="0" spc="330" dirty="0">
                <a:solidFill>
                  <a:srgbClr val="000000"/>
                </a:solidFill>
                <a:latin typeface="Courier New" pitchFamily="34" charset="0"/>
                <a:ea typeface="Courier New" pitchFamily="34" charset="-122"/>
                <a:cs typeface="Courier New" pitchFamily="34" charset="-120"/>
              </a:rPr>
              <a:t>FOR VENDORS</a:t>
            </a:r>
            <a:endParaRPr lang="en-US" sz="1650" dirty="0"/>
          </a:p>
        </p:txBody>
      </p:sp>
      <p:sp>
        <p:nvSpPr>
          <p:cNvPr id="7" name="Text 5"/>
          <p:cNvSpPr/>
          <p:nvPr/>
        </p:nvSpPr>
        <p:spPr>
          <a:xfrm>
            <a:off x="1143000" y="1550603"/>
            <a:ext cx="15108555" cy="1759855"/>
          </a:xfrm>
          <a:prstGeom prst="rect">
            <a:avLst/>
          </a:prstGeom>
          <a:noFill/>
          <a:ln/>
        </p:spPr>
        <p:txBody>
          <a:bodyPr wrap="square" lIns="25400" tIns="25400" rIns="25400" bIns="25400" rtlCol="0" anchor="t">
            <a:normAutofit/>
          </a:bodyPr>
          <a:lstStyle/>
          <a:p>
            <a:pPr marL="0" indent="0" algn="l">
              <a:lnSpc>
                <a:spcPct val="102000"/>
              </a:lnSpc>
              <a:buNone/>
            </a:pPr>
            <a:r>
              <a:rPr lang="en-US" sz="6600" kern="0" spc="-119" dirty="0">
                <a:solidFill>
                  <a:srgbClr val="1A1813"/>
                </a:solidFill>
                <a:latin typeface="Georgia" pitchFamily="34" charset="0"/>
                <a:ea typeface="Georgia" pitchFamily="34" charset="-122"/>
                <a:cs typeface="Georgia" pitchFamily="34" charset="-120"/>
              </a:rPr>
              <a:t>Three ways in</a:t>
            </a:r>
            <a:r>
              <a:rPr lang="en-US" sz="6600" i="1" kern="0" spc="-119" dirty="0">
                <a:solidFill>
                  <a:srgbClr val="000000"/>
                </a:solidFill>
                <a:latin typeface="Georgia" pitchFamily="34" charset="0"/>
                <a:ea typeface="Georgia" pitchFamily="34" charset="-122"/>
                <a:cs typeface="Georgia" pitchFamily="34" charset="-120"/>
              </a:rPr>
              <a:t>.</a:t>
            </a:r>
            <a:endParaRPr lang="en-US" sz="6600" dirty="0"/>
          </a:p>
        </p:txBody>
      </p:sp>
      <p:sp>
        <p:nvSpPr>
          <p:cNvPr id="8" name="Text 6"/>
          <p:cNvSpPr/>
          <p:nvPr/>
        </p:nvSpPr>
        <p:spPr>
          <a:xfrm>
            <a:off x="1143000" y="3975943"/>
            <a:ext cx="5127746" cy="331477"/>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650" kern="0" spc="231" dirty="0">
                <a:solidFill>
                  <a:srgbClr val="000000"/>
                </a:solidFill>
                <a:latin typeface="Courier New" pitchFamily="34" charset="0"/>
                <a:ea typeface="Courier New" pitchFamily="34" charset="-122"/>
                <a:cs typeface="Courier New" pitchFamily="34" charset="-120"/>
              </a:rPr>
              <a:t>Step · 01 — 15 min</a:t>
            </a:r>
            <a:endParaRPr lang="en-US" sz="1650" dirty="0"/>
          </a:p>
        </p:txBody>
      </p:sp>
      <p:sp>
        <p:nvSpPr>
          <p:cNvPr id="9" name="Text 7"/>
          <p:cNvSpPr/>
          <p:nvPr/>
        </p:nvSpPr>
        <p:spPr>
          <a:xfrm>
            <a:off x="1143000" y="4440752"/>
            <a:ext cx="5127746" cy="518071"/>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3600" kern="0" spc="-43" dirty="0">
                <a:solidFill>
                  <a:srgbClr val="1A1813"/>
                </a:solidFill>
                <a:latin typeface="Georgia" pitchFamily="34" charset="0"/>
                <a:ea typeface="Georgia" pitchFamily="34" charset="-122"/>
                <a:cs typeface="Georgia" pitchFamily="34" charset="-120"/>
              </a:rPr>
              <a:t>Read a draft.</a:t>
            </a:r>
            <a:endParaRPr lang="en-US" sz="3600" dirty="0"/>
          </a:p>
        </p:txBody>
      </p:sp>
      <p:sp>
        <p:nvSpPr>
          <p:cNvPr id="10" name="Text 8"/>
          <p:cNvSpPr/>
          <p:nvPr/>
        </p:nvSpPr>
        <p:spPr>
          <a:xfrm>
            <a:off x="1143000" y="5092154"/>
            <a:ext cx="5127746" cy="741313"/>
          </a:xfrm>
          <a:prstGeom prst="rect">
            <a:avLst/>
          </a:prstGeom>
          <a:noFill/>
          <a:ln/>
        </p:spPr>
        <p:txBody>
          <a:bodyPr wrap="square" lIns="25400" tIns="25400" rIns="25400" bIns="25400" rtlCol="0" anchor="t">
            <a:normAutofit fontScale="92500" lnSpcReduction="10000"/>
          </a:bodyPr>
          <a:lstStyle/>
          <a:p>
            <a:pPr marL="0" indent="0" algn="l">
              <a:lnSpc>
                <a:spcPct val="142000"/>
              </a:lnSpc>
              <a:buNone/>
            </a:pPr>
            <a:r>
              <a:rPr lang="en-US" sz="1950" dirty="0">
                <a:solidFill>
                  <a:srgbClr val="4B463A"/>
                </a:solidFill>
                <a:latin typeface="Arial" pitchFamily="34" charset="0"/>
                <a:ea typeface="Arial" pitchFamily="34" charset="-122"/>
                <a:cs typeface="Arial" pitchFamily="34" charset="-120"/>
              </a:rPr>
              <a:t>Pick one that sits next to a problem your customers already report.</a:t>
            </a:r>
            <a:endParaRPr lang="en-US" sz="1950" dirty="0"/>
          </a:p>
        </p:txBody>
      </p:sp>
      <p:sp>
        <p:nvSpPr>
          <p:cNvPr id="11" name="Text 9"/>
          <p:cNvSpPr/>
          <p:nvPr/>
        </p:nvSpPr>
        <p:spPr>
          <a:xfrm>
            <a:off x="6654757" y="3975943"/>
            <a:ext cx="5127746" cy="331477"/>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650" kern="0" spc="231" dirty="0">
                <a:solidFill>
                  <a:srgbClr val="000000"/>
                </a:solidFill>
                <a:latin typeface="Courier New" pitchFamily="34" charset="0"/>
                <a:ea typeface="Courier New" pitchFamily="34" charset="-122"/>
                <a:cs typeface="Courier New" pitchFamily="34" charset="-120"/>
              </a:rPr>
              <a:t>Step · 02 — 1 hr</a:t>
            </a:r>
            <a:endParaRPr lang="en-US" sz="1650" dirty="0"/>
          </a:p>
        </p:txBody>
      </p:sp>
      <p:sp>
        <p:nvSpPr>
          <p:cNvPr id="12" name="Text 10"/>
          <p:cNvSpPr/>
          <p:nvPr/>
        </p:nvSpPr>
        <p:spPr>
          <a:xfrm>
            <a:off x="6654757" y="4440752"/>
            <a:ext cx="5127746" cy="518071"/>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3600" kern="0" spc="-43" dirty="0">
                <a:solidFill>
                  <a:srgbClr val="1A1813"/>
                </a:solidFill>
                <a:latin typeface="Georgia" pitchFamily="34" charset="0"/>
                <a:ea typeface="Georgia" pitchFamily="34" charset="-122"/>
                <a:cs typeface="Georgia" pitchFamily="34" charset="-120"/>
              </a:rPr>
              <a:t>Leave a review note.</a:t>
            </a:r>
            <a:endParaRPr lang="en-US" sz="3600" dirty="0"/>
          </a:p>
        </p:txBody>
      </p:sp>
      <p:sp>
        <p:nvSpPr>
          <p:cNvPr id="13" name="Text 11"/>
          <p:cNvSpPr/>
          <p:nvPr/>
        </p:nvSpPr>
        <p:spPr>
          <a:xfrm>
            <a:off x="6654757" y="5092154"/>
            <a:ext cx="5127746" cy="741313"/>
          </a:xfrm>
          <a:prstGeom prst="rect">
            <a:avLst/>
          </a:prstGeom>
          <a:noFill/>
          <a:ln/>
        </p:spPr>
        <p:txBody>
          <a:bodyPr wrap="square" lIns="25400" tIns="25400" rIns="25400" bIns="25400" rtlCol="0" anchor="t">
            <a:normAutofit fontScale="92500" lnSpcReduction="10000"/>
          </a:bodyPr>
          <a:lstStyle/>
          <a:p>
            <a:pPr marL="0" indent="0" algn="l">
              <a:lnSpc>
                <a:spcPct val="142000"/>
              </a:lnSpc>
              <a:buNone/>
            </a:pPr>
            <a:r>
              <a:rPr lang="en-US" sz="1950" dirty="0">
                <a:solidFill>
                  <a:srgbClr val="4B463A"/>
                </a:solidFill>
                <a:latin typeface="Arial" pitchFamily="34" charset="0"/>
                <a:ea typeface="Arial" pitchFamily="34" charset="-122"/>
                <a:cs typeface="Arial" pitchFamily="34" charset="-120"/>
              </a:rPr>
              <a:t>If a draft conflicts with what your product has already learned, tell the community.</a:t>
            </a:r>
            <a:endParaRPr lang="en-US" sz="1950" dirty="0"/>
          </a:p>
        </p:txBody>
      </p:sp>
      <p:sp>
        <p:nvSpPr>
          <p:cNvPr id="14" name="Text 12"/>
          <p:cNvSpPr/>
          <p:nvPr/>
        </p:nvSpPr>
        <p:spPr>
          <a:xfrm>
            <a:off x="12166513" y="3975943"/>
            <a:ext cx="5127746" cy="331477"/>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650" kern="0" spc="231" dirty="0">
                <a:solidFill>
                  <a:srgbClr val="000000"/>
                </a:solidFill>
                <a:latin typeface="Courier New" pitchFamily="34" charset="0"/>
                <a:ea typeface="Courier New" pitchFamily="34" charset="-122"/>
                <a:cs typeface="Courier New" pitchFamily="34" charset="-120"/>
              </a:rPr>
              <a:t>Step · 03 — a weekend</a:t>
            </a:r>
            <a:endParaRPr lang="en-US" sz="1650" dirty="0"/>
          </a:p>
        </p:txBody>
      </p:sp>
      <p:sp>
        <p:nvSpPr>
          <p:cNvPr id="15" name="Text 13"/>
          <p:cNvSpPr/>
          <p:nvPr/>
        </p:nvSpPr>
        <p:spPr>
          <a:xfrm>
            <a:off x="12166513" y="4440752"/>
            <a:ext cx="5127746" cy="518071"/>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3600" kern="0" spc="-43" dirty="0">
                <a:solidFill>
                  <a:srgbClr val="1A1813"/>
                </a:solidFill>
                <a:latin typeface="Georgia" pitchFamily="34" charset="0"/>
                <a:ea typeface="Georgia" pitchFamily="34" charset="-122"/>
                <a:cs typeface="Georgia" pitchFamily="34" charset="-120"/>
              </a:rPr>
              <a:t>Propose your own.</a:t>
            </a:r>
            <a:endParaRPr lang="en-US" sz="3600" dirty="0"/>
          </a:p>
        </p:txBody>
      </p:sp>
      <p:sp>
        <p:nvSpPr>
          <p:cNvPr id="16" name="Text 14"/>
          <p:cNvSpPr/>
          <p:nvPr/>
        </p:nvSpPr>
        <p:spPr>
          <a:xfrm>
            <a:off x="12166513" y="5092154"/>
            <a:ext cx="5127746" cy="741313"/>
          </a:xfrm>
          <a:prstGeom prst="rect">
            <a:avLst/>
          </a:prstGeom>
          <a:noFill/>
          <a:ln/>
        </p:spPr>
        <p:txBody>
          <a:bodyPr wrap="square" lIns="25400" tIns="25400" rIns="25400" bIns="25400" rtlCol="0" anchor="t">
            <a:normAutofit fontScale="92500" lnSpcReduction="10000"/>
          </a:bodyPr>
          <a:lstStyle/>
          <a:p>
            <a:pPr marL="0" indent="0" algn="l">
              <a:lnSpc>
                <a:spcPct val="142000"/>
              </a:lnSpc>
              <a:buNone/>
            </a:pPr>
            <a:r>
              <a:rPr lang="en-US" sz="1950" dirty="0">
                <a:solidFill>
                  <a:srgbClr val="4B463A"/>
                </a:solidFill>
                <a:latin typeface="Arial" pitchFamily="34" charset="0"/>
                <a:ea typeface="Arial" pitchFamily="34" charset="-122"/>
                <a:cs typeface="Arial" pitchFamily="34" charset="-120"/>
              </a:rPr>
              <a:t>Vendors see patterns nobody else does. Write one up.</a:t>
            </a:r>
            <a:endParaRPr lang="en-US" sz="1950" dirty="0"/>
          </a:p>
        </p:txBody>
      </p:sp>
      <p:sp>
        <p:nvSpPr>
          <p:cNvPr id="17" name="Shape 15"/>
          <p:cNvSpPr/>
          <p:nvPr/>
        </p:nvSpPr>
        <p:spPr>
          <a:xfrm>
            <a:off x="1143000" y="6328730"/>
            <a:ext cx="16002000" cy="842274"/>
          </a:xfrm>
          <a:prstGeom prst="rect">
            <a:avLst/>
          </a:prstGeom>
          <a:solidFill>
            <a:srgbClr val="FAF6ED"/>
          </a:solidFill>
          <a:ln w="5953">
            <a:solidFill>
              <a:srgbClr val="1A1813">
                <a:alpha val="13000"/>
              </a:srgbClr>
            </a:solidFill>
            <a:prstDash val="solid"/>
          </a:ln>
        </p:spPr>
        <p:txBody>
          <a:bodyPr/>
          <a:lstStyle/>
          <a:p>
            <a:endParaRPr lang="en-GB"/>
          </a:p>
        </p:txBody>
      </p:sp>
      <p:sp>
        <p:nvSpPr>
          <p:cNvPr id="18" name="Text 16"/>
          <p:cNvSpPr/>
          <p:nvPr/>
        </p:nvSpPr>
        <p:spPr>
          <a:xfrm>
            <a:off x="1415635" y="6629828"/>
            <a:ext cx="710673" cy="278085"/>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350" kern="0" spc="189" dirty="0">
                <a:solidFill>
                  <a:srgbClr val="7A7466"/>
                </a:solidFill>
                <a:latin typeface="Courier New" pitchFamily="34" charset="0"/>
                <a:ea typeface="Courier New" pitchFamily="34" charset="-122"/>
                <a:cs typeface="Courier New" pitchFamily="34" charset="-120"/>
              </a:rPr>
              <a:t>WHERE</a:t>
            </a:r>
            <a:endParaRPr lang="en-US" sz="1350" dirty="0"/>
          </a:p>
        </p:txBody>
      </p:sp>
      <p:sp>
        <p:nvSpPr>
          <p:cNvPr id="19" name="Text 17"/>
          <p:cNvSpPr/>
          <p:nvPr/>
        </p:nvSpPr>
        <p:spPr>
          <a:xfrm>
            <a:off x="2221539" y="6563227"/>
            <a:ext cx="3132159" cy="41138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100" dirty="0">
                <a:solidFill>
                  <a:srgbClr val="1A1813"/>
                </a:solidFill>
                <a:latin typeface="Courier New" pitchFamily="34" charset="0"/>
                <a:ea typeface="Courier New" pitchFamily="34" charset="-122"/>
                <a:cs typeface="Courier New" pitchFamily="34" charset="-120"/>
              </a:rPr>
              <a:t>stream.tg.community</a:t>
            </a:r>
            <a:endParaRPr lang="en-US" sz="2100" dirty="0"/>
          </a:p>
        </p:txBody>
      </p:sp>
      <p:sp>
        <p:nvSpPr>
          <p:cNvPr id="20" name="Shape 18"/>
          <p:cNvSpPr/>
          <p:nvPr/>
        </p:nvSpPr>
        <p:spPr>
          <a:xfrm>
            <a:off x="1143000" y="7475730"/>
            <a:ext cx="14763750" cy="9525"/>
          </a:xfrm>
          <a:prstGeom prst="rect">
            <a:avLst/>
          </a:prstGeom>
          <a:solidFill>
            <a:srgbClr val="1A1813">
              <a:alpha val="13000"/>
            </a:srgbClr>
          </a:solidFill>
          <a:ln/>
        </p:spPr>
        <p:txBody>
          <a:bodyPr/>
          <a:lstStyle/>
          <a:p>
            <a:endParaRPr lang="en-GB"/>
          </a:p>
        </p:txBody>
      </p:sp>
      <p:sp>
        <p:nvSpPr>
          <p:cNvPr id="21" name="Text 19"/>
          <p:cNvSpPr/>
          <p:nvPr/>
        </p:nvSpPr>
        <p:spPr>
          <a:xfrm>
            <a:off x="1143000" y="7786483"/>
            <a:ext cx="15206662" cy="1085776"/>
          </a:xfrm>
          <a:prstGeom prst="rect">
            <a:avLst/>
          </a:prstGeom>
          <a:noFill/>
          <a:ln/>
        </p:spPr>
        <p:txBody>
          <a:bodyPr wrap="square" lIns="25400" tIns="25400" rIns="25400" bIns="25400" rtlCol="0" anchor="t">
            <a:normAutofit fontScale="92500" lnSpcReduction="20000"/>
          </a:bodyPr>
          <a:lstStyle/>
          <a:p>
            <a:pPr marL="0" indent="0" algn="l">
              <a:lnSpc>
                <a:spcPct val="125000"/>
              </a:lnSpc>
              <a:buNone/>
            </a:pPr>
            <a:r>
              <a:rPr lang="en-US" sz="3300" i="1" dirty="0">
                <a:solidFill>
                  <a:srgbClr val="1A1813"/>
                </a:solidFill>
                <a:latin typeface="Georgia" pitchFamily="34" charset="0"/>
                <a:ea typeface="Georgia" pitchFamily="34" charset="-122"/>
                <a:cs typeface="Georgia" pitchFamily="34" charset="-120"/>
              </a:rPr>
              <a:t>Drafters propose. The community reviews. </a:t>
            </a:r>
            <a:r>
              <a:rPr lang="en-US" sz="3300" i="1" dirty="0">
                <a:solidFill>
                  <a:srgbClr val="000000"/>
                </a:solidFill>
                <a:latin typeface="Georgia" pitchFamily="34" charset="0"/>
                <a:ea typeface="Georgia" pitchFamily="34" charset="-122"/>
                <a:cs typeface="Georgia" pitchFamily="34" charset="-120"/>
              </a:rPr>
              <a:t>Stable versions are ratified through a lightweight RFC process.</a:t>
            </a:r>
            <a:endParaRPr lang="en-US" sz="3300" dirty="0"/>
          </a:p>
        </p:txBody>
      </p:sp>
      <p:sp>
        <p:nvSpPr>
          <p:cNvPr id="22" name="Shape 20"/>
          <p:cNvSpPr/>
          <p:nvPr/>
        </p:nvSpPr>
        <p:spPr>
          <a:xfrm>
            <a:off x="1143000" y="9215158"/>
            <a:ext cx="16002000" cy="9525"/>
          </a:xfrm>
          <a:prstGeom prst="rect">
            <a:avLst/>
          </a:prstGeom>
          <a:solidFill>
            <a:srgbClr val="1A1813">
              <a:alpha val="13000"/>
            </a:srgbClr>
          </a:solidFill>
          <a:ln/>
        </p:spPr>
        <p:txBody>
          <a:bodyPr/>
          <a:lstStyle/>
          <a:p>
            <a:endParaRPr lang="en-GB"/>
          </a:p>
        </p:txBody>
      </p:sp>
      <p:sp>
        <p:nvSpPr>
          <p:cNvPr id="23" name="Text 21"/>
          <p:cNvSpPr/>
          <p:nvPr/>
        </p:nvSpPr>
        <p:spPr>
          <a:xfrm>
            <a:off x="1143000" y="9487793"/>
            <a:ext cx="3516732"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60" dirty="0">
                <a:solidFill>
                  <a:srgbClr val="7A7466"/>
                </a:solidFill>
                <a:latin typeface="Courier New" pitchFamily="34" charset="0"/>
                <a:ea typeface="Courier New" pitchFamily="34" charset="-122"/>
                <a:cs typeface="Courier New" pitchFamily="34" charset="-120"/>
              </a:rPr>
              <a:t>TOM CRANSTOUN · TG.COMMUNITY</a:t>
            </a:r>
            <a:endParaRPr lang="en-US" sz="1500" dirty="0"/>
          </a:p>
        </p:txBody>
      </p:sp>
      <p:sp>
        <p:nvSpPr>
          <p:cNvPr id="24" name="Text 22"/>
          <p:cNvSpPr/>
          <p:nvPr/>
        </p:nvSpPr>
        <p:spPr>
          <a:xfrm>
            <a:off x="16901108" y="9487793"/>
            <a:ext cx="320092"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60" dirty="0">
                <a:solidFill>
                  <a:srgbClr val="7A7466"/>
                </a:solidFill>
                <a:latin typeface="Courier New" pitchFamily="34" charset="0"/>
                <a:ea typeface="Courier New" pitchFamily="34" charset="-122"/>
                <a:cs typeface="Courier New" pitchFamily="34" charset="-120"/>
              </a:rPr>
              <a:t>10</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3EFE7"/>
        </a:solidFill>
        <a:effectLst/>
      </p:bgPr>
    </p:bg>
    <p:spTree>
      <p:nvGrpSpPr>
        <p:cNvPr id="1" name=""/>
        <p:cNvGrpSpPr/>
        <p:nvPr/>
      </p:nvGrpSpPr>
      <p:grpSpPr>
        <a:xfrm>
          <a:off x="0" y="0"/>
          <a:ext cx="0" cy="0"/>
          <a:chOff x="0" y="0"/>
          <a:chExt cx="0" cy="0"/>
        </a:xfrm>
      </p:grpSpPr>
      <p:sp>
        <p:nvSpPr>
          <p:cNvPr id="2" name="Text 0"/>
          <p:cNvSpPr/>
          <p:nvPr/>
        </p:nvSpPr>
        <p:spPr>
          <a:xfrm>
            <a:off x="1352476" y="398859"/>
            <a:ext cx="1836744" cy="258366"/>
          </a:xfrm>
          <a:prstGeom prst="rect">
            <a:avLst/>
          </a:prstGeom>
          <a:noFill/>
          <a:ln/>
        </p:spPr>
        <p:txBody>
          <a:bodyPr wrap="square" lIns="0" tIns="0" rIns="0" bIns="0" rtlCol="0" anchor="t">
            <a:normAutofit fontScale="92500" lnSpcReduction="20000"/>
          </a:bodyPr>
          <a:lstStyle/>
          <a:p>
            <a:pPr marL="0" indent="0" algn="l">
              <a:lnSpc>
                <a:spcPct val="140000"/>
              </a:lnSpc>
              <a:buNone/>
            </a:pPr>
            <a:r>
              <a:rPr lang="en-US" sz="1500" kern="0" spc="90" dirty="0">
                <a:solidFill>
                  <a:srgbClr val="7A7466"/>
                </a:solidFill>
                <a:latin typeface="Courier New" pitchFamily="34" charset="0"/>
                <a:ea typeface="Courier New" pitchFamily="34" charset="-122"/>
                <a:cs typeface="Courier New" pitchFamily="34" charset="-120"/>
              </a:rPr>
              <a:t>THIS AFTERNOON</a:t>
            </a:r>
            <a:endParaRPr lang="en-US" sz="1500" dirty="0"/>
          </a:p>
        </p:txBody>
      </p:sp>
      <p:sp>
        <p:nvSpPr>
          <p:cNvPr id="3" name="Text 1"/>
          <p:cNvSpPr/>
          <p:nvPr/>
        </p:nvSpPr>
        <p:spPr>
          <a:xfrm>
            <a:off x="12309481" y="381000"/>
            <a:ext cx="3238027"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7A7466"/>
                </a:solidFill>
                <a:latin typeface="Courier New" pitchFamily="34" charset="0"/>
                <a:ea typeface="Courier New" pitchFamily="34" charset="-122"/>
                <a:cs typeface="Courier New" pitchFamily="34" charset="-120"/>
              </a:rPr>
              <a:t>CMS SUMMIT FRANKFURT 2026</a:t>
            </a:r>
            <a:endParaRPr lang="en-US" sz="1500" dirty="0"/>
          </a:p>
        </p:txBody>
      </p:sp>
      <p:sp>
        <p:nvSpPr>
          <p:cNvPr id="4" name="Text 2"/>
          <p:cNvSpPr/>
          <p:nvPr/>
        </p:nvSpPr>
        <p:spPr>
          <a:xfrm>
            <a:off x="15796059" y="381000"/>
            <a:ext cx="201960"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1A1813">
                    <a:alpha val="7000"/>
                  </a:srgbClr>
                </a:solidFill>
                <a:latin typeface="Courier New" pitchFamily="34" charset="0"/>
                <a:ea typeface="Courier New" pitchFamily="34" charset="-122"/>
                <a:cs typeface="Courier New" pitchFamily="34" charset="-120"/>
              </a:rPr>
              <a:t>·</a:t>
            </a:r>
            <a:endParaRPr lang="en-US" sz="1500" dirty="0"/>
          </a:p>
        </p:txBody>
      </p:sp>
      <p:sp>
        <p:nvSpPr>
          <p:cNvPr id="5" name="Text 3"/>
          <p:cNvSpPr/>
          <p:nvPr/>
        </p:nvSpPr>
        <p:spPr>
          <a:xfrm>
            <a:off x="16264682" y="381000"/>
            <a:ext cx="956518"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7A7466"/>
                </a:solidFill>
                <a:latin typeface="Courier New" pitchFamily="34" charset="0"/>
                <a:ea typeface="Courier New" pitchFamily="34" charset="-122"/>
                <a:cs typeface="Courier New" pitchFamily="34" charset="-120"/>
              </a:rPr>
              <a:t>11 / 11</a:t>
            </a:r>
            <a:endParaRPr lang="en-US" sz="1500" dirty="0"/>
          </a:p>
        </p:txBody>
      </p:sp>
      <p:sp>
        <p:nvSpPr>
          <p:cNvPr id="6" name="Text 4"/>
          <p:cNvSpPr/>
          <p:nvPr/>
        </p:nvSpPr>
        <p:spPr>
          <a:xfrm>
            <a:off x="1904907" y="3640801"/>
            <a:ext cx="2482193" cy="331477"/>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650" kern="0" spc="363" dirty="0">
                <a:solidFill>
                  <a:srgbClr val="000000"/>
                </a:solidFill>
                <a:latin typeface="Courier New" pitchFamily="34" charset="0"/>
                <a:ea typeface="Courier New" pitchFamily="34" charset="-122"/>
                <a:cs typeface="Courier New" pitchFamily="34" charset="-120"/>
              </a:rPr>
              <a:t>THE ROUNDTABLE</a:t>
            </a:r>
            <a:endParaRPr lang="en-US" sz="1650" dirty="0"/>
          </a:p>
        </p:txBody>
      </p:sp>
      <p:sp>
        <p:nvSpPr>
          <p:cNvPr id="7" name="Text 5"/>
          <p:cNvSpPr/>
          <p:nvPr/>
        </p:nvSpPr>
        <p:spPr>
          <a:xfrm>
            <a:off x="1143000" y="4467541"/>
            <a:ext cx="15893415" cy="2902855"/>
          </a:xfrm>
          <a:prstGeom prst="rect">
            <a:avLst/>
          </a:prstGeom>
          <a:noFill/>
          <a:ln/>
        </p:spPr>
        <p:txBody>
          <a:bodyPr wrap="square" lIns="25400" tIns="25400" rIns="25400" bIns="25400" rtlCol="0" anchor="t">
            <a:normAutofit/>
          </a:bodyPr>
          <a:lstStyle/>
          <a:p>
            <a:pPr marL="0" indent="0" algn="l">
              <a:lnSpc>
                <a:spcPct val="96000"/>
              </a:lnSpc>
              <a:buNone/>
            </a:pPr>
            <a:r>
              <a:rPr lang="en-US" sz="11700" kern="0" spc="-328" dirty="0">
                <a:solidFill>
                  <a:srgbClr val="1A1813"/>
                </a:solidFill>
                <a:latin typeface="Georgia" pitchFamily="34" charset="0"/>
                <a:ea typeface="Georgia" pitchFamily="34" charset="-122"/>
                <a:cs typeface="Georgia" pitchFamily="34" charset="-120"/>
              </a:rPr>
              <a:t>Discuss </a:t>
            </a:r>
            <a:r>
              <a:rPr lang="en-US" sz="11700" i="1" kern="0" spc="-328" dirty="0">
                <a:solidFill>
                  <a:srgbClr val="000000"/>
                </a:solidFill>
                <a:latin typeface="Georgia" pitchFamily="34" charset="0"/>
                <a:ea typeface="Georgia" pitchFamily="34" charset="-122"/>
                <a:cs typeface="Georgia" pitchFamily="34" charset="-120"/>
              </a:rPr>
              <a:t>MX with us.</a:t>
            </a:r>
            <a:endParaRPr lang="en-US" sz="11700" dirty="0"/>
          </a:p>
        </p:txBody>
      </p:sp>
      <p:sp>
        <p:nvSpPr>
          <p:cNvPr id="8" name="Shape 6"/>
          <p:cNvSpPr/>
          <p:nvPr/>
        </p:nvSpPr>
        <p:spPr>
          <a:xfrm>
            <a:off x="1143000" y="8018022"/>
            <a:ext cx="16002000" cy="9525"/>
          </a:xfrm>
          <a:prstGeom prst="rect">
            <a:avLst/>
          </a:prstGeom>
          <a:solidFill>
            <a:srgbClr val="1A1813">
              <a:alpha val="13000"/>
            </a:srgbClr>
          </a:solidFill>
          <a:ln/>
        </p:spPr>
        <p:txBody>
          <a:bodyPr/>
          <a:lstStyle/>
          <a:p>
            <a:endParaRPr lang="en-GB"/>
          </a:p>
        </p:txBody>
      </p:sp>
      <p:sp>
        <p:nvSpPr>
          <p:cNvPr id="9" name="Text 7"/>
          <p:cNvSpPr/>
          <p:nvPr/>
        </p:nvSpPr>
        <p:spPr>
          <a:xfrm>
            <a:off x="1143000" y="8340607"/>
            <a:ext cx="4763387" cy="514350"/>
          </a:xfrm>
          <a:prstGeom prst="rect">
            <a:avLst/>
          </a:prstGeom>
          <a:noFill/>
          <a:ln/>
        </p:spPr>
        <p:txBody>
          <a:bodyPr wrap="square" lIns="0" tIns="0" rIns="0" bIns="0" rtlCol="0" anchor="t">
            <a:normAutofit fontScale="92500" lnSpcReduction="10000"/>
          </a:bodyPr>
          <a:lstStyle/>
          <a:p>
            <a:pPr marL="0" indent="0" algn="l">
              <a:lnSpc>
                <a:spcPct val="120000"/>
              </a:lnSpc>
              <a:buNone/>
            </a:pPr>
            <a:r>
              <a:rPr lang="en-US" sz="3300" dirty="0">
                <a:solidFill>
                  <a:srgbClr val="1A1813"/>
                </a:solidFill>
                <a:latin typeface="Georgia" pitchFamily="34" charset="0"/>
                <a:ea typeface="Georgia" pitchFamily="34" charset="-122"/>
                <a:cs typeface="Georgia" pitchFamily="34" charset="-120"/>
              </a:rPr>
              <a:t>Scott &amp; Tom </a:t>
            </a:r>
            <a:endParaRPr lang="en-US" sz="3300" dirty="0"/>
          </a:p>
        </p:txBody>
      </p:sp>
      <p:sp>
        <p:nvSpPr>
          <p:cNvPr id="10" name="Text 8"/>
          <p:cNvSpPr/>
          <p:nvPr/>
        </p:nvSpPr>
        <p:spPr>
          <a:xfrm>
            <a:off x="1143000" y="8869691"/>
            <a:ext cx="13448201" cy="312409"/>
          </a:xfrm>
          <a:prstGeom prst="rect">
            <a:avLst/>
          </a:prstGeom>
          <a:noFill/>
          <a:ln/>
        </p:spPr>
        <p:txBody>
          <a:bodyPr wrap="square" lIns="25400" tIns="25400" rIns="25400" bIns="25400" rtlCol="0" anchor="t">
            <a:normAutofit fontScale="92500" lnSpcReduction="20000"/>
          </a:bodyPr>
          <a:lstStyle/>
          <a:p>
            <a:pPr marL="0" indent="0" algn="l">
              <a:lnSpc>
                <a:spcPct val="120000"/>
              </a:lnSpc>
              <a:buNone/>
            </a:pPr>
            <a:r>
              <a:rPr lang="en-US" sz="1800" dirty="0">
                <a:solidFill>
                  <a:srgbClr val="4B463A"/>
                </a:solidFill>
                <a:latin typeface="Arial" pitchFamily="34" charset="0"/>
                <a:ea typeface="Arial" pitchFamily="34" charset="-122"/>
                <a:cs typeface="Arial" pitchFamily="34" charset="-120"/>
              </a:rPr>
              <a:t>Bring your edge cases. The standard gets real where products meet content.</a:t>
            </a:r>
            <a:endParaRPr lang="en-US" sz="1800" dirty="0"/>
          </a:p>
        </p:txBody>
      </p:sp>
      <p:sp>
        <p:nvSpPr>
          <p:cNvPr id="11" name="Text 9"/>
          <p:cNvSpPr/>
          <p:nvPr/>
        </p:nvSpPr>
        <p:spPr>
          <a:xfrm>
            <a:off x="14425008" y="8431485"/>
            <a:ext cx="2719992" cy="750615"/>
          </a:xfrm>
          <a:prstGeom prst="rect">
            <a:avLst/>
          </a:prstGeom>
          <a:noFill/>
          <a:ln/>
        </p:spPr>
        <p:txBody>
          <a:bodyPr wrap="square" lIns="25400" tIns="25400" rIns="25400" bIns="25400" rtlCol="0" anchor="t">
            <a:normAutofit fontScale="92500" lnSpcReduction="10000"/>
          </a:bodyPr>
          <a:lstStyle/>
          <a:p>
            <a:pPr marL="0" indent="0" algn="r">
              <a:lnSpc>
                <a:spcPct val="170000"/>
              </a:lnSpc>
              <a:buNone/>
            </a:pPr>
            <a:r>
              <a:rPr lang="en-US" sz="1650" kern="0" spc="165" dirty="0">
                <a:solidFill>
                  <a:srgbClr val="4B463A"/>
                </a:solidFill>
                <a:latin typeface="Courier New" pitchFamily="34" charset="0"/>
                <a:ea typeface="Courier New" pitchFamily="34" charset="-122"/>
                <a:cs typeface="Courier New" pitchFamily="34" charset="-120"/>
              </a:rPr>
              <a:t>TG.COMMUNITY FRANKFURT · 12 MAY</a:t>
            </a:r>
            <a:endParaRPr lang="en-US" sz="1650" dirty="0"/>
          </a:p>
        </p:txBody>
      </p:sp>
    </p:spTree>
  </p:cSld>
  <p:clrMapOvr>
    <a:masterClrMapping/>
  </p:clrMapOvr>
</p:sld>
</file>

<file path=ppt/theme/theme1.xml><?xml version="1.0" encoding="utf-8"?>
<a:theme xmlns:a="http://schemas.openxmlformats.org/drawingml/2006/main" name="Gallery">
  <a:themeElements>
    <a:clrScheme name="Gallery">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Gallery">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lery">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Gallery</Template>
  <TotalTime>863</TotalTime>
  <Words>2994</Words>
  <Application>Microsoft Macintosh PowerPoint</Application>
  <PresentationFormat>Custom</PresentationFormat>
  <Paragraphs>218</Paragraphs>
  <Slides>12</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Arial</vt:lpstr>
      <vt:lpstr>Courier New</vt:lpstr>
      <vt:lpstr>Georgia</vt:lpstr>
      <vt:lpstr>Gill Sans MT</vt:lpstr>
      <vt:lpstr>Gallery</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tom cranstoun</cp:lastModifiedBy>
  <cp:revision>10</cp:revision>
  <dcterms:created xsi:type="dcterms:W3CDTF">2026-05-11T06:44:50Z</dcterms:created>
  <dcterms:modified xsi:type="dcterms:W3CDTF">2026-05-12T10:14:17Z</dcterms:modified>
</cp:coreProperties>
</file>