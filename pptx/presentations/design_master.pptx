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Mx1"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811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Tom Cranstoun. Forty-seven years in content systems — Nissan-Renault, BBC, Ford, McLaren, EE. I'm here for fifteen minutes to tell you why the document layer of the AI stack is missing, why we've already built it, and why it sits cleanly on top of the Bare Metal portfolio. The pitch is short. The work behind it is not.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in one sentence. Machines cannot reliably act on documents designed for human eyes. Every enterprise AI deployment hits the same four failures. Inference is wasted re-deriving meaning that should have been explicit in the document. Energy cost compounds. Hallucinations are not a model problem — they're an infrastructure problem; the agent is guessing because the source was ambiguous. And there is no provenance, no way to verify origin, no way to prove a document hasn't been altered. Contracts. Policies. Manufacturing specs. Government archives. Scientific papers. The substrate of every enterprise. This is not a web problem. It is a document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a cog? A cog is a small set of declarations a document carries about itself — in plain text, in the file, before the prose begins. Three of them. Identity — who wrote it, who publishes it, what version. The librarian's catalogue card, made structured. Provenance — was this written by a human, or generated by an agent. The boundary regulators now require, and the one no incumbent can answer for legacy content. Conformance — the standards the document promises to obey. Schema.org. Dublin Core. MX core. An agent can verify the promise before acting on the contents. That's it. Three cogs. Human-readable. Machine-verifiable. The whole thesis sits on top of this.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what that actually looks like in a file. This is the front matter of a real MX document — the talk I gave at London CMS Experts. Plain YAML. The publisher reads it. Git reads it. A human reads it. And critically, an agent reads it. The provenance fields are highlighted. ProvenanceAuthor, provenancePublisher, provenanceOrigin — human-directed, in this case. ConformsTo lists three standards the document promises to follow. CanonicalUri is a resolvable address for the original; tampering becomes detectable. Nothing proprietary. Nothing to install. The document carries its passport in its header.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insight. I've spent forty-seven years inside this. Two hundred sites at Nissan-Renault, in thirty languages. Eight thousand pages across three CMSs at EE in twenty-four days, four hundred and fifty thousand pounds saved. The BBC. Ford. McLaren. I published the diagnosis in 2024. Documents lack four things machines need — structure, state, intent, and provenance. Every enterprise solves this from scratch, badly. MX is the infrastructure layer, so no one has to solve it again. The work is the moat.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MX is. Three components. COGs are the artefact — portable, self-describing documents; structured metadata, human-readable content. REGINALD is the registry — Registry for Genuine Information, Notarised Authentication, and Legitimate Documentation. It tells machines where COGs live and attests their integrity. The Gathering is the standards body — structurally separate from any commercial entity. Built on Markdown, YAML, and HTML. Nothing proprietary. Nothing to install. Nothing to lock in. That's deliberate. Standards win because they are open.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in one line. Document becomes a registered COG; REGINALD indexes it; an agent reads attested metadata and executes safely. The mental model is DNS. REGINALD doesn't hold the document — the publisher does. It points to where the document lives and attests it hasn't been altered. Signing is optional, layered on top, the way DNSSEC layers on DNS. Unsigned COGs are still registered and discoverable. Signed COGs carry cryptographic provenance for the people who need it — banks, governments, defence. This is metadata that executes, not metadata that describes.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sits in your portfolio. You own the physical stack — silicon at DreamBig, compute at FluidStack, racks and OS at Oxide, orchestration at Callosum, sovereign runtime at MeetKai. There is one layer missing between the runtime and the applications: the document-native machine runtime. That is MX. We are not adjacent to your thesis. We complete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Three conditions converged. Frontier models capable of acting on structured input. Inference cost making structural ambiguity expensive at enterprise scale. And regulatory pressure on AI provenance — the EU AI Act, the UK assurance regime. One number from Adobe's 2025 holiday data. Seven hundred percent growth in AI-referred retail traffic, year on year. AI-referred users converting thirty percent higher than direct. Human browsing is becoming the exception. Standards that win at this velocity are already published, governed, and operational when the wave arrives. MX 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Not a prototype. A functioning ecosystem. The Handbook published April 2026, three hundred and twenty pages. The Protocols publishes July 1st, eight hundred pages, pre-orders open. REGINALD alpha is live — eighty-nine COGs, two test publishers, Ed25519 attestation working. We've audited Leica Microsystems — fourteen thousand URLs across ten locales. The Gathering is incorporated as an independent body. CMS Summit Frankfurt this month, two hundred practitioners, second-day workshop confirmed. IDHL sponsorship and team training agreed for July. Mozilla Fest Barcelona invited us in October — Mozilla in conversation as a sponsor. Germany and Canada in active discussion. Institutional validation is compounding, monthly.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position. Every competitor in this space raised on an agent-OS narrative. None of them is document-native. Plot two axes — open standards versus proprietary, and executable runtime versus queried data. The top-right quadrant — open and executable — has one occupant. Us. /dev/agents at fifty-six million, Cognition at one-seventy-five, Letta, E2B — all proprietary, all queried, none document-native. The moat is architecture, not capital. We are the only company that has chosen the harder, more durable position.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revenue. The Local Reginald Machine. REGINALD for organisations that will not put their documents on the internet. Banks, law firms, government, defence. Twenty-five thousand pounds per server per year. A mid-size law firm, two servers, fifty thousand. A regional bank, five servers, one hundred and twenty-five. A global bank per division, ten to twenty servers, a quarter to half a million. Ten enterprise clients at five servers average — one and a quarter million ARR from on-prem alone. Before a single SaaS subscription. Regulated buyers don't get a choice; this is the only way they can deploy.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Pre-Series A infrastructure round. The investable entity is CogNovaMX Limited — incorporated, one hundred percent founder-owned. We're comfortable with a range; we want a lead investor to shape the structure. Use of funds. Three hires — a senior engineer for REGINALD production, a second for tooling and integrations, a partnership lead. Local Reginald Machine as the primary revenue motion. SaaS hardening to production scale. Marketing. Agency certification. The Gathering operational support. Reserve. The milestone we're buying — five hundred paying publishers, ten regulated-sector enterprises on Local Reginald Machine. At that point network effects compound. Valuation moves from services multiples — two to five times — to platform multiples. Fifty to one hundred times.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pitch. The machine layer for meaning, for all documents, everywhere, for all machines. The registry is at reginald.allabout.network. The standards body is at tg.community. I'm at info@cognovamx.com.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8482B"/>
        </a:solidFill>
        <a:effectLst/>
      </p:bgPr>
    </p:bg>
    <p:spTree>
      <p:nvGrpSpPr>
        <p:cNvPr id="1" name=""/>
        <p:cNvGrpSpPr/>
        <p:nvPr/>
      </p:nvGrpSpPr>
      <p:grpSpPr>
        <a:xfrm>
          <a:off x="0" y="0"/>
          <a:ext cx="0" cy="0"/>
          <a:chOff x="0" y="0"/>
          <a:chExt cx="0" cy="0"/>
        </a:xfrm>
      </p:grpSpPr>
      <p:sp>
        <p:nvSpPr>
          <p:cNvPr id="2" name="Text 0"/>
          <p:cNvSpPr/>
          <p:nvPr/>
        </p:nvSpPr>
        <p:spPr>
          <a:xfrm>
            <a:off x="1238250" y="952500"/>
            <a:ext cx="810919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96" dirty="0">
                <a:solidFill>
                  <a:srgbClr val="FBF2E6">
                    <a:alpha val="85000"/>
                  </a:srgbClr>
                </a:solidFill>
                <a:latin typeface="JetBrains Mono" pitchFamily="34" charset="0"/>
                <a:ea typeface="JetBrains Mono" pitchFamily="34" charset="-122"/>
                <a:cs typeface="JetBrains Mono" pitchFamily="34" charset="-120"/>
              </a:rPr>
              <a:t>MX OS · PRE-SERIES A · Investor Deck</a:t>
            </a:r>
            <a:endParaRPr lang="en-US" sz="1800" dirty="0"/>
          </a:p>
        </p:txBody>
      </p:sp>
      <p:sp>
        <p:nvSpPr>
          <p:cNvPr id="3" name="Text 1"/>
          <p:cNvSpPr/>
          <p:nvPr/>
        </p:nvSpPr>
        <p:spPr>
          <a:xfrm>
            <a:off x="15681951" y="952500"/>
            <a:ext cx="1443998" cy="411388"/>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i="1" kern="0" spc="-21" dirty="0" err="1">
                <a:solidFill>
                  <a:srgbClr val="FBF2E6"/>
                </a:solidFill>
                <a:latin typeface="Source Serif 4" pitchFamily="34" charset="0"/>
                <a:ea typeface="Source Serif 4" pitchFamily="34" charset="-122"/>
                <a:cs typeface="Source Serif 4" pitchFamily="34" charset="-120"/>
              </a:rPr>
              <a:t>CogNova</a:t>
            </a:r>
            <a:r>
              <a:rPr lang="en-US" sz="2100" kern="0" spc="-21" dirty="0" err="1">
                <a:solidFill>
                  <a:srgbClr val="FBF2E6"/>
                </a:solidFill>
                <a:latin typeface="Source Serif 4" pitchFamily="34" charset="0"/>
                <a:ea typeface="Source Serif 4" pitchFamily="34" charset="-122"/>
                <a:cs typeface="Source Serif 4" pitchFamily="34" charset="-120"/>
              </a:rPr>
              <a:t>MX</a:t>
            </a:r>
            <a:endParaRPr lang="en-US" sz="2100" dirty="0"/>
          </a:p>
        </p:txBody>
      </p:sp>
      <p:sp>
        <p:nvSpPr>
          <p:cNvPr id="4" name="Text 2"/>
          <p:cNvSpPr/>
          <p:nvPr/>
        </p:nvSpPr>
        <p:spPr>
          <a:xfrm>
            <a:off x="1238250" y="1686020"/>
            <a:ext cx="16285845" cy="3547873"/>
          </a:xfrm>
          <a:prstGeom prst="rect">
            <a:avLst/>
          </a:prstGeom>
          <a:noFill/>
          <a:ln/>
        </p:spPr>
        <p:txBody>
          <a:bodyPr wrap="square" lIns="25400" tIns="25400" rIns="25400" bIns="25400" rtlCol="0" anchor="t">
            <a:normAutofit/>
          </a:bodyPr>
          <a:lstStyle/>
          <a:p>
            <a:pPr marL="0" indent="0" algn="l">
              <a:lnSpc>
                <a:spcPct val="94000"/>
              </a:lnSpc>
              <a:buNone/>
            </a:pPr>
            <a:r>
              <a:rPr lang="en-US" sz="14700" kern="0" spc="-441" dirty="0">
                <a:solidFill>
                  <a:srgbClr val="FBF2E6"/>
                </a:solidFill>
                <a:latin typeface="Source Serif 4" pitchFamily="34" charset="0"/>
                <a:ea typeface="Source Serif 4" pitchFamily="34" charset="-122"/>
                <a:cs typeface="Source Serif 4" pitchFamily="34" charset="-120"/>
              </a:rPr>
              <a:t>The machine layer </a:t>
            </a:r>
            <a:r>
              <a:rPr lang="en-US" sz="14700" i="1" kern="0" spc="-441" dirty="0">
                <a:solidFill>
                  <a:srgbClr val="FBF2E6"/>
                </a:solidFill>
                <a:latin typeface="Source Serif 4" pitchFamily="34" charset="0"/>
                <a:ea typeface="Source Serif 4" pitchFamily="34" charset="-122"/>
                <a:cs typeface="Source Serif 4" pitchFamily="34" charset="-120"/>
              </a:rPr>
              <a:t>for meaning.</a:t>
            </a:r>
            <a:endParaRPr lang="en-US" sz="14700" dirty="0"/>
          </a:p>
        </p:txBody>
      </p:sp>
      <p:sp>
        <p:nvSpPr>
          <p:cNvPr id="5" name="Text 3"/>
          <p:cNvSpPr/>
          <p:nvPr/>
        </p:nvSpPr>
        <p:spPr>
          <a:xfrm>
            <a:off x="1238250" y="5729139"/>
            <a:ext cx="12753975" cy="1133475"/>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450" dirty="0">
                <a:solidFill>
                  <a:srgbClr val="FBF2E6">
                    <a:alpha val="92000"/>
                  </a:srgbClr>
                </a:solidFill>
                <a:latin typeface="Source Serif 4" pitchFamily="34" charset="0"/>
                <a:ea typeface="Source Serif 4" pitchFamily="34" charset="-122"/>
                <a:cs typeface="Source Serif 4" pitchFamily="34" charset="-120"/>
              </a:rPr>
              <a:t>A universal document runtime. Built on open standards.</a:t>
            </a:r>
          </a:p>
          <a:p>
            <a:pPr marL="0" indent="0" algn="l">
              <a:lnSpc>
                <a:spcPct val="125000"/>
              </a:lnSpc>
              <a:buNone/>
            </a:pPr>
            <a:r>
              <a:rPr lang="en-US" sz="3450" dirty="0">
                <a:solidFill>
                  <a:srgbClr val="FBF2E6">
                    <a:alpha val="92000"/>
                  </a:srgbClr>
                </a:solidFill>
                <a:latin typeface="Source Serif 4" pitchFamily="34" charset="0"/>
                <a:ea typeface="Source Serif 4" pitchFamily="34" charset="-122"/>
                <a:cs typeface="Source Serif 4" pitchFamily="34" charset="-120"/>
              </a:rPr>
              <a:t>Operational at alpha.</a:t>
            </a:r>
            <a:endParaRPr lang="en-US" sz="3450" dirty="0"/>
          </a:p>
        </p:txBody>
      </p:sp>
      <p:sp>
        <p:nvSpPr>
          <p:cNvPr id="6" name="Shape 4"/>
          <p:cNvSpPr/>
          <p:nvPr/>
        </p:nvSpPr>
        <p:spPr>
          <a:xfrm>
            <a:off x="1238250" y="8003909"/>
            <a:ext cx="15811500" cy="9525"/>
          </a:xfrm>
          <a:prstGeom prst="rect">
            <a:avLst/>
          </a:prstGeom>
          <a:solidFill>
            <a:srgbClr val="FBF2E6">
              <a:alpha val="35000"/>
            </a:srgbClr>
          </a:solidFill>
          <a:ln/>
        </p:spPr>
        <p:txBody>
          <a:bodyPr/>
          <a:lstStyle/>
          <a:p>
            <a:endParaRPr lang="en-US"/>
          </a:p>
        </p:txBody>
      </p:sp>
      <p:sp>
        <p:nvSpPr>
          <p:cNvPr id="7" name="Text 5"/>
          <p:cNvSpPr/>
          <p:nvPr/>
        </p:nvSpPr>
        <p:spPr>
          <a:xfrm>
            <a:off x="1238250" y="8690683"/>
            <a:ext cx="459147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FBF2E6">
                    <a:alpha val="85000"/>
                  </a:srgbClr>
                </a:solidFill>
                <a:latin typeface="JetBrains Mono" pitchFamily="34" charset="0"/>
                <a:ea typeface="JetBrains Mono" pitchFamily="34" charset="-122"/>
                <a:cs typeface="JetBrains Mono" pitchFamily="34" charset="-120"/>
              </a:rPr>
              <a:t>TOM CRANSTOUN · FOUNDER</a:t>
            </a:r>
            <a:endParaRPr lang="en-US" sz="1800" dirty="0"/>
          </a:p>
        </p:txBody>
      </p:sp>
      <p:sp>
        <p:nvSpPr>
          <p:cNvPr id="8" name="Text 6"/>
          <p:cNvSpPr/>
          <p:nvPr/>
        </p:nvSpPr>
        <p:spPr>
          <a:xfrm>
            <a:off x="13743917" y="8279241"/>
            <a:ext cx="3305832" cy="769523"/>
          </a:xfrm>
          <a:prstGeom prst="rect">
            <a:avLst/>
          </a:prstGeom>
          <a:noFill/>
          <a:ln/>
        </p:spPr>
        <p:txBody>
          <a:bodyPr wrap="square" lIns="25400" tIns="25400" rIns="25400" bIns="25400" rtlCol="0" anchor="t">
            <a:normAutofit/>
          </a:bodyPr>
          <a:lstStyle/>
          <a:p>
            <a:pPr marL="0" indent="0" algn="r">
              <a:lnSpc>
                <a:spcPct val="160000"/>
              </a:lnSpc>
              <a:buNone/>
            </a:pPr>
            <a:r>
              <a:rPr lang="en-US" sz="1800" kern="0" spc="324" dirty="0">
                <a:solidFill>
                  <a:srgbClr val="FBF2E6">
                    <a:alpha val="85000"/>
                  </a:srgbClr>
                </a:solidFill>
                <a:latin typeface="JetBrains Mono" pitchFamily="34" charset="0"/>
                <a:ea typeface="JetBrains Mono" pitchFamily="34" charset="-122"/>
                <a:cs typeface="JetBrains Mono" pitchFamily="34" charset="-120"/>
              </a:rPr>
              <a:t>INFO@COGNOVAMX.COM ALLABOUT.NETWORK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02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THE PROBLEM</a:t>
            </a:r>
            <a:endParaRPr lang="en-US" sz="1800" dirty="0"/>
          </a:p>
        </p:txBody>
      </p:sp>
      <p:sp>
        <p:nvSpPr>
          <p:cNvPr id="4" name="Text 2"/>
          <p:cNvSpPr/>
          <p:nvPr/>
        </p:nvSpPr>
        <p:spPr>
          <a:xfrm>
            <a:off x="1238251" y="1577240"/>
            <a:ext cx="13033562" cy="154383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Machines cannot reliably act on documents designed for human eyes.</a:t>
            </a:r>
            <a:endParaRPr lang="en-US" sz="5700" dirty="0"/>
          </a:p>
        </p:txBody>
      </p:sp>
      <p:sp>
        <p:nvSpPr>
          <p:cNvPr id="5" name="Text 3"/>
          <p:cNvSpPr/>
          <p:nvPr/>
        </p:nvSpPr>
        <p:spPr>
          <a:xfrm>
            <a:off x="1238250" y="3997320"/>
            <a:ext cx="5440456" cy="1200164"/>
          </a:xfrm>
          <a:prstGeom prst="rect">
            <a:avLst/>
          </a:prstGeom>
          <a:noFill/>
          <a:ln/>
        </p:spPr>
        <p:txBody>
          <a:bodyPr wrap="square" lIns="25400" tIns="25400" rIns="25400" bIns="25400" rtlCol="0" anchor="t">
            <a:normAutofit/>
          </a:bodyPr>
          <a:lstStyle/>
          <a:p>
            <a:pPr marL="0" indent="0" algn="l">
              <a:lnSpc>
                <a:spcPct val="128000"/>
              </a:lnSpc>
              <a:buNone/>
            </a:pPr>
            <a:r>
              <a:rPr lang="en-US" sz="3000" kern="0" spc="-15" dirty="0">
                <a:solidFill>
                  <a:srgbClr val="2A2A28"/>
                </a:solidFill>
                <a:latin typeface="Source Serif 4" pitchFamily="34" charset="0"/>
                <a:ea typeface="Source Serif 4" pitchFamily="34" charset="-122"/>
                <a:cs typeface="Source Serif 4" pitchFamily="34" charset="-120"/>
              </a:rPr>
              <a:t>Every enterprise AI deployment hits the same four failures.</a:t>
            </a:r>
            <a:endParaRPr lang="en-US" sz="3000" dirty="0"/>
          </a:p>
        </p:txBody>
      </p:sp>
      <p:sp>
        <p:nvSpPr>
          <p:cNvPr id="6" name="Text 4"/>
          <p:cNvSpPr/>
          <p:nvPr/>
        </p:nvSpPr>
        <p:spPr>
          <a:xfrm>
            <a:off x="1238250" y="5353551"/>
            <a:ext cx="7063740" cy="2051296"/>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2A2A28"/>
                </a:solidFill>
                <a:latin typeface="Inter" pitchFamily="34" charset="0"/>
                <a:ea typeface="Inter" pitchFamily="34" charset="-122"/>
                <a:cs typeface="Inter" pitchFamily="34" charset="-120"/>
              </a:rPr>
              <a:t>Not a web problem. A </a:t>
            </a:r>
            <a:r>
              <a:rPr lang="en-US" sz="2250" b="1" dirty="0">
                <a:solidFill>
                  <a:srgbClr val="C8482B"/>
                </a:solidFill>
                <a:latin typeface="Inter" pitchFamily="34" charset="0"/>
                <a:ea typeface="Inter" pitchFamily="34" charset="-122"/>
                <a:cs typeface="Inter" pitchFamily="34" charset="-120"/>
              </a:rPr>
              <a:t>document </a:t>
            </a:r>
            <a:r>
              <a:rPr lang="en-US" sz="2250" dirty="0">
                <a:solidFill>
                  <a:srgbClr val="2A2A28"/>
                </a:solidFill>
                <a:latin typeface="Inter" pitchFamily="34" charset="0"/>
                <a:ea typeface="Inter" pitchFamily="34" charset="-122"/>
                <a:cs typeface="Inter" pitchFamily="34" charset="-120"/>
              </a:rPr>
              <a:t>problem. Contracts, policies, manufacturing specs, government archives, scientific papers —</a:t>
            </a:r>
          </a:p>
          <a:p>
            <a:pPr marL="0" indent="0" algn="l">
              <a:lnSpc>
                <a:spcPct val="145000"/>
              </a:lnSpc>
              <a:buNone/>
            </a:pPr>
            <a:r>
              <a:rPr lang="en-US" sz="2250" dirty="0">
                <a:solidFill>
                  <a:srgbClr val="2A2A28"/>
                </a:solidFill>
                <a:latin typeface="Inter" pitchFamily="34" charset="0"/>
                <a:ea typeface="Inter" pitchFamily="34" charset="-122"/>
                <a:cs typeface="Inter" pitchFamily="34" charset="-120"/>
              </a:rPr>
              <a:t>the substrate of every enterprise.</a:t>
            </a:r>
            <a:endParaRPr lang="en-US" sz="2250" dirty="0"/>
          </a:p>
        </p:txBody>
      </p:sp>
      <p:sp>
        <p:nvSpPr>
          <p:cNvPr id="7" name="Shape 5"/>
          <p:cNvSpPr/>
          <p:nvPr/>
        </p:nvSpPr>
        <p:spPr>
          <a:xfrm>
            <a:off x="9973987" y="4903142"/>
            <a:ext cx="7075762" cy="9525"/>
          </a:xfrm>
          <a:prstGeom prst="rect">
            <a:avLst/>
          </a:prstGeom>
          <a:solidFill>
            <a:srgbClr val="D8D2C4"/>
          </a:solidFill>
          <a:ln/>
        </p:spPr>
        <p:txBody>
          <a:bodyPr/>
          <a:lstStyle/>
          <a:p>
            <a:endParaRPr lang="en-US"/>
          </a:p>
        </p:txBody>
      </p:sp>
      <p:sp>
        <p:nvSpPr>
          <p:cNvPr id="8" name="Text 6"/>
          <p:cNvSpPr/>
          <p:nvPr/>
        </p:nvSpPr>
        <p:spPr>
          <a:xfrm>
            <a:off x="9973987" y="3672604"/>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01</a:t>
            </a:r>
            <a:endParaRPr lang="en-US" sz="1950" dirty="0"/>
          </a:p>
        </p:txBody>
      </p:sp>
      <p:sp>
        <p:nvSpPr>
          <p:cNvPr id="9" name="Text 7"/>
          <p:cNvSpPr/>
          <p:nvPr/>
        </p:nvSpPr>
        <p:spPr>
          <a:xfrm>
            <a:off x="10926487" y="3616320"/>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Wasted inference</a:t>
            </a:r>
            <a:endParaRPr lang="en-US" sz="2700" dirty="0"/>
          </a:p>
        </p:txBody>
      </p:sp>
      <p:sp>
        <p:nvSpPr>
          <p:cNvPr id="10" name="Text 8"/>
          <p:cNvSpPr/>
          <p:nvPr/>
        </p:nvSpPr>
        <p:spPr>
          <a:xfrm>
            <a:off x="10926487" y="4076402"/>
            <a:ext cx="6199462" cy="731504"/>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Agents recompute meaning that should</a:t>
            </a:r>
          </a:p>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already be explicit.</a:t>
            </a:r>
            <a:endParaRPr lang="en-US" sz="1950" dirty="0"/>
          </a:p>
        </p:txBody>
      </p:sp>
      <p:sp>
        <p:nvSpPr>
          <p:cNvPr id="11" name="Shape 9"/>
          <p:cNvSpPr/>
          <p:nvPr/>
        </p:nvSpPr>
        <p:spPr>
          <a:xfrm>
            <a:off x="9973987" y="6484306"/>
            <a:ext cx="7075762" cy="9525"/>
          </a:xfrm>
          <a:prstGeom prst="rect">
            <a:avLst/>
          </a:prstGeom>
          <a:solidFill>
            <a:srgbClr val="D8D2C4"/>
          </a:solidFill>
          <a:ln/>
        </p:spPr>
        <p:txBody>
          <a:bodyPr/>
          <a:lstStyle/>
          <a:p>
            <a:endParaRPr lang="en-US"/>
          </a:p>
        </p:txBody>
      </p:sp>
      <p:sp>
        <p:nvSpPr>
          <p:cNvPr id="12" name="Text 10"/>
          <p:cNvSpPr/>
          <p:nvPr/>
        </p:nvSpPr>
        <p:spPr>
          <a:xfrm>
            <a:off x="9973987" y="5253768"/>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02</a:t>
            </a:r>
            <a:endParaRPr lang="en-US" sz="1950" dirty="0"/>
          </a:p>
        </p:txBody>
      </p:sp>
      <p:sp>
        <p:nvSpPr>
          <p:cNvPr id="13" name="Text 11"/>
          <p:cNvSpPr/>
          <p:nvPr/>
        </p:nvSpPr>
        <p:spPr>
          <a:xfrm>
            <a:off x="10926487" y="5197484"/>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Energy cost</a:t>
            </a:r>
            <a:endParaRPr lang="en-US" sz="2700" dirty="0"/>
          </a:p>
        </p:txBody>
      </p:sp>
      <p:sp>
        <p:nvSpPr>
          <p:cNvPr id="14" name="Text 12"/>
          <p:cNvSpPr/>
          <p:nvPr/>
        </p:nvSpPr>
        <p:spPr>
          <a:xfrm>
            <a:off x="10926487" y="5657566"/>
            <a:ext cx="6306960" cy="731504"/>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Ambiguous documents become</a:t>
            </a:r>
          </a:p>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 compute problem at scale.</a:t>
            </a:r>
            <a:endParaRPr lang="en-US" sz="1950" dirty="0"/>
          </a:p>
        </p:txBody>
      </p:sp>
      <p:sp>
        <p:nvSpPr>
          <p:cNvPr id="15" name="Shape 13"/>
          <p:cNvSpPr/>
          <p:nvPr/>
        </p:nvSpPr>
        <p:spPr>
          <a:xfrm>
            <a:off x="9973987" y="8065469"/>
            <a:ext cx="7075762" cy="9525"/>
          </a:xfrm>
          <a:prstGeom prst="rect">
            <a:avLst/>
          </a:prstGeom>
          <a:solidFill>
            <a:srgbClr val="D8D2C4"/>
          </a:solidFill>
          <a:ln/>
        </p:spPr>
        <p:txBody>
          <a:bodyPr/>
          <a:lstStyle/>
          <a:p>
            <a:endParaRPr lang="en-US"/>
          </a:p>
        </p:txBody>
      </p:sp>
      <p:sp>
        <p:nvSpPr>
          <p:cNvPr id="16" name="Text 14"/>
          <p:cNvSpPr/>
          <p:nvPr/>
        </p:nvSpPr>
        <p:spPr>
          <a:xfrm>
            <a:off x="9973987" y="6834932"/>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03</a:t>
            </a:r>
            <a:endParaRPr lang="en-US" sz="1950" dirty="0"/>
          </a:p>
        </p:txBody>
      </p:sp>
      <p:sp>
        <p:nvSpPr>
          <p:cNvPr id="17" name="Text 15"/>
          <p:cNvSpPr/>
          <p:nvPr/>
        </p:nvSpPr>
        <p:spPr>
          <a:xfrm>
            <a:off x="10926487" y="6778647"/>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Hallucinations</a:t>
            </a:r>
            <a:endParaRPr lang="en-US" sz="2700" dirty="0"/>
          </a:p>
        </p:txBody>
      </p:sp>
      <p:sp>
        <p:nvSpPr>
          <p:cNvPr id="18" name="Text 16"/>
          <p:cNvSpPr/>
          <p:nvPr/>
        </p:nvSpPr>
        <p:spPr>
          <a:xfrm>
            <a:off x="10926487" y="7238729"/>
            <a:ext cx="6306960" cy="731504"/>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Agents guess when source material is ambiguous.</a:t>
            </a:r>
          </a:p>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An infrastructure problem, not a model problem.</a:t>
            </a:r>
            <a:endParaRPr lang="en-US" sz="1950" dirty="0"/>
          </a:p>
        </p:txBody>
      </p:sp>
      <p:sp>
        <p:nvSpPr>
          <p:cNvPr id="19" name="Text 17"/>
          <p:cNvSpPr/>
          <p:nvPr/>
        </p:nvSpPr>
        <p:spPr>
          <a:xfrm>
            <a:off x="9973987" y="8416095"/>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04</a:t>
            </a:r>
            <a:endParaRPr lang="en-US" sz="1950" dirty="0"/>
          </a:p>
        </p:txBody>
      </p:sp>
      <p:sp>
        <p:nvSpPr>
          <p:cNvPr id="20" name="Text 18"/>
          <p:cNvSpPr/>
          <p:nvPr/>
        </p:nvSpPr>
        <p:spPr>
          <a:xfrm>
            <a:off x="10926487" y="8359811"/>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No provenance</a:t>
            </a:r>
            <a:endParaRPr lang="en-US" sz="2700" dirty="0"/>
          </a:p>
        </p:txBody>
      </p:sp>
      <p:sp>
        <p:nvSpPr>
          <p:cNvPr id="21" name="Text 19"/>
          <p:cNvSpPr/>
          <p:nvPr/>
        </p:nvSpPr>
        <p:spPr>
          <a:xfrm>
            <a:off x="10926487" y="8819892"/>
            <a:ext cx="6306960" cy="731504"/>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No way to verify origin or whether a</a:t>
            </a:r>
          </a:p>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document has been altered.</a:t>
            </a:r>
            <a:endParaRPr lang="en-US" sz="1950" dirty="0"/>
          </a:p>
        </p:txBody>
      </p:sp>
      <p:sp>
        <p:nvSpPr>
          <p:cNvPr id="22" name="Text 20"/>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3" name="Text 21"/>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4" name="Text 22"/>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25" name="Text 23"/>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03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WHAT'S A COG</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A document with cogs is a document a machine can </a:t>
            </a:r>
            <a:r>
              <a:rPr lang="en-US" sz="4500" i="1" kern="0" spc="-81" dirty="0">
                <a:solidFill>
                  <a:srgbClr val="C8482B"/>
                </a:solidFill>
                <a:latin typeface="Source Serif 4" pitchFamily="34" charset="0"/>
                <a:ea typeface="Source Serif 4" pitchFamily="34" charset="-122"/>
                <a:cs typeface="Source Serif 4" pitchFamily="34" charset="-120"/>
              </a:rPr>
              <a:t>trust.</a:t>
            </a:r>
            <a:endParaRPr lang="en-US" sz="4500" dirty="0"/>
          </a:p>
        </p:txBody>
      </p:sp>
      <p:sp>
        <p:nvSpPr>
          <p:cNvPr id="5" name="Shape 3"/>
          <p:cNvSpPr/>
          <p:nvPr/>
        </p:nvSpPr>
        <p:spPr>
          <a:xfrm>
            <a:off x="1238250" y="3127758"/>
            <a:ext cx="4953000" cy="6537952"/>
          </a:xfrm>
          <a:prstGeom prst="rect">
            <a:avLst/>
          </a:prstGeom>
          <a:solidFill>
            <a:srgbClr val="FBF8F0"/>
          </a:solidFill>
          <a:ln w="8659">
            <a:solidFill>
              <a:srgbClr val="D8D2C4"/>
            </a:solidFill>
            <a:prstDash val="solid"/>
          </a:ln>
          <a:effectLst>
            <a:outerShdw blurRad="457200" dist="228600" dir="5400000" algn="bl" rotWithShape="0">
              <a:srgbClr val="29261B">
                <a:alpha val="18000"/>
              </a:srgbClr>
            </a:outerShdw>
          </a:effectLst>
        </p:spPr>
        <p:txBody>
          <a:bodyPr/>
          <a:lstStyle/>
          <a:p>
            <a:endParaRPr lang="en-US"/>
          </a:p>
        </p:txBody>
      </p:sp>
      <p:sp>
        <p:nvSpPr>
          <p:cNvPr id="6" name="Text 4"/>
          <p:cNvSpPr/>
          <p:nvPr/>
        </p:nvSpPr>
        <p:spPr>
          <a:xfrm>
            <a:off x="1818409" y="3489410"/>
            <a:ext cx="3489208" cy="875597"/>
          </a:xfrm>
          <a:prstGeom prst="rect">
            <a:avLst/>
          </a:prstGeom>
          <a:noFill/>
          <a:ln/>
        </p:spPr>
        <p:txBody>
          <a:bodyPr wrap="square" lIns="25400" tIns="25400" rIns="25400" bIns="25400" rtlCol="0" anchor="t">
            <a:normAutofit/>
          </a:bodyPr>
          <a:lstStyle/>
          <a:p>
            <a:pPr marL="0" indent="0" algn="l">
              <a:lnSpc>
                <a:spcPct val="115000"/>
              </a:lnSpc>
              <a:buNone/>
            </a:pPr>
            <a:r>
              <a:rPr lang="en-US" sz="2250" dirty="0">
                <a:solidFill>
                  <a:srgbClr val="1A1A1A"/>
                </a:solidFill>
                <a:latin typeface="Source Serif 4" pitchFamily="34" charset="0"/>
                <a:ea typeface="Source Serif 4" pitchFamily="34" charset="-122"/>
                <a:cs typeface="Source Serif 4" pitchFamily="34" charset="-120"/>
              </a:rPr>
              <a:t>London CMS Experts Lightning Talk</a:t>
            </a:r>
            <a:endParaRPr lang="en-US" sz="2250" dirty="0"/>
          </a:p>
        </p:txBody>
      </p:sp>
      <p:sp>
        <p:nvSpPr>
          <p:cNvPr id="7" name="Text 5"/>
          <p:cNvSpPr/>
          <p:nvPr/>
        </p:nvSpPr>
        <p:spPr>
          <a:xfrm>
            <a:off x="1818409" y="4403080"/>
            <a:ext cx="3906462"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72" dirty="0">
                <a:solidFill>
                  <a:srgbClr val="6A6258"/>
                </a:solidFill>
                <a:latin typeface="JetBrains Mono" pitchFamily="34" charset="0"/>
                <a:ea typeface="JetBrains Mono" pitchFamily="34" charset="-122"/>
                <a:cs typeface="JetBrains Mono" pitchFamily="34" charset="-120"/>
              </a:rPr>
              <a:t>TOM CRANSTOUN · 2026-03-01</a:t>
            </a:r>
            <a:endParaRPr lang="en-US" sz="1200" dirty="0"/>
          </a:p>
        </p:txBody>
      </p:sp>
      <p:sp>
        <p:nvSpPr>
          <p:cNvPr id="8" name="Shape 6"/>
          <p:cNvSpPr/>
          <p:nvPr/>
        </p:nvSpPr>
        <p:spPr>
          <a:xfrm>
            <a:off x="1818409" y="6878091"/>
            <a:ext cx="3792682" cy="9525"/>
          </a:xfrm>
          <a:prstGeom prst="rect">
            <a:avLst/>
          </a:prstGeom>
          <a:solidFill>
            <a:srgbClr val="D8D2C4"/>
          </a:solidFill>
          <a:ln/>
        </p:spPr>
        <p:txBody>
          <a:bodyPr/>
          <a:lstStyle/>
          <a:p>
            <a:endParaRPr lang="en-US"/>
          </a:p>
        </p:txBody>
      </p:sp>
      <p:sp>
        <p:nvSpPr>
          <p:cNvPr id="9" name="Shape 7"/>
          <p:cNvSpPr/>
          <p:nvPr/>
        </p:nvSpPr>
        <p:spPr>
          <a:xfrm>
            <a:off x="1818409" y="4883118"/>
            <a:ext cx="3792682" cy="9525"/>
          </a:xfrm>
          <a:prstGeom prst="rect">
            <a:avLst/>
          </a:prstGeom>
          <a:solidFill>
            <a:srgbClr val="D8D2C4"/>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818409" y="5168868"/>
            <a:ext cx="247596" cy="247596"/>
          </a:xfrm>
          <a:prstGeom prst="rect">
            <a:avLst/>
          </a:prstGeom>
        </p:spPr>
      </p:pic>
      <p:sp>
        <p:nvSpPr>
          <p:cNvPr id="11" name="Text 8"/>
          <p:cNvSpPr/>
          <p:nvPr/>
        </p:nvSpPr>
        <p:spPr>
          <a:xfrm>
            <a:off x="2199341" y="5063200"/>
            <a:ext cx="3514102" cy="238071"/>
          </a:xfrm>
          <a:prstGeom prst="rect">
            <a:avLst/>
          </a:prstGeom>
          <a:noFill/>
          <a:ln/>
        </p:spPr>
        <p:txBody>
          <a:bodyPr wrap="square" lIns="25400" tIns="25400" rIns="25400" bIns="25400" rtlCol="0" anchor="t">
            <a:normAutofit/>
          </a:bodyPr>
          <a:lstStyle/>
          <a:p>
            <a:pPr marL="0" indent="0" algn="l">
              <a:lnSpc>
                <a:spcPct val="140000"/>
              </a:lnSpc>
              <a:buNone/>
            </a:pPr>
            <a:r>
              <a:rPr lang="en-US" sz="1125" kern="0" spc="135" dirty="0">
                <a:solidFill>
                  <a:srgbClr val="6A6258"/>
                </a:solidFill>
                <a:latin typeface="JetBrains Mono" pitchFamily="34" charset="0"/>
                <a:ea typeface="JetBrains Mono" pitchFamily="34" charset="-122"/>
                <a:cs typeface="JetBrains Mono" pitchFamily="34" charset="-120"/>
              </a:rPr>
              <a:t>IDENTITY</a:t>
            </a:r>
            <a:endParaRPr lang="en-US" sz="1125" dirty="0"/>
          </a:p>
        </p:txBody>
      </p:sp>
      <p:sp>
        <p:nvSpPr>
          <p:cNvPr id="12" name="Text 9"/>
          <p:cNvSpPr/>
          <p:nvPr/>
        </p:nvSpPr>
        <p:spPr>
          <a:xfrm>
            <a:off x="2199341" y="5282180"/>
            <a:ext cx="3514102" cy="278052"/>
          </a:xfrm>
          <a:prstGeom prst="rect">
            <a:avLst/>
          </a:prstGeom>
          <a:noFill/>
          <a:ln/>
        </p:spPr>
        <p:txBody>
          <a:bodyPr wrap="square" lIns="25400" tIns="25400" rIns="25400" bIns="25400" rtlCol="0" anchor="t">
            <a:normAutofit/>
          </a:bodyPr>
          <a:lstStyle/>
          <a:p>
            <a:pPr marL="0" indent="0" algn="l">
              <a:lnSpc>
                <a:spcPct val="140000"/>
              </a:lnSpc>
              <a:buNone/>
            </a:pPr>
            <a:r>
              <a:rPr lang="en-US" sz="1350" kern="0" spc="27" dirty="0">
                <a:solidFill>
                  <a:srgbClr val="1A1A1A"/>
                </a:solidFill>
                <a:latin typeface="JetBrains Mono" pitchFamily="34" charset="0"/>
                <a:ea typeface="JetBrains Mono" pitchFamily="34" charset="-122"/>
                <a:cs typeface="JetBrains Mono" pitchFamily="34" charset="-120"/>
              </a:rPr>
              <a:t>CogNovaMX Ltd</a:t>
            </a:r>
            <a:endParaRPr lang="en-US" sz="1350" dirty="0"/>
          </a:p>
        </p:txBody>
      </p:sp>
      <p:pic>
        <p:nvPicPr>
          <p:cNvPr id="13" name="Image 1" descr="preencoded.png"/>
          <p:cNvPicPr>
            <a:picLocks noChangeAspect="1"/>
          </p:cNvPicPr>
          <p:nvPr/>
        </p:nvPicPr>
        <p:blipFill>
          <a:blip r:embed="rId4"/>
          <a:stretch>
            <a:fillRect/>
          </a:stretch>
        </p:blipFill>
        <p:spPr>
          <a:xfrm>
            <a:off x="1818409" y="5761137"/>
            <a:ext cx="247596" cy="247596"/>
          </a:xfrm>
          <a:prstGeom prst="rect">
            <a:avLst/>
          </a:prstGeom>
        </p:spPr>
      </p:pic>
      <p:sp>
        <p:nvSpPr>
          <p:cNvPr id="14" name="Text 10"/>
          <p:cNvSpPr/>
          <p:nvPr/>
        </p:nvSpPr>
        <p:spPr>
          <a:xfrm>
            <a:off x="2199341" y="5655469"/>
            <a:ext cx="3514102" cy="238071"/>
          </a:xfrm>
          <a:prstGeom prst="rect">
            <a:avLst/>
          </a:prstGeom>
          <a:noFill/>
          <a:ln/>
        </p:spPr>
        <p:txBody>
          <a:bodyPr wrap="square" lIns="25400" tIns="25400" rIns="25400" bIns="25400" rtlCol="0" anchor="t">
            <a:normAutofit/>
          </a:bodyPr>
          <a:lstStyle/>
          <a:p>
            <a:pPr marL="0" indent="0" algn="l">
              <a:lnSpc>
                <a:spcPct val="140000"/>
              </a:lnSpc>
              <a:buNone/>
            </a:pPr>
            <a:r>
              <a:rPr lang="en-US" sz="1125" kern="0" spc="135" dirty="0">
                <a:solidFill>
                  <a:srgbClr val="6A6258"/>
                </a:solidFill>
                <a:latin typeface="JetBrains Mono" pitchFamily="34" charset="0"/>
                <a:ea typeface="JetBrains Mono" pitchFamily="34" charset="-122"/>
                <a:cs typeface="JetBrains Mono" pitchFamily="34" charset="-120"/>
              </a:rPr>
              <a:t>PROVENANCE</a:t>
            </a:r>
            <a:endParaRPr lang="en-US" sz="1125" dirty="0"/>
          </a:p>
        </p:txBody>
      </p:sp>
      <p:sp>
        <p:nvSpPr>
          <p:cNvPr id="15" name="Text 11"/>
          <p:cNvSpPr/>
          <p:nvPr/>
        </p:nvSpPr>
        <p:spPr>
          <a:xfrm>
            <a:off x="2199341" y="5874449"/>
            <a:ext cx="3514102" cy="278052"/>
          </a:xfrm>
          <a:prstGeom prst="rect">
            <a:avLst/>
          </a:prstGeom>
          <a:noFill/>
          <a:ln/>
        </p:spPr>
        <p:txBody>
          <a:bodyPr wrap="square" lIns="25400" tIns="25400" rIns="25400" bIns="25400" rtlCol="0" anchor="t">
            <a:normAutofit/>
          </a:bodyPr>
          <a:lstStyle/>
          <a:p>
            <a:pPr marL="0" indent="0" algn="l">
              <a:lnSpc>
                <a:spcPct val="140000"/>
              </a:lnSpc>
              <a:buNone/>
            </a:pPr>
            <a:r>
              <a:rPr lang="en-US" sz="1350" kern="0" spc="27" dirty="0">
                <a:solidFill>
                  <a:srgbClr val="1A1A1A"/>
                </a:solidFill>
                <a:latin typeface="JetBrains Mono" pitchFamily="34" charset="0"/>
                <a:ea typeface="JetBrains Mono" pitchFamily="34" charset="-122"/>
                <a:cs typeface="JetBrains Mono" pitchFamily="34" charset="-120"/>
              </a:rPr>
              <a:t>human-directed</a:t>
            </a:r>
            <a:endParaRPr lang="en-US" sz="1350" dirty="0"/>
          </a:p>
        </p:txBody>
      </p:sp>
      <p:pic>
        <p:nvPicPr>
          <p:cNvPr id="16" name="Image 2" descr="preencoded.png"/>
          <p:cNvPicPr>
            <a:picLocks noChangeAspect="1"/>
          </p:cNvPicPr>
          <p:nvPr/>
        </p:nvPicPr>
        <p:blipFill>
          <a:blip r:embed="rId5"/>
          <a:stretch>
            <a:fillRect/>
          </a:stretch>
        </p:blipFill>
        <p:spPr>
          <a:xfrm>
            <a:off x="1818409" y="6353405"/>
            <a:ext cx="247596" cy="247596"/>
          </a:xfrm>
          <a:prstGeom prst="rect">
            <a:avLst/>
          </a:prstGeom>
        </p:spPr>
      </p:pic>
      <p:sp>
        <p:nvSpPr>
          <p:cNvPr id="17" name="Text 12"/>
          <p:cNvSpPr/>
          <p:nvPr/>
        </p:nvSpPr>
        <p:spPr>
          <a:xfrm>
            <a:off x="2199341" y="6247737"/>
            <a:ext cx="3514102" cy="238071"/>
          </a:xfrm>
          <a:prstGeom prst="rect">
            <a:avLst/>
          </a:prstGeom>
          <a:noFill/>
          <a:ln/>
        </p:spPr>
        <p:txBody>
          <a:bodyPr wrap="square" lIns="25400" tIns="25400" rIns="25400" bIns="25400" rtlCol="0" anchor="t">
            <a:normAutofit/>
          </a:bodyPr>
          <a:lstStyle/>
          <a:p>
            <a:pPr marL="0" indent="0" algn="l">
              <a:lnSpc>
                <a:spcPct val="140000"/>
              </a:lnSpc>
              <a:buNone/>
            </a:pPr>
            <a:r>
              <a:rPr lang="en-US" sz="1125" kern="0" spc="135" dirty="0">
                <a:solidFill>
                  <a:srgbClr val="6A6258"/>
                </a:solidFill>
                <a:latin typeface="JetBrains Mono" pitchFamily="34" charset="0"/>
                <a:ea typeface="JetBrains Mono" pitchFamily="34" charset="-122"/>
                <a:cs typeface="JetBrains Mono" pitchFamily="34" charset="-120"/>
              </a:rPr>
              <a:t>CONFORMANCE</a:t>
            </a:r>
            <a:endParaRPr lang="en-US" sz="1125" dirty="0"/>
          </a:p>
        </p:txBody>
      </p:sp>
      <p:sp>
        <p:nvSpPr>
          <p:cNvPr id="18" name="Text 13"/>
          <p:cNvSpPr/>
          <p:nvPr/>
        </p:nvSpPr>
        <p:spPr>
          <a:xfrm>
            <a:off x="2199341" y="6466717"/>
            <a:ext cx="3514102" cy="278052"/>
          </a:xfrm>
          <a:prstGeom prst="rect">
            <a:avLst/>
          </a:prstGeom>
          <a:noFill/>
          <a:ln/>
        </p:spPr>
        <p:txBody>
          <a:bodyPr wrap="square" lIns="25400" tIns="25400" rIns="25400" bIns="25400" rtlCol="0" anchor="t">
            <a:normAutofit/>
          </a:bodyPr>
          <a:lstStyle/>
          <a:p>
            <a:pPr marL="0" indent="0" algn="l">
              <a:lnSpc>
                <a:spcPct val="140000"/>
              </a:lnSpc>
              <a:buNone/>
            </a:pPr>
            <a:r>
              <a:rPr lang="en-US" sz="1350" kern="0" spc="27" dirty="0">
                <a:solidFill>
                  <a:srgbClr val="1A1A1A"/>
                </a:solidFill>
                <a:latin typeface="JetBrains Mono" pitchFamily="34" charset="0"/>
                <a:ea typeface="JetBrains Mono" pitchFamily="34" charset="-122"/>
                <a:cs typeface="JetBrains Mono" pitchFamily="34" charset="-120"/>
              </a:rPr>
              <a:t>mx-core-level-1</a:t>
            </a:r>
            <a:endParaRPr lang="en-US" sz="1350" dirty="0"/>
          </a:p>
        </p:txBody>
      </p:sp>
      <p:sp>
        <p:nvSpPr>
          <p:cNvPr id="19" name="Shape 14"/>
          <p:cNvSpPr/>
          <p:nvPr/>
        </p:nvSpPr>
        <p:spPr>
          <a:xfrm>
            <a:off x="1818409" y="7096260"/>
            <a:ext cx="3792682" cy="66634"/>
          </a:xfrm>
          <a:prstGeom prst="roundRect">
            <a:avLst>
              <a:gd name="adj" fmla="val 14295"/>
            </a:avLst>
          </a:prstGeom>
          <a:solidFill>
            <a:srgbClr val="29261B">
              <a:alpha val="8000"/>
            </a:srgbClr>
          </a:solidFill>
          <a:ln/>
        </p:spPr>
        <p:txBody>
          <a:bodyPr/>
          <a:lstStyle/>
          <a:p>
            <a:endParaRPr lang="en-US"/>
          </a:p>
        </p:txBody>
      </p:sp>
      <p:sp>
        <p:nvSpPr>
          <p:cNvPr id="20" name="Shape 15"/>
          <p:cNvSpPr/>
          <p:nvPr/>
        </p:nvSpPr>
        <p:spPr>
          <a:xfrm>
            <a:off x="1818409" y="7229529"/>
            <a:ext cx="3489208" cy="66634"/>
          </a:xfrm>
          <a:prstGeom prst="roundRect">
            <a:avLst>
              <a:gd name="adj" fmla="val 14295"/>
            </a:avLst>
          </a:prstGeom>
          <a:solidFill>
            <a:srgbClr val="29261B">
              <a:alpha val="8000"/>
            </a:srgbClr>
          </a:solidFill>
          <a:ln/>
        </p:spPr>
        <p:txBody>
          <a:bodyPr/>
          <a:lstStyle/>
          <a:p>
            <a:endParaRPr lang="en-US"/>
          </a:p>
        </p:txBody>
      </p:sp>
      <p:sp>
        <p:nvSpPr>
          <p:cNvPr id="21" name="Shape 16"/>
          <p:cNvSpPr/>
          <p:nvPr/>
        </p:nvSpPr>
        <p:spPr>
          <a:xfrm>
            <a:off x="1818409" y="7362798"/>
            <a:ext cx="3640945" cy="66634"/>
          </a:xfrm>
          <a:prstGeom prst="roundRect">
            <a:avLst>
              <a:gd name="adj" fmla="val 14295"/>
            </a:avLst>
          </a:prstGeom>
          <a:solidFill>
            <a:srgbClr val="29261B">
              <a:alpha val="8000"/>
            </a:srgbClr>
          </a:solidFill>
          <a:ln/>
        </p:spPr>
        <p:txBody>
          <a:bodyPr/>
          <a:lstStyle/>
          <a:p>
            <a:endParaRPr lang="en-US"/>
          </a:p>
        </p:txBody>
      </p:sp>
      <p:sp>
        <p:nvSpPr>
          <p:cNvPr id="22" name="Shape 17"/>
          <p:cNvSpPr/>
          <p:nvPr/>
        </p:nvSpPr>
        <p:spPr>
          <a:xfrm>
            <a:off x="1818409" y="7496066"/>
            <a:ext cx="3034132" cy="66634"/>
          </a:xfrm>
          <a:prstGeom prst="roundRect">
            <a:avLst>
              <a:gd name="adj" fmla="val 14295"/>
            </a:avLst>
          </a:prstGeom>
          <a:solidFill>
            <a:srgbClr val="29261B">
              <a:alpha val="8000"/>
            </a:srgbClr>
          </a:solidFill>
          <a:ln/>
        </p:spPr>
        <p:txBody>
          <a:bodyPr/>
          <a:lstStyle/>
          <a:p>
            <a:endParaRPr lang="en-US"/>
          </a:p>
        </p:txBody>
      </p:sp>
      <p:sp>
        <p:nvSpPr>
          <p:cNvPr id="23" name="Shape 18"/>
          <p:cNvSpPr/>
          <p:nvPr/>
        </p:nvSpPr>
        <p:spPr>
          <a:xfrm>
            <a:off x="1818409" y="7629335"/>
            <a:ext cx="3337538" cy="66634"/>
          </a:xfrm>
          <a:prstGeom prst="roundRect">
            <a:avLst>
              <a:gd name="adj" fmla="val 14295"/>
            </a:avLst>
          </a:prstGeom>
          <a:solidFill>
            <a:srgbClr val="29261B">
              <a:alpha val="8000"/>
            </a:srgbClr>
          </a:solidFill>
          <a:ln/>
        </p:spPr>
        <p:txBody>
          <a:bodyPr/>
          <a:lstStyle/>
          <a:p>
            <a:endParaRPr lang="en-US"/>
          </a:p>
        </p:txBody>
      </p:sp>
      <p:sp>
        <p:nvSpPr>
          <p:cNvPr id="24" name="Shape 19"/>
          <p:cNvSpPr/>
          <p:nvPr/>
        </p:nvSpPr>
        <p:spPr>
          <a:xfrm>
            <a:off x="1818409" y="7762604"/>
            <a:ext cx="2654823" cy="66634"/>
          </a:xfrm>
          <a:prstGeom prst="roundRect">
            <a:avLst>
              <a:gd name="adj" fmla="val 14295"/>
            </a:avLst>
          </a:prstGeom>
          <a:solidFill>
            <a:srgbClr val="29261B">
              <a:alpha val="8000"/>
            </a:srgbClr>
          </a:solidFill>
          <a:ln/>
        </p:spPr>
        <p:txBody>
          <a:bodyPr/>
          <a:lstStyle/>
          <a:p>
            <a:endParaRPr lang="en-US"/>
          </a:p>
        </p:txBody>
      </p:sp>
      <p:sp>
        <p:nvSpPr>
          <p:cNvPr id="25" name="Text 20"/>
          <p:cNvSpPr/>
          <p:nvPr/>
        </p:nvSpPr>
        <p:spPr>
          <a:xfrm>
            <a:off x="8431520" y="3127759"/>
            <a:ext cx="7955962" cy="1822982"/>
          </a:xfrm>
          <a:prstGeom prst="rect">
            <a:avLst/>
          </a:prstGeom>
          <a:noFill/>
          <a:ln/>
        </p:spPr>
        <p:txBody>
          <a:bodyPr wrap="square" lIns="25400" tIns="25400" rIns="25400" bIns="25400" rtlCol="0" anchor="t">
            <a:noAutofit/>
          </a:bodyPr>
          <a:lstStyle/>
          <a:p>
            <a:pPr marL="0" indent="0" algn="l">
              <a:lnSpc>
                <a:spcPct val="118000"/>
              </a:lnSpc>
              <a:buNone/>
            </a:pPr>
            <a:r>
              <a:rPr lang="en-US" sz="3000" dirty="0">
                <a:solidFill>
                  <a:srgbClr val="1A1A1A"/>
                </a:solidFill>
                <a:latin typeface="Source Serif 4" pitchFamily="34" charset="0"/>
                <a:ea typeface="Source Serif 4" pitchFamily="34" charset="-122"/>
                <a:cs typeface="Source Serif 4" pitchFamily="34" charset="-120"/>
              </a:rPr>
              <a:t>Cogs are a small set of declarations a document makes about </a:t>
            </a:r>
            <a:r>
              <a:rPr lang="en-US" sz="3000" i="1" dirty="0">
                <a:solidFill>
                  <a:srgbClr val="C8482B"/>
                </a:solidFill>
                <a:latin typeface="Source Serif 4" pitchFamily="34" charset="0"/>
                <a:ea typeface="Source Serif 4" pitchFamily="34" charset="-122"/>
                <a:cs typeface="Source Serif 4" pitchFamily="34" charset="-120"/>
              </a:rPr>
              <a:t>itself </a:t>
            </a:r>
            <a:r>
              <a:rPr lang="en-US" sz="3000" dirty="0">
                <a:solidFill>
                  <a:srgbClr val="1A1A1A"/>
                </a:solidFill>
                <a:latin typeface="Source Serif 4" pitchFamily="34" charset="0"/>
                <a:ea typeface="Source Serif 4" pitchFamily="34" charset="-122"/>
                <a:cs typeface="Source Serif 4" pitchFamily="34" charset="-120"/>
              </a:rPr>
              <a:t>— carried in plain text, in the file, before the prose begins.</a:t>
            </a:r>
            <a:endParaRPr lang="en-US" sz="3000" dirty="0"/>
          </a:p>
        </p:txBody>
      </p:sp>
      <p:sp>
        <p:nvSpPr>
          <p:cNvPr id="26" name="Shape 21"/>
          <p:cNvSpPr/>
          <p:nvPr/>
        </p:nvSpPr>
        <p:spPr>
          <a:xfrm>
            <a:off x="8431519" y="5103925"/>
            <a:ext cx="8618230" cy="9525"/>
          </a:xfrm>
          <a:prstGeom prst="rect">
            <a:avLst/>
          </a:prstGeom>
          <a:solidFill>
            <a:srgbClr val="D8D2C4"/>
          </a:solidFill>
          <a:ln/>
        </p:spPr>
        <p:txBody>
          <a:bodyPr/>
          <a:lstStyle/>
          <a:p>
            <a:endParaRPr lang="en-US"/>
          </a:p>
        </p:txBody>
      </p:sp>
      <p:sp>
        <p:nvSpPr>
          <p:cNvPr id="27" name="Shape 22"/>
          <p:cNvSpPr/>
          <p:nvPr/>
        </p:nvSpPr>
        <p:spPr>
          <a:xfrm>
            <a:off x="8431519" y="6491545"/>
            <a:ext cx="8618230" cy="9525"/>
          </a:xfrm>
          <a:prstGeom prst="rect">
            <a:avLst/>
          </a:prstGeom>
          <a:solidFill>
            <a:srgbClr val="D8D2C4"/>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8431519" y="5341103"/>
            <a:ext cx="381000" cy="381000"/>
          </a:xfrm>
          <a:prstGeom prst="rect">
            <a:avLst/>
          </a:prstGeom>
        </p:spPr>
      </p:pic>
      <p:sp>
        <p:nvSpPr>
          <p:cNvPr id="29" name="Text 23"/>
          <p:cNvSpPr/>
          <p:nvPr/>
        </p:nvSpPr>
        <p:spPr>
          <a:xfrm>
            <a:off x="9193451" y="5278798"/>
            <a:ext cx="1420761" cy="458066"/>
          </a:xfrm>
          <a:prstGeom prst="rect">
            <a:avLst/>
          </a:prstGeom>
          <a:noFill/>
          <a:ln/>
        </p:spPr>
        <p:txBody>
          <a:bodyPr wrap="square" lIns="0" tIns="0" rIns="0" bIns="0" rtlCol="0" anchor="t">
            <a:normAutofit/>
          </a:bodyPr>
          <a:lstStyle/>
          <a:p>
            <a:pPr marL="0" indent="0" algn="l">
              <a:lnSpc>
                <a:spcPct val="110000"/>
              </a:lnSpc>
              <a:buNone/>
            </a:pPr>
            <a:r>
              <a:rPr lang="en-US" sz="2400" i="1" dirty="0">
                <a:solidFill>
                  <a:srgbClr val="1A1A1A"/>
                </a:solidFill>
                <a:latin typeface="Source Serif 4" pitchFamily="34" charset="0"/>
                <a:ea typeface="Source Serif 4" pitchFamily="34" charset="-122"/>
                <a:cs typeface="Source Serif 4" pitchFamily="34" charset="-120"/>
              </a:rPr>
              <a:t>Identity</a:t>
            </a:r>
            <a:endParaRPr lang="en-US" sz="2400" dirty="0"/>
          </a:p>
        </p:txBody>
      </p:sp>
      <p:sp>
        <p:nvSpPr>
          <p:cNvPr id="30" name="Text 24"/>
          <p:cNvSpPr/>
          <p:nvPr/>
        </p:nvSpPr>
        <p:spPr>
          <a:xfrm>
            <a:off x="9193451" y="5714459"/>
            <a:ext cx="2171700" cy="184763"/>
          </a:xfrm>
          <a:prstGeom prst="rect">
            <a:avLst/>
          </a:prstGeom>
          <a:noFill/>
          <a:ln/>
        </p:spPr>
        <p:txBody>
          <a:bodyPr wrap="square" lIns="25400" tIns="25400" rIns="25400" bIns="25400" rtlCol="0" anchor="t">
            <a:normAutofit/>
          </a:bodyPr>
          <a:lstStyle/>
          <a:p>
            <a:pPr marL="0" indent="0" algn="l">
              <a:lnSpc>
                <a:spcPct val="110000"/>
              </a:lnSpc>
              <a:buNone/>
            </a:pPr>
            <a:r>
              <a:rPr lang="en-US" sz="1050" kern="0" spc="147" dirty="0">
                <a:solidFill>
                  <a:srgbClr val="6A6258"/>
                </a:solidFill>
                <a:latin typeface="JetBrains Mono" pitchFamily="34" charset="0"/>
                <a:ea typeface="JetBrains Mono" pitchFamily="34" charset="-122"/>
                <a:cs typeface="JetBrains Mono" pitchFamily="34" charset="-120"/>
              </a:rPr>
              <a:t>WHO &amp; WHAT</a:t>
            </a:r>
            <a:endParaRPr lang="en-US" sz="1050" dirty="0"/>
          </a:p>
        </p:txBody>
      </p:sp>
      <p:sp>
        <p:nvSpPr>
          <p:cNvPr id="31" name="Text 25"/>
          <p:cNvSpPr/>
          <p:nvPr/>
        </p:nvSpPr>
        <p:spPr>
          <a:xfrm>
            <a:off x="11517538" y="5178394"/>
            <a:ext cx="5698178" cy="1141742"/>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1800" dirty="0">
                <a:solidFill>
                  <a:srgbClr val="1A1A1A"/>
                </a:solidFill>
                <a:latin typeface="Inter" pitchFamily="34" charset="0"/>
                <a:ea typeface="Inter" pitchFamily="34" charset="-122"/>
                <a:cs typeface="Inter" pitchFamily="34" charset="-120"/>
              </a:rPr>
              <a:t>Title, author, publisher, version. The same fields a librarian has cataloged for two centuries — now </a:t>
            </a:r>
            <a:r>
              <a:rPr lang="en-US" sz="1800" b="1" dirty="0">
                <a:solidFill>
                  <a:srgbClr val="1A1A1A"/>
                </a:solidFill>
                <a:latin typeface="Inter" pitchFamily="34" charset="0"/>
                <a:ea typeface="Inter" pitchFamily="34" charset="-122"/>
                <a:cs typeface="Inter" pitchFamily="34" charset="-120"/>
              </a:rPr>
              <a:t>structured</a:t>
            </a:r>
            <a:r>
              <a:rPr lang="en-US" sz="1800" dirty="0">
                <a:solidFill>
                  <a:srgbClr val="1A1A1A"/>
                </a:solidFill>
                <a:latin typeface="Inter" pitchFamily="34" charset="0"/>
                <a:ea typeface="Inter" pitchFamily="34" charset="-122"/>
                <a:cs typeface="Inter" pitchFamily="34" charset="-120"/>
              </a:rPr>
              <a:t>, so a machine can read them too.</a:t>
            </a:r>
            <a:endParaRPr lang="en-US" sz="1800" dirty="0"/>
          </a:p>
        </p:txBody>
      </p:sp>
      <p:sp>
        <p:nvSpPr>
          <p:cNvPr id="32" name="Shape 26"/>
          <p:cNvSpPr/>
          <p:nvPr/>
        </p:nvSpPr>
        <p:spPr>
          <a:xfrm>
            <a:off x="8431519" y="7879163"/>
            <a:ext cx="8618230" cy="9525"/>
          </a:xfrm>
          <a:prstGeom prst="rect">
            <a:avLst/>
          </a:prstGeom>
          <a:solidFill>
            <a:srgbClr val="D8D2C4"/>
          </a:solidFill>
          <a:ln/>
        </p:spPr>
        <p:txBody>
          <a:bodyPr/>
          <a:lstStyle/>
          <a:p>
            <a:endParaRPr lang="en-US"/>
          </a:p>
        </p:txBody>
      </p:sp>
      <p:pic>
        <p:nvPicPr>
          <p:cNvPr id="33" name="Image 4" descr="preencoded.png"/>
          <p:cNvPicPr>
            <a:picLocks noChangeAspect="1"/>
          </p:cNvPicPr>
          <p:nvPr/>
        </p:nvPicPr>
        <p:blipFill>
          <a:blip r:embed="rId7"/>
          <a:stretch>
            <a:fillRect/>
          </a:stretch>
        </p:blipFill>
        <p:spPr>
          <a:xfrm>
            <a:off x="8431519" y="6728722"/>
            <a:ext cx="381000" cy="381000"/>
          </a:xfrm>
          <a:prstGeom prst="rect">
            <a:avLst/>
          </a:prstGeom>
        </p:spPr>
      </p:pic>
      <p:sp>
        <p:nvSpPr>
          <p:cNvPr id="34" name="Text 27"/>
          <p:cNvSpPr/>
          <p:nvPr/>
        </p:nvSpPr>
        <p:spPr>
          <a:xfrm>
            <a:off x="9193451" y="6666418"/>
            <a:ext cx="1846280" cy="458066"/>
          </a:xfrm>
          <a:prstGeom prst="rect">
            <a:avLst/>
          </a:prstGeom>
          <a:noFill/>
          <a:ln/>
        </p:spPr>
        <p:txBody>
          <a:bodyPr wrap="square" lIns="0" tIns="0" rIns="0" bIns="0" rtlCol="0" anchor="t">
            <a:normAutofit/>
          </a:bodyPr>
          <a:lstStyle/>
          <a:p>
            <a:pPr marL="0" indent="0" algn="l">
              <a:lnSpc>
                <a:spcPct val="110000"/>
              </a:lnSpc>
              <a:buNone/>
            </a:pPr>
            <a:r>
              <a:rPr lang="en-US" sz="2400" i="1" dirty="0">
                <a:solidFill>
                  <a:srgbClr val="1A1A1A"/>
                </a:solidFill>
                <a:latin typeface="Source Serif 4" pitchFamily="34" charset="0"/>
                <a:ea typeface="Source Serif 4" pitchFamily="34" charset="-122"/>
                <a:cs typeface="Source Serif 4" pitchFamily="34" charset="-120"/>
              </a:rPr>
              <a:t>Provenance</a:t>
            </a:r>
            <a:endParaRPr lang="en-US" sz="2400" dirty="0"/>
          </a:p>
        </p:txBody>
      </p:sp>
      <p:sp>
        <p:nvSpPr>
          <p:cNvPr id="35" name="Text 28"/>
          <p:cNvSpPr/>
          <p:nvPr/>
        </p:nvSpPr>
        <p:spPr>
          <a:xfrm>
            <a:off x="9193451" y="7102078"/>
            <a:ext cx="2171700" cy="184763"/>
          </a:xfrm>
          <a:prstGeom prst="rect">
            <a:avLst/>
          </a:prstGeom>
          <a:noFill/>
          <a:ln/>
        </p:spPr>
        <p:txBody>
          <a:bodyPr wrap="square" lIns="25400" tIns="25400" rIns="25400" bIns="25400" rtlCol="0" anchor="t">
            <a:normAutofit/>
          </a:bodyPr>
          <a:lstStyle/>
          <a:p>
            <a:pPr marL="0" indent="0" algn="l">
              <a:lnSpc>
                <a:spcPct val="110000"/>
              </a:lnSpc>
              <a:buNone/>
            </a:pPr>
            <a:r>
              <a:rPr lang="en-US" sz="1050" kern="0" spc="147" dirty="0">
                <a:solidFill>
                  <a:srgbClr val="6A6258"/>
                </a:solidFill>
                <a:latin typeface="JetBrains Mono" pitchFamily="34" charset="0"/>
                <a:ea typeface="JetBrains Mono" pitchFamily="34" charset="-122"/>
                <a:cs typeface="JetBrains Mono" pitchFamily="34" charset="-120"/>
              </a:rPr>
              <a:t>HOW IT CAME TO BE</a:t>
            </a:r>
            <a:endParaRPr lang="en-US" sz="1050" dirty="0"/>
          </a:p>
        </p:txBody>
      </p:sp>
      <p:sp>
        <p:nvSpPr>
          <p:cNvPr id="36" name="Text 29"/>
          <p:cNvSpPr/>
          <p:nvPr/>
        </p:nvSpPr>
        <p:spPr>
          <a:xfrm>
            <a:off x="11517538" y="6591761"/>
            <a:ext cx="5698178" cy="1115994"/>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Human-directed </a:t>
            </a:r>
            <a:r>
              <a:rPr lang="en-US" sz="1800" dirty="0">
                <a:solidFill>
                  <a:srgbClr val="1A1A1A"/>
                </a:solidFill>
                <a:latin typeface="Inter" pitchFamily="34" charset="0"/>
                <a:ea typeface="Inter" pitchFamily="34" charset="-122"/>
                <a:cs typeface="Inter" pitchFamily="34" charset="-120"/>
              </a:rPr>
              <a:t>or agent-generated. The boundary regulators now require, and the one no incumbent can answer for legacy content.</a:t>
            </a:r>
            <a:endParaRPr lang="en-US" sz="1800" dirty="0"/>
          </a:p>
        </p:txBody>
      </p:sp>
      <p:sp>
        <p:nvSpPr>
          <p:cNvPr id="37" name="Shape 30"/>
          <p:cNvSpPr/>
          <p:nvPr/>
        </p:nvSpPr>
        <p:spPr>
          <a:xfrm>
            <a:off x="8431519" y="9266783"/>
            <a:ext cx="8618230" cy="9525"/>
          </a:xfrm>
          <a:prstGeom prst="rect">
            <a:avLst/>
          </a:prstGeom>
          <a:solidFill>
            <a:srgbClr val="D8D2C4"/>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431519" y="8116342"/>
            <a:ext cx="381000" cy="381000"/>
          </a:xfrm>
          <a:prstGeom prst="rect">
            <a:avLst/>
          </a:prstGeom>
        </p:spPr>
      </p:pic>
      <p:sp>
        <p:nvSpPr>
          <p:cNvPr id="39" name="Text 31"/>
          <p:cNvSpPr/>
          <p:nvPr/>
        </p:nvSpPr>
        <p:spPr>
          <a:xfrm>
            <a:off x="9193451" y="8054037"/>
            <a:ext cx="1949678" cy="458066"/>
          </a:xfrm>
          <a:prstGeom prst="rect">
            <a:avLst/>
          </a:prstGeom>
          <a:noFill/>
          <a:ln/>
        </p:spPr>
        <p:txBody>
          <a:bodyPr wrap="square" lIns="0" tIns="0" rIns="0" bIns="0" rtlCol="0" anchor="t">
            <a:normAutofit/>
          </a:bodyPr>
          <a:lstStyle/>
          <a:p>
            <a:pPr marL="0" indent="0" algn="l">
              <a:lnSpc>
                <a:spcPct val="110000"/>
              </a:lnSpc>
              <a:buNone/>
            </a:pPr>
            <a:r>
              <a:rPr lang="en-US" sz="2400" i="1" dirty="0">
                <a:solidFill>
                  <a:srgbClr val="1A1A1A"/>
                </a:solidFill>
                <a:latin typeface="Source Serif 4" pitchFamily="34" charset="0"/>
                <a:ea typeface="Source Serif 4" pitchFamily="34" charset="-122"/>
                <a:cs typeface="Source Serif 4" pitchFamily="34" charset="-120"/>
              </a:rPr>
              <a:t>Conformance</a:t>
            </a:r>
            <a:endParaRPr lang="en-US" sz="2400" dirty="0"/>
          </a:p>
        </p:txBody>
      </p:sp>
      <p:sp>
        <p:nvSpPr>
          <p:cNvPr id="40" name="Text 32"/>
          <p:cNvSpPr/>
          <p:nvPr/>
        </p:nvSpPr>
        <p:spPr>
          <a:xfrm>
            <a:off x="9193451" y="8489697"/>
            <a:ext cx="2171700" cy="184763"/>
          </a:xfrm>
          <a:prstGeom prst="rect">
            <a:avLst/>
          </a:prstGeom>
          <a:noFill/>
          <a:ln/>
        </p:spPr>
        <p:txBody>
          <a:bodyPr wrap="square" lIns="25400" tIns="25400" rIns="25400" bIns="25400" rtlCol="0" anchor="t">
            <a:normAutofit/>
          </a:bodyPr>
          <a:lstStyle/>
          <a:p>
            <a:pPr marL="0" indent="0" algn="l">
              <a:lnSpc>
                <a:spcPct val="110000"/>
              </a:lnSpc>
              <a:buNone/>
            </a:pPr>
            <a:r>
              <a:rPr lang="en-US" sz="1050" kern="0" spc="147" dirty="0">
                <a:solidFill>
                  <a:srgbClr val="6A6258"/>
                </a:solidFill>
                <a:latin typeface="JetBrains Mono" pitchFamily="34" charset="0"/>
                <a:ea typeface="JetBrains Mono" pitchFamily="34" charset="-122"/>
                <a:cs typeface="JetBrains Mono" pitchFamily="34" charset="-120"/>
              </a:rPr>
              <a:t>RULES IT FOLLOWS</a:t>
            </a:r>
            <a:endParaRPr lang="en-US" sz="1050" dirty="0"/>
          </a:p>
        </p:txBody>
      </p:sp>
      <p:sp>
        <p:nvSpPr>
          <p:cNvPr id="41" name="Text 33"/>
          <p:cNvSpPr/>
          <p:nvPr/>
        </p:nvSpPr>
        <p:spPr>
          <a:xfrm>
            <a:off x="11517538" y="7979380"/>
            <a:ext cx="5698178" cy="1115994"/>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1800" dirty="0">
                <a:solidFill>
                  <a:srgbClr val="1A1A1A"/>
                </a:solidFill>
                <a:latin typeface="Inter" pitchFamily="34" charset="0"/>
                <a:ea typeface="Inter" pitchFamily="34" charset="-122"/>
                <a:cs typeface="Inter" pitchFamily="34" charset="-120"/>
              </a:rPr>
              <a:t>The standards the document </a:t>
            </a:r>
            <a:r>
              <a:rPr lang="en-US" sz="1800" b="1" dirty="0">
                <a:solidFill>
                  <a:srgbClr val="1A1A1A"/>
                </a:solidFill>
                <a:latin typeface="Inter" pitchFamily="34" charset="0"/>
                <a:ea typeface="Inter" pitchFamily="34" charset="-122"/>
                <a:cs typeface="Inter" pitchFamily="34" charset="-120"/>
              </a:rPr>
              <a:t>promises to obey </a:t>
            </a:r>
            <a:r>
              <a:rPr lang="en-US" sz="1800" dirty="0">
                <a:solidFill>
                  <a:srgbClr val="1A1A1A"/>
                </a:solidFill>
                <a:latin typeface="Inter" pitchFamily="34" charset="0"/>
                <a:ea typeface="Inter" pitchFamily="34" charset="-122"/>
                <a:cs typeface="Inter" pitchFamily="34" charset="-120"/>
              </a:rPr>
              <a:t>— schema.org, Dublin Core, MX core. An agent can verify the promise before acting on the contents.</a:t>
            </a:r>
            <a:endParaRPr lang="en-US" sz="1800" dirty="0"/>
          </a:p>
        </p:txBody>
      </p:sp>
      <p:sp>
        <p:nvSpPr>
          <p:cNvPr id="42" name="Text 3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43" name="Text 3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44" name="Text 3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45" name="Text 3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04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COGS · PROVENANCE</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A document that declares its own origin, authority, and conformance — in its header.</a:t>
            </a:r>
            <a:endParaRPr lang="en-US" sz="4500" dirty="0"/>
          </a:p>
        </p:txBody>
      </p:sp>
      <p:sp>
        <p:nvSpPr>
          <p:cNvPr id="5" name="Shape 3"/>
          <p:cNvSpPr/>
          <p:nvPr/>
        </p:nvSpPr>
        <p:spPr>
          <a:xfrm>
            <a:off x="1238250" y="3184922"/>
            <a:ext cx="7708214" cy="6425586"/>
          </a:xfrm>
          <a:prstGeom prst="rect">
            <a:avLst/>
          </a:prstGeom>
          <a:solidFill>
            <a:srgbClr val="1A1A1A"/>
          </a:solidFill>
          <a:ln/>
        </p:spPr>
        <p:txBody>
          <a:bodyPr/>
          <a:lstStyle/>
          <a:p>
            <a:endParaRPr lang="en-US"/>
          </a:p>
        </p:txBody>
      </p:sp>
      <p:sp>
        <p:nvSpPr>
          <p:cNvPr id="6" name="Shape 4"/>
          <p:cNvSpPr/>
          <p:nvPr/>
        </p:nvSpPr>
        <p:spPr>
          <a:xfrm>
            <a:off x="1543009" y="3850589"/>
            <a:ext cx="7098695" cy="9525"/>
          </a:xfrm>
          <a:prstGeom prst="rect">
            <a:avLst/>
          </a:prstGeom>
          <a:solidFill>
            <a:srgbClr val="E8E2D2">
              <a:alpha val="18000"/>
            </a:srgbClr>
          </a:solidFill>
          <a:ln/>
        </p:spPr>
        <p:txBody>
          <a:bodyPr/>
          <a:lstStyle/>
          <a:p>
            <a:endParaRPr lang="en-US"/>
          </a:p>
        </p:txBody>
      </p:sp>
      <p:sp>
        <p:nvSpPr>
          <p:cNvPr id="7" name="Text 5"/>
          <p:cNvSpPr/>
          <p:nvPr/>
        </p:nvSpPr>
        <p:spPr>
          <a:xfrm>
            <a:off x="1543009" y="3451595"/>
            <a:ext cx="2113048" cy="303758"/>
          </a:xfrm>
          <a:prstGeom prst="rect">
            <a:avLst/>
          </a:prstGeom>
          <a:noFill/>
          <a:ln/>
        </p:spPr>
        <p:txBody>
          <a:bodyPr wrap="square" lIns="25400" tIns="25400" rIns="25400" bIns="25400" rtlCol="0" anchor="t">
            <a:normAutofit/>
          </a:bodyPr>
          <a:lstStyle/>
          <a:p>
            <a:pPr marL="0" indent="0" algn="l">
              <a:lnSpc>
                <a:spcPct val="155000"/>
              </a:lnSpc>
              <a:buNone/>
            </a:pPr>
            <a:r>
              <a:rPr lang="en-US" sz="1350" kern="0" spc="81" dirty="0">
                <a:solidFill>
                  <a:srgbClr val="E8E2D2">
                    <a:alpha val="55000"/>
                  </a:srgbClr>
                </a:solidFill>
                <a:latin typeface="JetBrains Mono" pitchFamily="34" charset="0"/>
                <a:ea typeface="JetBrains Mono" pitchFamily="34" charset="-122"/>
                <a:cs typeface="JetBrains Mono" pitchFamily="34" charset="-120"/>
              </a:rPr>
              <a:t>MD / PRESENTATIONS</a:t>
            </a:r>
            <a:endParaRPr lang="en-US" sz="1350" dirty="0"/>
          </a:p>
        </p:txBody>
      </p:sp>
      <p:sp>
        <p:nvSpPr>
          <p:cNvPr id="8" name="Text 6"/>
          <p:cNvSpPr/>
          <p:nvPr/>
        </p:nvSpPr>
        <p:spPr>
          <a:xfrm>
            <a:off x="6621972" y="3451595"/>
            <a:ext cx="2095933" cy="303758"/>
          </a:xfrm>
          <a:prstGeom prst="rect">
            <a:avLst/>
          </a:prstGeom>
          <a:noFill/>
          <a:ln/>
        </p:spPr>
        <p:txBody>
          <a:bodyPr wrap="square" lIns="25400" tIns="25400" rIns="25400" bIns="25400" rtlCol="0" anchor="t">
            <a:normAutofit/>
          </a:bodyPr>
          <a:lstStyle/>
          <a:p>
            <a:pPr marL="0" indent="0" algn="l">
              <a:lnSpc>
                <a:spcPct val="155000"/>
              </a:lnSpc>
              <a:buNone/>
            </a:pPr>
            <a:r>
              <a:rPr lang="en-US" sz="1350" kern="0" spc="27" dirty="0">
                <a:solidFill>
                  <a:srgbClr val="E8E2D2"/>
                </a:solidFill>
                <a:latin typeface="JetBrains Mono" pitchFamily="34" charset="0"/>
                <a:ea typeface="JetBrains Mono" pitchFamily="34" charset="-122"/>
                <a:cs typeface="JetBrains Mono" pitchFamily="34" charset="-120"/>
              </a:rPr>
              <a:t>MX-what-why-when.md</a:t>
            </a:r>
            <a:endParaRPr lang="en-US" sz="1350" dirty="0"/>
          </a:p>
        </p:txBody>
      </p:sp>
      <p:sp>
        <p:nvSpPr>
          <p:cNvPr id="9" name="Text 7"/>
          <p:cNvSpPr/>
          <p:nvPr/>
        </p:nvSpPr>
        <p:spPr>
          <a:xfrm>
            <a:off x="1543009" y="4030671"/>
            <a:ext cx="7311656" cy="5351264"/>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E8E2D2">
                    <a:alpha val="40000"/>
                  </a:srgbClr>
                </a:solidFill>
                <a:latin typeface="JetBrains Mono" pitchFamily="34" charset="0"/>
                <a:ea typeface="JetBrains Mono" pitchFamily="34" charset="-122"/>
                <a:cs typeface="JetBrains Mono" pitchFamily="34" charset="-120"/>
              </a:rPr>
              <a:t>--- </a:t>
            </a:r>
            <a:br>
              <a:rPr lang="en-US" sz="1350" dirty="0">
                <a:solidFill>
                  <a:srgbClr val="E8E2D2">
                    <a:alpha val="40000"/>
                  </a:srgbClr>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title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London CMS Experts Lightning Talk </a:t>
            </a:r>
            <a:br>
              <a:rPr lang="en-US" sz="1350" dirty="0">
                <a:solidFill>
                  <a:srgbClr val="E8E2D2"/>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author</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Tom Cranstoun </a:t>
            </a:r>
            <a:br>
              <a:rPr lang="en-US" sz="1350" dirty="0">
                <a:solidFill>
                  <a:srgbClr val="E8E2D2"/>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created</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'2026-03-01’ </a:t>
            </a:r>
            <a:br>
              <a:rPr lang="en-US" sz="1350" dirty="0">
                <a:solidFill>
                  <a:srgbClr val="D8C89A"/>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version</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"1.0" </a:t>
            </a:r>
            <a:br>
              <a:rPr lang="en-US" sz="1350" dirty="0">
                <a:solidFill>
                  <a:srgbClr val="D8C89A"/>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mx </a:t>
            </a:r>
            <a:r>
              <a:rPr lang="en-US" sz="1350" dirty="0">
                <a:solidFill>
                  <a:srgbClr val="C9C2B0"/>
                </a:solidFill>
                <a:latin typeface="JetBrains Mono" pitchFamily="34" charset="0"/>
                <a:ea typeface="JetBrains Mono" pitchFamily="34" charset="-122"/>
                <a:cs typeface="JetBrains Mono" pitchFamily="34" charset="-120"/>
              </a:rPr>
              <a:t>:</a:t>
            </a:r>
            <a:endParaRPr lang="en-US" sz="1350" dirty="0"/>
          </a:p>
          <a:p>
            <a:pPr marL="0" indent="0" algn="l">
              <a:lnSpc>
                <a:spcPct val="155000"/>
              </a:lnSpc>
              <a:buNone/>
            </a:pP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status</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active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latin typeface="JetBrains Mono" pitchFamily="34" charset="0"/>
                <a:ea typeface="JetBrains Mono" pitchFamily="34" charset="-122"/>
                <a:cs typeface="JetBrains Mono" pitchFamily="34" charset="-120"/>
              </a:rPr>
              <a:t>contentType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presentation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audience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[humans, machines]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license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proprietary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publisher</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CogNovaMX Ltd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rights</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 2026 Tom Cranstoun. All rights reserved."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highlight>
                  <a:srgbClr val="C8482B"/>
                </a:highlight>
                <a:latin typeface="JetBrains Mono" pitchFamily="34" charset="0"/>
                <a:ea typeface="JetBrains Mono" pitchFamily="34" charset="-122"/>
                <a:cs typeface="JetBrains Mono" pitchFamily="34" charset="-120"/>
              </a:rPr>
              <a:t>provenanceAuthor</a:t>
            </a:r>
            <a:r>
              <a:rPr lang="en-US" sz="1350" dirty="0">
                <a:solidFill>
                  <a:srgbClr val="C9C2B0"/>
                </a:solidFill>
                <a:highlight>
                  <a:srgbClr val="C8482B"/>
                </a:highlight>
                <a:latin typeface="JetBrains Mono" pitchFamily="34" charset="0"/>
                <a:ea typeface="JetBrains Mono" pitchFamily="34" charset="-122"/>
                <a:cs typeface="JetBrains Mono" pitchFamily="34" charset="-120"/>
              </a:rPr>
              <a:t>: </a:t>
            </a:r>
            <a:r>
              <a:rPr lang="en-US" sz="1350" dirty="0">
                <a:solidFill>
                  <a:srgbClr val="E8E2D2"/>
                </a:solidFill>
                <a:highlight>
                  <a:srgbClr val="C8482B"/>
                </a:highlight>
                <a:latin typeface="JetBrains Mono" pitchFamily="34" charset="0"/>
                <a:ea typeface="JetBrains Mono" pitchFamily="34" charset="-122"/>
                <a:cs typeface="JetBrains Mono" pitchFamily="34" charset="-120"/>
              </a:rPr>
              <a:t>Tom Cranstoun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highlight>
                  <a:srgbClr val="C8482B"/>
                </a:highlight>
                <a:latin typeface="JetBrains Mono" pitchFamily="34" charset="0"/>
                <a:ea typeface="JetBrains Mono" pitchFamily="34" charset="-122"/>
                <a:cs typeface="JetBrains Mono" pitchFamily="34" charset="-120"/>
              </a:rPr>
              <a:t>provenancePublisher</a:t>
            </a:r>
            <a:r>
              <a:rPr lang="en-US" sz="1350" dirty="0">
                <a:solidFill>
                  <a:srgbClr val="C9C2B0"/>
                </a:solidFill>
                <a:highlight>
                  <a:srgbClr val="C8482B"/>
                </a:highlight>
                <a:latin typeface="JetBrains Mono" pitchFamily="34" charset="0"/>
                <a:ea typeface="JetBrains Mono" pitchFamily="34" charset="-122"/>
                <a:cs typeface="JetBrains Mono" pitchFamily="34" charset="-120"/>
              </a:rPr>
              <a:t>: </a:t>
            </a:r>
            <a:r>
              <a:rPr lang="en-US" sz="1350" dirty="0">
                <a:solidFill>
                  <a:srgbClr val="E8E2D2"/>
                </a:solidFill>
                <a:highlight>
                  <a:srgbClr val="C8482B"/>
                </a:highlight>
                <a:latin typeface="JetBrains Mono" pitchFamily="34" charset="0"/>
                <a:ea typeface="JetBrains Mono" pitchFamily="34" charset="-122"/>
                <a:cs typeface="JetBrains Mono" pitchFamily="34" charset="-120"/>
              </a:rPr>
              <a:t>CogNovaMX Ltd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highlight>
                  <a:srgbClr val="C8482B"/>
                </a:highlight>
                <a:latin typeface="JetBrains Mono" pitchFamily="34" charset="0"/>
                <a:ea typeface="JetBrains Mono" pitchFamily="34" charset="-122"/>
                <a:cs typeface="JetBrains Mono" pitchFamily="34" charset="-120"/>
              </a:rPr>
              <a:t>provenanceOrigin</a:t>
            </a:r>
            <a:r>
              <a:rPr lang="en-US" sz="1350" dirty="0">
                <a:solidFill>
                  <a:srgbClr val="C9C2B0"/>
                </a:solidFill>
                <a:highlight>
                  <a:srgbClr val="C8482B"/>
                </a:highlight>
                <a:latin typeface="JetBrains Mono" pitchFamily="34" charset="0"/>
                <a:ea typeface="JetBrains Mono" pitchFamily="34" charset="-122"/>
                <a:cs typeface="JetBrains Mono" pitchFamily="34" charset="-120"/>
              </a:rPr>
              <a:t>: </a:t>
            </a:r>
            <a:r>
              <a:rPr lang="en-US" sz="1350" dirty="0">
                <a:solidFill>
                  <a:srgbClr val="D8C89A"/>
                </a:solidFill>
                <a:highlight>
                  <a:srgbClr val="C8482B"/>
                </a:highlight>
                <a:latin typeface="JetBrains Mono" pitchFamily="34" charset="0"/>
                <a:ea typeface="JetBrains Mono" pitchFamily="34" charset="-122"/>
                <a:cs typeface="JetBrains Mono" pitchFamily="34" charset="-120"/>
              </a:rPr>
              <a:t>human-directed </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conformsTo </a:t>
            </a:r>
            <a:r>
              <a:rPr lang="en-US" sz="1350" dirty="0">
                <a:solidFill>
                  <a:srgbClr val="C9C2B0"/>
                </a:solidFill>
                <a:latin typeface="JetBrains Mono" pitchFamily="34" charset="0"/>
                <a:ea typeface="JetBrains Mono" pitchFamily="34" charset="-122"/>
                <a:cs typeface="JetBrains Mono" pitchFamily="34" charset="-120"/>
              </a:rPr>
              <a:t>:</a:t>
            </a:r>
            <a:endParaRPr lang="en-US" sz="1350" dirty="0"/>
          </a:p>
          <a:p>
            <a:pPr marL="0" indent="0" algn="l">
              <a:lnSpc>
                <a:spcPct val="155000"/>
              </a:lnSpc>
              <a:buNone/>
            </a:pPr>
            <a:r>
              <a:rPr lang="en-US" sz="1350" dirty="0">
                <a:solidFill>
                  <a:srgbClr val="C9C2B0"/>
                </a:solidFill>
                <a:latin typeface="JetBrains Mono" pitchFamily="34" charset="0"/>
                <a:ea typeface="JetBrains Mono" pitchFamily="34" charset="-122"/>
                <a:cs typeface="JetBrains Mono" pitchFamily="34" charset="-120"/>
              </a:rPr>
              <a:t>    -  </a:t>
            </a:r>
            <a:r>
              <a:rPr lang="en-US" sz="1350" dirty="0" err="1">
                <a:solidFill>
                  <a:srgbClr val="E8E2D2"/>
                </a:solidFill>
                <a:latin typeface="JetBrains Mono" pitchFamily="34" charset="0"/>
                <a:ea typeface="JetBrains Mono" pitchFamily="34" charset="-122"/>
                <a:cs typeface="JetBrains Mono" pitchFamily="34" charset="-120"/>
              </a:rPr>
              <a:t>schema.org</a:t>
            </a:r>
            <a:r>
              <a:rPr lang="en-US" sz="1350" dirty="0">
                <a:solidFill>
                  <a:srgbClr val="E8E2D2"/>
                </a:solidFill>
                <a:latin typeface="JetBrains Mono" pitchFamily="34" charset="0"/>
                <a:ea typeface="JetBrains Mono" pitchFamily="34" charset="-122"/>
                <a:cs typeface="JetBrains Mono" pitchFamily="34" charset="-120"/>
              </a:rPr>
              <a:t>/</a:t>
            </a:r>
            <a:r>
              <a:rPr lang="en-US" sz="1350" dirty="0" err="1">
                <a:solidFill>
                  <a:srgbClr val="E8E2D2"/>
                </a:solidFill>
                <a:latin typeface="JetBrains Mono" pitchFamily="34" charset="0"/>
                <a:ea typeface="JetBrains Mono" pitchFamily="34" charset="-122"/>
                <a:cs typeface="JetBrains Mono" pitchFamily="34" charset="-120"/>
              </a:rPr>
              <a:t>PresentationDigitalDocument</a:t>
            </a:r>
            <a:r>
              <a:rPr lang="en-US" sz="1350" dirty="0">
                <a:solidFill>
                  <a:srgbClr val="E8E2D2"/>
                </a:solidFill>
                <a:latin typeface="JetBrains Mono" pitchFamily="34" charset="0"/>
                <a:ea typeface="JetBrains Mono" pitchFamily="34" charset="-122"/>
                <a:cs typeface="JetBrains Mono" pitchFamily="34" charset="-120"/>
              </a:rPr>
              <a:t> </a:t>
            </a:r>
            <a:br>
              <a:rPr lang="en-US" sz="1350" dirty="0">
                <a:solidFill>
                  <a:srgbClr val="E8E2D2"/>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 </a:t>
            </a:r>
            <a:r>
              <a:rPr lang="en-US" sz="1350" dirty="0">
                <a:solidFill>
                  <a:srgbClr val="E8E2D2"/>
                </a:solidFill>
                <a:latin typeface="JetBrains Mono" pitchFamily="34" charset="0"/>
                <a:ea typeface="JetBrains Mono" pitchFamily="34" charset="-122"/>
                <a:cs typeface="JetBrains Mono" pitchFamily="34" charset="-120"/>
              </a:rPr>
              <a:t>dublincore.org/</a:t>
            </a:r>
            <a:r>
              <a:rPr lang="en-US" sz="1350" dirty="0" err="1">
                <a:solidFill>
                  <a:srgbClr val="E8E2D2"/>
                </a:solidFill>
                <a:latin typeface="JetBrains Mono" pitchFamily="34" charset="0"/>
                <a:ea typeface="JetBrains Mono" pitchFamily="34" charset="-122"/>
                <a:cs typeface="JetBrains Mono" pitchFamily="34" charset="-120"/>
              </a:rPr>
              <a:t>dcmi</a:t>
            </a:r>
            <a:r>
              <a:rPr lang="en-US" sz="1350" dirty="0">
                <a:solidFill>
                  <a:srgbClr val="E8E2D2"/>
                </a:solidFill>
                <a:latin typeface="JetBrains Mono" pitchFamily="34" charset="0"/>
                <a:ea typeface="JetBrains Mono" pitchFamily="34" charset="-122"/>
                <a:cs typeface="JetBrains Mono" pitchFamily="34" charset="-120"/>
              </a:rPr>
              <a:t>-terms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 </a:t>
            </a:r>
            <a:r>
              <a:rPr lang="en-US" sz="1350" dirty="0">
                <a:solidFill>
                  <a:srgbClr val="E8E2D2"/>
                </a:solidFill>
                <a:latin typeface="JetBrains Mono" pitchFamily="34" charset="0"/>
                <a:ea typeface="JetBrains Mono" pitchFamily="34" charset="-122"/>
                <a:cs typeface="JetBrains Mono" pitchFamily="34" charset="-120"/>
              </a:rPr>
              <a:t>mx.allabout.network/specs/mx-core-level-1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latin typeface="JetBrains Mono" pitchFamily="34" charset="0"/>
                <a:ea typeface="JetBrains Mono" pitchFamily="34" charset="-122"/>
                <a:cs typeface="JetBrains Mono" pitchFamily="34" charset="-120"/>
              </a:rPr>
              <a:t>canonicalUri</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file://~//MX-what-why-when.md</a:t>
            </a:r>
            <a:endParaRPr lang="en-US" sz="1350" dirty="0"/>
          </a:p>
        </p:txBody>
      </p:sp>
      <p:sp>
        <p:nvSpPr>
          <p:cNvPr id="10" name="Text 8"/>
          <p:cNvSpPr/>
          <p:nvPr/>
        </p:nvSpPr>
        <p:spPr>
          <a:xfrm>
            <a:off x="9708464" y="3640674"/>
            <a:ext cx="7561454" cy="1653223"/>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A1A1A"/>
                </a:solidFill>
                <a:latin typeface="Source Serif 4" pitchFamily="34" charset="0"/>
                <a:ea typeface="Source Serif 4" pitchFamily="34" charset="-122"/>
                <a:cs typeface="Source Serif 4" pitchFamily="34" charset="-120"/>
              </a:rPr>
              <a:t>Every MX document carries its passport in the header. Plain YAML. Human-readable.</a:t>
            </a:r>
          </a:p>
          <a:p>
            <a:pPr marL="0" indent="0" algn="l">
              <a:lnSpc>
                <a:spcPct val="125000"/>
              </a:lnSpc>
              <a:buNone/>
            </a:pPr>
            <a:r>
              <a:rPr lang="en-US" sz="2700" i="1" dirty="0">
                <a:solidFill>
                  <a:srgbClr val="C8482B"/>
                </a:solidFill>
                <a:latin typeface="Source Serif 4" pitchFamily="34" charset="0"/>
                <a:ea typeface="Source Serif 4" pitchFamily="34" charset="-122"/>
                <a:cs typeface="Source Serif 4" pitchFamily="34" charset="-120"/>
              </a:rPr>
              <a:t>Machine-verifiable.</a:t>
            </a:r>
            <a:endParaRPr lang="en-US" sz="2700" dirty="0"/>
          </a:p>
        </p:txBody>
      </p:sp>
      <p:sp>
        <p:nvSpPr>
          <p:cNvPr id="11" name="Shape 9"/>
          <p:cNvSpPr/>
          <p:nvPr/>
        </p:nvSpPr>
        <p:spPr>
          <a:xfrm>
            <a:off x="9708464" y="5536068"/>
            <a:ext cx="7341218" cy="9525"/>
          </a:xfrm>
          <a:prstGeom prst="rect">
            <a:avLst/>
          </a:prstGeom>
          <a:solidFill>
            <a:srgbClr val="D8D2C4"/>
          </a:solidFill>
          <a:ln/>
        </p:spPr>
        <p:txBody>
          <a:bodyPr/>
          <a:lstStyle/>
          <a:p>
            <a:endParaRPr lang="en-US"/>
          </a:p>
        </p:txBody>
      </p:sp>
      <p:sp>
        <p:nvSpPr>
          <p:cNvPr id="12" name="Text 10"/>
          <p:cNvSpPr/>
          <p:nvPr/>
        </p:nvSpPr>
        <p:spPr>
          <a:xfrm>
            <a:off x="9708464" y="5708370"/>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provenanceAuthor</a:t>
            </a:r>
            <a:endParaRPr lang="en-US" sz="1650" dirty="0"/>
          </a:p>
        </p:txBody>
      </p:sp>
      <p:sp>
        <p:nvSpPr>
          <p:cNvPr id="13" name="Text 11"/>
          <p:cNvSpPr/>
          <p:nvPr/>
        </p:nvSpPr>
        <p:spPr>
          <a:xfrm>
            <a:off x="12604050" y="5678063"/>
            <a:ext cx="4579000"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b="1" dirty="0">
                <a:solidFill>
                  <a:srgbClr val="1A1A1A"/>
                </a:solidFill>
                <a:latin typeface="Inter" pitchFamily="34" charset="0"/>
                <a:ea typeface="Inter" pitchFamily="34" charset="-122"/>
                <a:cs typeface="Inter" pitchFamily="34" charset="-120"/>
              </a:rPr>
              <a:t>Who </a:t>
            </a:r>
            <a:r>
              <a:rPr lang="en-US" sz="1875" dirty="0">
                <a:solidFill>
                  <a:srgbClr val="2A2A28"/>
                </a:solidFill>
                <a:latin typeface="Inter" pitchFamily="34" charset="0"/>
                <a:ea typeface="Inter" pitchFamily="34" charset="-122"/>
                <a:cs typeface="Inter" pitchFamily="34" charset="-120"/>
              </a:rPr>
              <a:t>wrote it.</a:t>
            </a:r>
            <a:endParaRPr lang="en-US" sz="1875" dirty="0"/>
          </a:p>
        </p:txBody>
      </p:sp>
      <p:sp>
        <p:nvSpPr>
          <p:cNvPr id="14" name="Shape 12"/>
          <p:cNvSpPr/>
          <p:nvPr/>
        </p:nvSpPr>
        <p:spPr>
          <a:xfrm>
            <a:off x="9708464" y="6135101"/>
            <a:ext cx="7341218" cy="9525"/>
          </a:xfrm>
          <a:prstGeom prst="rect">
            <a:avLst/>
          </a:prstGeom>
          <a:solidFill>
            <a:srgbClr val="D8D2C4"/>
          </a:solidFill>
          <a:ln/>
        </p:spPr>
        <p:txBody>
          <a:bodyPr/>
          <a:lstStyle/>
          <a:p>
            <a:endParaRPr lang="en-US"/>
          </a:p>
        </p:txBody>
      </p:sp>
      <p:sp>
        <p:nvSpPr>
          <p:cNvPr id="15" name="Text 13"/>
          <p:cNvSpPr/>
          <p:nvPr/>
        </p:nvSpPr>
        <p:spPr>
          <a:xfrm>
            <a:off x="9708464" y="6307403"/>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provenancePublisher</a:t>
            </a:r>
            <a:endParaRPr lang="en-US" sz="1650" dirty="0"/>
          </a:p>
        </p:txBody>
      </p:sp>
      <p:sp>
        <p:nvSpPr>
          <p:cNvPr id="16" name="Text 14"/>
          <p:cNvSpPr/>
          <p:nvPr/>
        </p:nvSpPr>
        <p:spPr>
          <a:xfrm>
            <a:off x="12604050" y="6202641"/>
            <a:ext cx="4579000" cy="434025"/>
          </a:xfrm>
          <a:prstGeom prst="rect">
            <a:avLst/>
          </a:prstGeom>
          <a:noFill/>
          <a:ln/>
        </p:spPr>
        <p:txBody>
          <a:bodyPr wrap="square" lIns="25400" tIns="25400" rIns="25400" bIns="25400" rtlCol="0" anchor="t">
            <a:normAutofit/>
          </a:bodyPr>
          <a:lstStyle/>
          <a:p>
            <a:pPr marL="0" indent="0" algn="l">
              <a:lnSpc>
                <a:spcPct val="135000"/>
              </a:lnSpc>
              <a:buNone/>
            </a:pPr>
            <a:r>
              <a:rPr lang="en-US" sz="1875" b="1" dirty="0">
                <a:solidFill>
                  <a:srgbClr val="1A1A1A"/>
                </a:solidFill>
                <a:latin typeface="Inter" pitchFamily="34" charset="0"/>
                <a:ea typeface="Inter" pitchFamily="34" charset="-122"/>
                <a:cs typeface="Inter" pitchFamily="34" charset="-120"/>
              </a:rPr>
              <a:t>Which entity </a:t>
            </a:r>
            <a:r>
              <a:rPr lang="en-US" sz="1875" dirty="0">
                <a:solidFill>
                  <a:srgbClr val="2A2A28"/>
                </a:solidFill>
                <a:latin typeface="Inter" pitchFamily="34" charset="0"/>
                <a:ea typeface="Inter" pitchFamily="34" charset="-122"/>
                <a:cs typeface="Inter" pitchFamily="34" charset="-120"/>
              </a:rPr>
              <a:t>stands behind it.</a:t>
            </a:r>
            <a:endParaRPr lang="en-US" sz="1875" dirty="0"/>
          </a:p>
        </p:txBody>
      </p:sp>
      <p:sp>
        <p:nvSpPr>
          <p:cNvPr id="17" name="Shape 15"/>
          <p:cNvSpPr/>
          <p:nvPr/>
        </p:nvSpPr>
        <p:spPr>
          <a:xfrm>
            <a:off x="9708464" y="6734134"/>
            <a:ext cx="7341218" cy="9525"/>
          </a:xfrm>
          <a:prstGeom prst="rect">
            <a:avLst/>
          </a:prstGeom>
          <a:solidFill>
            <a:srgbClr val="D8D2C4"/>
          </a:solidFill>
          <a:ln/>
        </p:spPr>
        <p:txBody>
          <a:bodyPr/>
          <a:lstStyle/>
          <a:p>
            <a:endParaRPr lang="en-US"/>
          </a:p>
        </p:txBody>
      </p:sp>
      <p:sp>
        <p:nvSpPr>
          <p:cNvPr id="18" name="Text 16"/>
          <p:cNvSpPr/>
          <p:nvPr/>
        </p:nvSpPr>
        <p:spPr>
          <a:xfrm>
            <a:off x="9708464" y="6906437"/>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provenanceOrigin</a:t>
            </a:r>
            <a:endParaRPr lang="en-US" sz="1650" dirty="0"/>
          </a:p>
        </p:txBody>
      </p:sp>
      <p:sp>
        <p:nvSpPr>
          <p:cNvPr id="19" name="Text 17"/>
          <p:cNvSpPr/>
          <p:nvPr/>
        </p:nvSpPr>
        <p:spPr>
          <a:xfrm>
            <a:off x="12604050" y="6790892"/>
            <a:ext cx="4579000" cy="766276"/>
          </a:xfrm>
          <a:prstGeom prst="rect">
            <a:avLst/>
          </a:prstGeom>
          <a:noFill/>
          <a:ln/>
        </p:spPr>
        <p:txBody>
          <a:bodyPr wrap="square" lIns="25400" tIns="25400" rIns="25400" bIns="25400" rtlCol="0" anchor="t">
            <a:normAutofit lnSpcReduction="10000"/>
          </a:bodyPr>
          <a:lstStyle/>
          <a:p>
            <a:pPr marL="0" indent="0" algn="l">
              <a:lnSpc>
                <a:spcPct val="135000"/>
              </a:lnSpc>
              <a:buNone/>
            </a:pPr>
            <a:r>
              <a:rPr lang="en-US" sz="1875" b="1" dirty="0">
                <a:solidFill>
                  <a:srgbClr val="1A1A1A"/>
                </a:solidFill>
                <a:latin typeface="Inter" pitchFamily="34" charset="0"/>
                <a:ea typeface="Inter" pitchFamily="34" charset="-122"/>
                <a:cs typeface="Inter" pitchFamily="34" charset="-120"/>
              </a:rPr>
              <a:t>Human-directed </a:t>
            </a:r>
            <a:r>
              <a:rPr lang="en-US" sz="1875" dirty="0">
                <a:solidFill>
                  <a:srgbClr val="2A2A28"/>
                </a:solidFill>
                <a:latin typeface="Inter" pitchFamily="34" charset="0"/>
                <a:ea typeface="Inter" pitchFamily="34" charset="-122"/>
                <a:cs typeface="Inter" pitchFamily="34" charset="-120"/>
              </a:rPr>
              <a:t>or agent-generated. The boundary regulators now require.</a:t>
            </a:r>
            <a:endParaRPr lang="en-US" sz="1875" dirty="0"/>
          </a:p>
        </p:txBody>
      </p:sp>
      <p:sp>
        <p:nvSpPr>
          <p:cNvPr id="20" name="Shape 18"/>
          <p:cNvSpPr/>
          <p:nvPr/>
        </p:nvSpPr>
        <p:spPr>
          <a:xfrm>
            <a:off x="9708464" y="7652404"/>
            <a:ext cx="7341218" cy="9525"/>
          </a:xfrm>
          <a:prstGeom prst="rect">
            <a:avLst/>
          </a:prstGeom>
          <a:solidFill>
            <a:srgbClr val="D8D2C4"/>
          </a:solidFill>
          <a:ln/>
        </p:spPr>
        <p:txBody>
          <a:bodyPr/>
          <a:lstStyle/>
          <a:p>
            <a:endParaRPr lang="en-US"/>
          </a:p>
        </p:txBody>
      </p:sp>
      <p:sp>
        <p:nvSpPr>
          <p:cNvPr id="21" name="Text 19"/>
          <p:cNvSpPr/>
          <p:nvPr/>
        </p:nvSpPr>
        <p:spPr>
          <a:xfrm>
            <a:off x="9708464" y="7824706"/>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conformsTo</a:t>
            </a:r>
            <a:endParaRPr lang="en-US" sz="1650" dirty="0"/>
          </a:p>
        </p:txBody>
      </p:sp>
      <p:sp>
        <p:nvSpPr>
          <p:cNvPr id="22" name="Text 20"/>
          <p:cNvSpPr/>
          <p:nvPr/>
        </p:nvSpPr>
        <p:spPr>
          <a:xfrm>
            <a:off x="12604050" y="7709161"/>
            <a:ext cx="4276491" cy="766276"/>
          </a:xfrm>
          <a:prstGeom prst="rect">
            <a:avLst/>
          </a:prstGeom>
          <a:noFill/>
          <a:ln/>
        </p:spPr>
        <p:txBody>
          <a:bodyPr wrap="square" lIns="25400" tIns="25400" rIns="25400" bIns="25400" rtlCol="0" anchor="t">
            <a:normAutofit lnSpcReduction="10000"/>
          </a:bodyPr>
          <a:lstStyle/>
          <a:p>
            <a:pPr marL="0" indent="0" algn="l">
              <a:lnSpc>
                <a:spcPct val="135000"/>
              </a:lnSpc>
              <a:buNone/>
            </a:pPr>
            <a:r>
              <a:rPr lang="en-US" sz="1875" dirty="0">
                <a:solidFill>
                  <a:srgbClr val="2A2A28"/>
                </a:solidFill>
                <a:latin typeface="Inter" pitchFamily="34" charset="0"/>
                <a:ea typeface="Inter" pitchFamily="34" charset="-122"/>
                <a:cs typeface="Inter" pitchFamily="34" charset="-120"/>
              </a:rPr>
              <a:t>The </a:t>
            </a:r>
            <a:r>
              <a:rPr lang="en-US" sz="1875" b="1" dirty="0">
                <a:solidFill>
                  <a:srgbClr val="1A1A1A"/>
                </a:solidFill>
                <a:latin typeface="Inter" pitchFamily="34" charset="0"/>
                <a:ea typeface="Inter" pitchFamily="34" charset="-122"/>
                <a:cs typeface="Inter" pitchFamily="34" charset="-120"/>
              </a:rPr>
              <a:t>standards </a:t>
            </a:r>
            <a:r>
              <a:rPr lang="en-US" sz="1875" dirty="0">
                <a:solidFill>
                  <a:srgbClr val="2A2A28"/>
                </a:solidFill>
                <a:latin typeface="Inter" pitchFamily="34" charset="0"/>
                <a:ea typeface="Inter" pitchFamily="34" charset="-122"/>
                <a:cs typeface="Inter" pitchFamily="34" charset="-120"/>
              </a:rPr>
              <a:t>the document promises to follow.</a:t>
            </a:r>
            <a:endParaRPr lang="en-US" sz="1875" dirty="0"/>
          </a:p>
        </p:txBody>
      </p:sp>
      <p:sp>
        <p:nvSpPr>
          <p:cNvPr id="23" name="Shape 21"/>
          <p:cNvSpPr/>
          <p:nvPr/>
        </p:nvSpPr>
        <p:spPr>
          <a:xfrm>
            <a:off x="9708464" y="9488943"/>
            <a:ext cx="7341218" cy="9525"/>
          </a:xfrm>
          <a:prstGeom prst="rect">
            <a:avLst/>
          </a:prstGeom>
          <a:solidFill>
            <a:srgbClr val="D8D2C4"/>
          </a:solidFill>
          <a:ln/>
        </p:spPr>
        <p:txBody>
          <a:bodyPr/>
          <a:lstStyle/>
          <a:p>
            <a:endParaRPr lang="en-US"/>
          </a:p>
        </p:txBody>
      </p:sp>
      <p:sp>
        <p:nvSpPr>
          <p:cNvPr id="24" name="Shape 22"/>
          <p:cNvSpPr/>
          <p:nvPr/>
        </p:nvSpPr>
        <p:spPr>
          <a:xfrm>
            <a:off x="9708464" y="8570673"/>
            <a:ext cx="7341218" cy="9525"/>
          </a:xfrm>
          <a:prstGeom prst="rect">
            <a:avLst/>
          </a:prstGeom>
          <a:solidFill>
            <a:srgbClr val="D8D2C4"/>
          </a:solidFill>
          <a:ln/>
        </p:spPr>
        <p:txBody>
          <a:bodyPr/>
          <a:lstStyle/>
          <a:p>
            <a:endParaRPr lang="en-US"/>
          </a:p>
        </p:txBody>
      </p:sp>
      <p:sp>
        <p:nvSpPr>
          <p:cNvPr id="25" name="Text 23"/>
          <p:cNvSpPr/>
          <p:nvPr/>
        </p:nvSpPr>
        <p:spPr>
          <a:xfrm>
            <a:off x="9708464" y="8742976"/>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canonicalUri</a:t>
            </a:r>
            <a:endParaRPr lang="en-US" sz="1650" dirty="0"/>
          </a:p>
        </p:txBody>
      </p:sp>
      <p:sp>
        <p:nvSpPr>
          <p:cNvPr id="26" name="Text 24"/>
          <p:cNvSpPr/>
          <p:nvPr/>
        </p:nvSpPr>
        <p:spPr>
          <a:xfrm>
            <a:off x="12604050" y="8627431"/>
            <a:ext cx="4579000" cy="766276"/>
          </a:xfrm>
          <a:prstGeom prst="rect">
            <a:avLst/>
          </a:prstGeom>
          <a:noFill/>
          <a:ln/>
        </p:spPr>
        <p:txBody>
          <a:bodyPr wrap="square" lIns="25400" tIns="25400" rIns="25400" bIns="25400" rtlCol="0" anchor="t">
            <a:normAutofit lnSpcReduction="10000"/>
          </a:bodyPr>
          <a:lstStyle/>
          <a:p>
            <a:pPr marL="0" indent="0" algn="l">
              <a:lnSpc>
                <a:spcPct val="135000"/>
              </a:lnSpc>
              <a:buNone/>
            </a:pPr>
            <a:r>
              <a:rPr lang="en-US" sz="1875" dirty="0">
                <a:solidFill>
                  <a:srgbClr val="2A2A28"/>
                </a:solidFill>
                <a:latin typeface="Inter" pitchFamily="34" charset="0"/>
                <a:ea typeface="Inter" pitchFamily="34" charset="-122"/>
                <a:cs typeface="Inter" pitchFamily="34" charset="-120"/>
              </a:rPr>
              <a:t>A </a:t>
            </a:r>
            <a:r>
              <a:rPr lang="en-US" sz="1875" b="1" dirty="0">
                <a:solidFill>
                  <a:srgbClr val="1A1A1A"/>
                </a:solidFill>
                <a:latin typeface="Inter" pitchFamily="34" charset="0"/>
                <a:ea typeface="Inter" pitchFamily="34" charset="-122"/>
                <a:cs typeface="Inter" pitchFamily="34" charset="-120"/>
              </a:rPr>
              <a:t>resolvable address </a:t>
            </a:r>
            <a:r>
              <a:rPr lang="en-US" sz="1875" dirty="0">
                <a:solidFill>
                  <a:srgbClr val="2A2A28"/>
                </a:solidFill>
                <a:latin typeface="Inter" pitchFamily="34" charset="0"/>
                <a:ea typeface="Inter" pitchFamily="34" charset="-122"/>
                <a:cs typeface="Inter" pitchFamily="34" charset="-120"/>
              </a:rPr>
              <a:t>for the original. Tampering becomes detectable.</a:t>
            </a:r>
            <a:endParaRPr lang="en-US" sz="1875" dirty="0"/>
          </a:p>
        </p:txBody>
      </p:sp>
      <p:sp>
        <p:nvSpPr>
          <p:cNvPr id="27" name="Text 25"/>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8" name="Text 26"/>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9" name="Text 27"/>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0" name="Text 28"/>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05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THE INSIGHT</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Every enterprise solves Provenance from scratch. </a:t>
            </a:r>
            <a:br>
              <a:rPr lang="en-US" sz="4500" kern="0" spc="-81" dirty="0">
                <a:solidFill>
                  <a:srgbClr val="1A1A1A"/>
                </a:solidFill>
                <a:latin typeface="Source Serif 4" pitchFamily="34" charset="0"/>
                <a:ea typeface="Source Serif 4" pitchFamily="34" charset="-122"/>
                <a:cs typeface="Source Serif 4" pitchFamily="34" charset="-120"/>
              </a:rPr>
            </a:br>
            <a:r>
              <a:rPr lang="en-US" sz="4500" kern="0" spc="-81" dirty="0">
                <a:solidFill>
                  <a:srgbClr val="C8482B"/>
                </a:solidFill>
                <a:latin typeface="Source Serif 4" pitchFamily="34" charset="0"/>
                <a:ea typeface="Source Serif 4" pitchFamily="34" charset="-122"/>
                <a:cs typeface="Source Serif 4" pitchFamily="34" charset="-120"/>
              </a:rPr>
              <a:t>MX is the infrastructure, </a:t>
            </a:r>
            <a:r>
              <a:rPr lang="en-US" sz="4500" kern="0" spc="-81" dirty="0">
                <a:solidFill>
                  <a:srgbClr val="1A1A1A"/>
                </a:solidFill>
                <a:latin typeface="Source Serif 4" pitchFamily="34" charset="0"/>
                <a:ea typeface="Source Serif 4" pitchFamily="34" charset="-122"/>
                <a:cs typeface="Source Serif 4" pitchFamily="34" charset="-120"/>
              </a:rPr>
              <a:t>so no one must do it again.</a:t>
            </a:r>
            <a:endParaRPr lang="en-US" sz="4500" dirty="0"/>
          </a:p>
        </p:txBody>
      </p:sp>
      <p:sp>
        <p:nvSpPr>
          <p:cNvPr id="5" name="Shape 3"/>
          <p:cNvSpPr/>
          <p:nvPr/>
        </p:nvSpPr>
        <p:spPr>
          <a:xfrm>
            <a:off x="1238250" y="3832527"/>
            <a:ext cx="9525" cy="2800201"/>
          </a:xfrm>
          <a:prstGeom prst="rect">
            <a:avLst/>
          </a:prstGeom>
          <a:solidFill>
            <a:srgbClr val="D8D2C4"/>
          </a:solidFill>
          <a:ln/>
        </p:spPr>
        <p:txBody>
          <a:bodyPr/>
          <a:lstStyle/>
          <a:p>
            <a:endParaRPr lang="en-US"/>
          </a:p>
        </p:txBody>
      </p:sp>
      <p:sp>
        <p:nvSpPr>
          <p:cNvPr id="6" name="Text 4"/>
          <p:cNvSpPr/>
          <p:nvPr/>
        </p:nvSpPr>
        <p:spPr>
          <a:xfrm>
            <a:off x="1246909" y="3832527"/>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200+ sites</a:t>
            </a:r>
            <a:endParaRPr lang="en-US" sz="1950" dirty="0"/>
          </a:p>
        </p:txBody>
      </p:sp>
      <p:sp>
        <p:nvSpPr>
          <p:cNvPr id="7" name="Text 5"/>
          <p:cNvSpPr/>
          <p:nvPr/>
        </p:nvSpPr>
        <p:spPr>
          <a:xfrm>
            <a:off x="3551918" y="3832527"/>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Nissan-Renault </a:t>
            </a:r>
            <a:r>
              <a:rPr lang="en-US" sz="1800" dirty="0">
                <a:solidFill>
                  <a:srgbClr val="2A2A28"/>
                </a:solidFill>
                <a:latin typeface="Inter" pitchFamily="34" charset="0"/>
                <a:ea typeface="Inter" pitchFamily="34" charset="-122"/>
                <a:cs typeface="Inter" pitchFamily="34" charset="-120"/>
              </a:rPr>
              <a:t>— 30 languages, global rollout across the dealer and consumer estate.</a:t>
            </a:r>
            <a:endParaRPr lang="en-US" sz="1800" dirty="0"/>
          </a:p>
        </p:txBody>
      </p:sp>
      <p:sp>
        <p:nvSpPr>
          <p:cNvPr id="8" name="Text 6"/>
          <p:cNvSpPr/>
          <p:nvPr/>
        </p:nvSpPr>
        <p:spPr>
          <a:xfrm>
            <a:off x="1246909" y="4445902"/>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8,000pp · 24d</a:t>
            </a:r>
            <a:endParaRPr lang="en-US" sz="1950" dirty="0"/>
          </a:p>
        </p:txBody>
      </p:sp>
      <p:sp>
        <p:nvSpPr>
          <p:cNvPr id="9" name="Text 7"/>
          <p:cNvSpPr/>
          <p:nvPr/>
        </p:nvSpPr>
        <p:spPr>
          <a:xfrm>
            <a:off x="3551918" y="4445902"/>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EE </a:t>
            </a:r>
            <a:r>
              <a:rPr lang="en-US" sz="1800" dirty="0">
                <a:solidFill>
                  <a:srgbClr val="2A2A28"/>
                </a:solidFill>
                <a:latin typeface="Inter" pitchFamily="34" charset="0"/>
                <a:ea typeface="Inter" pitchFamily="34" charset="-122"/>
                <a:cs typeface="Inter" pitchFamily="34" charset="-120"/>
              </a:rPr>
              <a:t>— three brand CMSs migrated in twenty-four days. £450,000 saved on the programme.</a:t>
            </a:r>
            <a:endParaRPr lang="en-US" sz="1800" dirty="0"/>
          </a:p>
        </p:txBody>
      </p:sp>
      <p:sp>
        <p:nvSpPr>
          <p:cNvPr id="10" name="Text 8"/>
          <p:cNvSpPr/>
          <p:nvPr/>
        </p:nvSpPr>
        <p:spPr>
          <a:xfrm>
            <a:off x="1246909" y="5059277"/>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X / Twitter</a:t>
            </a:r>
            <a:endParaRPr lang="en-US" sz="1950" dirty="0"/>
          </a:p>
        </p:txBody>
      </p:sp>
      <p:sp>
        <p:nvSpPr>
          <p:cNvPr id="11" name="Text 9"/>
          <p:cNvSpPr/>
          <p:nvPr/>
        </p:nvSpPr>
        <p:spPr>
          <a:xfrm>
            <a:off x="3551918" y="5059277"/>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“Best team ever, on AEM.” </a:t>
            </a:r>
            <a:r>
              <a:rPr lang="en-US" sz="1800" dirty="0">
                <a:solidFill>
                  <a:srgbClr val="2A2A28"/>
                </a:solidFill>
                <a:latin typeface="Inter" pitchFamily="34" charset="0"/>
                <a:ea typeface="Inter" pitchFamily="34" charset="-122"/>
                <a:cs typeface="Inter" pitchFamily="34" charset="-120"/>
              </a:rPr>
              <a:t>— delivered the AEM build at X (formerly Twitter).</a:t>
            </a:r>
            <a:endParaRPr lang="en-US" sz="1800" dirty="0"/>
          </a:p>
        </p:txBody>
      </p:sp>
      <p:sp>
        <p:nvSpPr>
          <p:cNvPr id="12" name="Text 10"/>
          <p:cNvSpPr/>
          <p:nvPr/>
        </p:nvSpPr>
        <p:spPr>
          <a:xfrm>
            <a:off x="1246909" y="5672651"/>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Operator</a:t>
            </a:r>
            <a:endParaRPr lang="en-US" sz="1950" dirty="0"/>
          </a:p>
        </p:txBody>
      </p:sp>
      <p:sp>
        <p:nvSpPr>
          <p:cNvPr id="13" name="Text 11"/>
          <p:cNvSpPr/>
          <p:nvPr/>
        </p:nvSpPr>
        <p:spPr>
          <a:xfrm>
            <a:off x="3551918" y="5672651"/>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BBC · Ford · McLaren </a:t>
            </a:r>
            <a:r>
              <a:rPr lang="en-US" sz="1800" dirty="0">
                <a:solidFill>
                  <a:srgbClr val="2A2A28"/>
                </a:solidFill>
                <a:latin typeface="Inter" pitchFamily="34" charset="0"/>
                <a:ea typeface="Inter" pitchFamily="34" charset="-122"/>
                <a:cs typeface="Inter" pitchFamily="34" charset="-120"/>
              </a:rPr>
              <a:t>— the world’s largest content programmes, run from the inside.</a:t>
            </a:r>
            <a:endParaRPr lang="en-US" sz="1800" dirty="0"/>
          </a:p>
        </p:txBody>
      </p:sp>
      <p:sp>
        <p:nvSpPr>
          <p:cNvPr id="14" name="Text 12"/>
          <p:cNvSpPr/>
          <p:nvPr/>
        </p:nvSpPr>
        <p:spPr>
          <a:xfrm>
            <a:off x="1246909" y="6286026"/>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2024</a:t>
            </a:r>
            <a:endParaRPr lang="en-US" sz="1950" dirty="0"/>
          </a:p>
        </p:txBody>
      </p:sp>
      <p:sp>
        <p:nvSpPr>
          <p:cNvPr id="15" name="Text 13"/>
          <p:cNvSpPr/>
          <p:nvPr/>
        </p:nvSpPr>
        <p:spPr>
          <a:xfrm>
            <a:off x="3551918" y="6286026"/>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Diagnosis published </a:t>
            </a:r>
            <a:r>
              <a:rPr lang="en-US" sz="1800" dirty="0">
                <a:solidFill>
                  <a:srgbClr val="2A2A28"/>
                </a:solidFill>
                <a:latin typeface="Inter" pitchFamily="34" charset="0"/>
                <a:ea typeface="Inter" pitchFamily="34" charset="-122"/>
                <a:cs typeface="Inter" pitchFamily="34" charset="-120"/>
              </a:rPr>
              <a:t>— documents lack machine-native structure, state, intent, provenance.</a:t>
            </a:r>
            <a:endParaRPr lang="en-US" sz="1800" dirty="0"/>
          </a:p>
        </p:txBody>
      </p:sp>
      <p:sp>
        <p:nvSpPr>
          <p:cNvPr id="16" name="Text 1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17" name="Text 1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18" name="Text 1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19" name="Text 1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06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WHAT MX IS</a:t>
            </a:r>
            <a:endParaRPr lang="en-US" sz="1800" dirty="0"/>
          </a:p>
        </p:txBody>
      </p:sp>
      <p:sp>
        <p:nvSpPr>
          <p:cNvPr id="4" name="Text 2"/>
          <p:cNvSpPr/>
          <p:nvPr/>
        </p:nvSpPr>
        <p:spPr>
          <a:xfrm>
            <a:off x="1238250" y="1577240"/>
            <a:ext cx="11697821" cy="154383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A framework for documents both humans and machines can use.</a:t>
            </a:r>
            <a:endParaRPr lang="en-US" sz="5700" dirty="0"/>
          </a:p>
        </p:txBody>
      </p:sp>
      <p:sp>
        <p:nvSpPr>
          <p:cNvPr id="5" name="Shape 3"/>
          <p:cNvSpPr/>
          <p:nvPr/>
        </p:nvSpPr>
        <p:spPr>
          <a:xfrm>
            <a:off x="1238250" y="3616320"/>
            <a:ext cx="5041891" cy="5036276"/>
          </a:xfrm>
          <a:prstGeom prst="rect">
            <a:avLst/>
          </a:prstGeom>
          <a:solidFill>
            <a:srgbClr val="FBF8F0"/>
          </a:solidFill>
          <a:ln w="8659">
            <a:solidFill>
              <a:srgbClr val="D8D2C4"/>
            </a:solidFill>
            <a:prstDash val="solid"/>
          </a:ln>
        </p:spPr>
        <p:txBody>
          <a:bodyPr/>
          <a:lstStyle/>
          <a:p>
            <a:endParaRPr lang="en-US"/>
          </a:p>
        </p:txBody>
      </p:sp>
      <p:sp>
        <p:nvSpPr>
          <p:cNvPr id="6" name="Text 4"/>
          <p:cNvSpPr/>
          <p:nvPr/>
        </p:nvSpPr>
        <p:spPr>
          <a:xfrm>
            <a:off x="1665996" y="4082152"/>
            <a:ext cx="43119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C8482B"/>
                </a:solidFill>
                <a:latin typeface="JetBrains Mono" pitchFamily="34" charset="0"/>
                <a:ea typeface="JetBrains Mono" pitchFamily="34" charset="-122"/>
                <a:cs typeface="JetBrains Mono" pitchFamily="34" charset="-120"/>
              </a:rPr>
              <a:t>01 — ARTEFACT</a:t>
            </a:r>
            <a:endParaRPr lang="en-US" sz="1800" dirty="0"/>
          </a:p>
        </p:txBody>
      </p:sp>
      <p:sp>
        <p:nvSpPr>
          <p:cNvPr id="7" name="Text 5"/>
          <p:cNvSpPr/>
          <p:nvPr/>
        </p:nvSpPr>
        <p:spPr>
          <a:xfrm>
            <a:off x="1665996" y="4630719"/>
            <a:ext cx="4311992" cy="571514"/>
          </a:xfrm>
          <a:prstGeom prst="rect">
            <a:avLst/>
          </a:prstGeom>
          <a:noFill/>
          <a:ln/>
        </p:spPr>
        <p:txBody>
          <a:bodyPr wrap="square" lIns="25400" tIns="25400" rIns="25400" bIns="25400" rtlCol="0" anchor="t">
            <a:normAutofit/>
          </a:bodyPr>
          <a:lstStyle/>
          <a:p>
            <a:pPr marL="0" indent="0" algn="l">
              <a:lnSpc>
                <a:spcPct val="100000"/>
              </a:lnSpc>
              <a:buNone/>
            </a:pPr>
            <a:r>
              <a:rPr lang="en-US" sz="4200" kern="0" spc="-63" dirty="0">
                <a:solidFill>
                  <a:srgbClr val="1A1A1A"/>
                </a:solidFill>
                <a:latin typeface="Source Serif 4" pitchFamily="34" charset="0"/>
                <a:ea typeface="Source Serif 4" pitchFamily="34" charset="-122"/>
                <a:cs typeface="Source Serif 4" pitchFamily="34" charset="-120"/>
              </a:rPr>
              <a:t>COGs</a:t>
            </a:r>
            <a:endParaRPr lang="en-US" sz="4200" dirty="0"/>
          </a:p>
        </p:txBody>
      </p:sp>
      <p:sp>
        <p:nvSpPr>
          <p:cNvPr id="8" name="Text 6"/>
          <p:cNvSpPr/>
          <p:nvPr/>
        </p:nvSpPr>
        <p:spPr>
          <a:xfrm>
            <a:off x="1665996" y="5297469"/>
            <a:ext cx="4311992" cy="632330"/>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216" dirty="0">
                <a:solidFill>
                  <a:srgbClr val="6A6258"/>
                </a:solidFill>
                <a:latin typeface="Inter" pitchFamily="34" charset="0"/>
                <a:ea typeface="Inter" pitchFamily="34" charset="-122"/>
                <a:cs typeface="Inter" pitchFamily="34" charset="-120"/>
              </a:rPr>
              <a:t>PORTABLE, SELF-DESCRIBING DOCUMENTS</a:t>
            </a:r>
            <a:endParaRPr lang="en-US" sz="1800" dirty="0"/>
          </a:p>
        </p:txBody>
      </p:sp>
      <p:sp>
        <p:nvSpPr>
          <p:cNvPr id="9" name="Text 7"/>
          <p:cNvSpPr/>
          <p:nvPr/>
        </p:nvSpPr>
        <p:spPr>
          <a:xfrm>
            <a:off x="1665996" y="6078412"/>
            <a:ext cx="4186400" cy="1135910"/>
          </a:xfrm>
          <a:prstGeom prst="rect">
            <a:avLst/>
          </a:prstGeom>
          <a:noFill/>
          <a:ln/>
        </p:spPr>
        <p:txBody>
          <a:bodyPr wrap="square" lIns="25400" tIns="25400" rIns="25400" bIns="25400" rtlCol="0" anchor="t">
            <a:noAutofit/>
          </a:bodyPr>
          <a:lstStyle/>
          <a:p>
            <a:pPr marL="0" indent="0" algn="l">
              <a:lnSpc>
                <a:spcPct val="132000"/>
              </a:lnSpc>
              <a:buNone/>
            </a:pPr>
            <a:r>
              <a:rPr lang="en-US" sz="2100" dirty="0">
                <a:solidFill>
                  <a:srgbClr val="2A2A28"/>
                </a:solidFill>
                <a:latin typeface="Source Serif 4" pitchFamily="34" charset="0"/>
                <a:ea typeface="Source Serif 4" pitchFamily="34" charset="-122"/>
                <a:cs typeface="Source Serif 4" pitchFamily="34" charset="-120"/>
              </a:rPr>
              <a:t>Structured metadata. Human-readable content. Travel anywhere; carry their own meaning.</a:t>
            </a:r>
            <a:endParaRPr lang="en-US" sz="2100" dirty="0"/>
          </a:p>
        </p:txBody>
      </p:sp>
      <p:sp>
        <p:nvSpPr>
          <p:cNvPr id="10" name="Shape 8"/>
          <p:cNvSpPr/>
          <p:nvPr/>
        </p:nvSpPr>
        <p:spPr>
          <a:xfrm>
            <a:off x="1662748" y="7547652"/>
            <a:ext cx="4186400" cy="9525"/>
          </a:xfrm>
          <a:prstGeom prst="rect">
            <a:avLst/>
          </a:prstGeom>
          <a:solidFill>
            <a:srgbClr val="D8D2C4"/>
          </a:solidFill>
          <a:ln/>
        </p:spPr>
        <p:txBody>
          <a:bodyPr/>
          <a:lstStyle/>
          <a:p>
            <a:endParaRPr lang="en-US"/>
          </a:p>
        </p:txBody>
      </p:sp>
      <p:sp>
        <p:nvSpPr>
          <p:cNvPr id="11" name="Text 9"/>
          <p:cNvSpPr/>
          <p:nvPr/>
        </p:nvSpPr>
        <p:spPr>
          <a:xfrm>
            <a:off x="1665996" y="7738139"/>
            <a:ext cx="4311992" cy="524811"/>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6A6258"/>
                </a:solidFill>
                <a:latin typeface="JetBrains Mono" pitchFamily="34" charset="0"/>
                <a:ea typeface="JetBrains Mono" pitchFamily="34" charset="-122"/>
                <a:cs typeface="JetBrains Mono" pitchFamily="34" charset="-120"/>
              </a:rPr>
              <a:t>Built on Markdown · YAML · HTML</a:t>
            </a:r>
            <a:endParaRPr lang="en-US" sz="1800" dirty="0"/>
          </a:p>
        </p:txBody>
      </p:sp>
      <p:sp>
        <p:nvSpPr>
          <p:cNvPr id="12" name="Shape 10"/>
          <p:cNvSpPr/>
          <p:nvPr/>
        </p:nvSpPr>
        <p:spPr>
          <a:xfrm>
            <a:off x="6622986" y="3616320"/>
            <a:ext cx="5041959" cy="5036276"/>
          </a:xfrm>
          <a:prstGeom prst="rect">
            <a:avLst/>
          </a:prstGeom>
          <a:solidFill>
            <a:srgbClr val="FBF8F0"/>
          </a:solidFill>
          <a:ln w="8659">
            <a:solidFill>
              <a:srgbClr val="D8D2C4"/>
            </a:solidFill>
            <a:prstDash val="solid"/>
          </a:ln>
        </p:spPr>
        <p:txBody>
          <a:bodyPr/>
          <a:lstStyle/>
          <a:p>
            <a:endParaRPr lang="en-US"/>
          </a:p>
        </p:txBody>
      </p:sp>
      <p:sp>
        <p:nvSpPr>
          <p:cNvPr id="13" name="Text 11"/>
          <p:cNvSpPr/>
          <p:nvPr/>
        </p:nvSpPr>
        <p:spPr>
          <a:xfrm>
            <a:off x="7050732" y="4082152"/>
            <a:ext cx="431206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C8482B"/>
                </a:solidFill>
                <a:latin typeface="JetBrains Mono" pitchFamily="34" charset="0"/>
                <a:ea typeface="JetBrains Mono" pitchFamily="34" charset="-122"/>
                <a:cs typeface="JetBrains Mono" pitchFamily="34" charset="-120"/>
              </a:rPr>
              <a:t>02 — REGISTRY</a:t>
            </a:r>
            <a:endParaRPr lang="en-US" sz="1800" dirty="0"/>
          </a:p>
        </p:txBody>
      </p:sp>
      <p:sp>
        <p:nvSpPr>
          <p:cNvPr id="14" name="Text 12"/>
          <p:cNvSpPr/>
          <p:nvPr/>
        </p:nvSpPr>
        <p:spPr>
          <a:xfrm>
            <a:off x="7050732" y="4630719"/>
            <a:ext cx="4312061" cy="571514"/>
          </a:xfrm>
          <a:prstGeom prst="rect">
            <a:avLst/>
          </a:prstGeom>
          <a:noFill/>
          <a:ln/>
        </p:spPr>
        <p:txBody>
          <a:bodyPr wrap="square" lIns="25400" tIns="25400" rIns="25400" bIns="25400" rtlCol="0" anchor="t">
            <a:normAutofit/>
          </a:bodyPr>
          <a:lstStyle/>
          <a:p>
            <a:pPr marL="0" indent="0" algn="l">
              <a:lnSpc>
                <a:spcPct val="100000"/>
              </a:lnSpc>
              <a:buNone/>
            </a:pPr>
            <a:r>
              <a:rPr lang="en-US" sz="4200" kern="0" spc="-63" dirty="0">
                <a:solidFill>
                  <a:srgbClr val="1A1A1A"/>
                </a:solidFill>
                <a:latin typeface="Source Serif 4" pitchFamily="34" charset="0"/>
                <a:ea typeface="Source Serif 4" pitchFamily="34" charset="-122"/>
                <a:cs typeface="Source Serif 4" pitchFamily="34" charset="-120"/>
              </a:rPr>
              <a:t>REGINALD</a:t>
            </a:r>
            <a:endParaRPr lang="en-US" sz="4200" dirty="0"/>
          </a:p>
        </p:txBody>
      </p:sp>
      <p:sp>
        <p:nvSpPr>
          <p:cNvPr id="15" name="Text 13"/>
          <p:cNvSpPr/>
          <p:nvPr/>
        </p:nvSpPr>
        <p:spPr>
          <a:xfrm>
            <a:off x="7050732" y="5297469"/>
            <a:ext cx="4312061" cy="632330"/>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216" dirty="0">
                <a:solidFill>
                  <a:srgbClr val="6A6258"/>
                </a:solidFill>
                <a:latin typeface="Inter" pitchFamily="34" charset="0"/>
                <a:ea typeface="Inter" pitchFamily="34" charset="-122"/>
                <a:cs typeface="Inter" pitchFamily="34" charset="-120"/>
              </a:rPr>
              <a:t>GENUINE · NOTARISED · LEGITIMATE</a:t>
            </a:r>
            <a:endParaRPr lang="en-US" sz="1800" dirty="0"/>
          </a:p>
        </p:txBody>
      </p:sp>
      <p:sp>
        <p:nvSpPr>
          <p:cNvPr id="16" name="Text 14"/>
          <p:cNvSpPr/>
          <p:nvPr/>
        </p:nvSpPr>
        <p:spPr>
          <a:xfrm>
            <a:off x="7050732" y="6120286"/>
            <a:ext cx="4312061" cy="1094035"/>
          </a:xfrm>
          <a:prstGeom prst="rect">
            <a:avLst/>
          </a:prstGeom>
          <a:noFill/>
          <a:ln/>
        </p:spPr>
        <p:txBody>
          <a:bodyPr wrap="square" lIns="25400" tIns="25400" rIns="25400" bIns="25400" rtlCol="0" anchor="t">
            <a:normAutofit/>
          </a:bodyPr>
          <a:lstStyle/>
          <a:p>
            <a:pPr marL="0" indent="0" algn="l">
              <a:lnSpc>
                <a:spcPct val="132000"/>
              </a:lnSpc>
              <a:buNone/>
            </a:pPr>
            <a:r>
              <a:rPr lang="en-US" sz="2100" dirty="0">
                <a:solidFill>
                  <a:srgbClr val="2A2A28"/>
                </a:solidFill>
                <a:latin typeface="Source Serif 4" pitchFamily="34" charset="0"/>
                <a:ea typeface="Source Serif 4" pitchFamily="34" charset="-122"/>
                <a:cs typeface="Source Serif 4" pitchFamily="34" charset="-120"/>
              </a:rPr>
              <a:t>Tells machines where COGs live. Attests their integrity. The DNS for documents.</a:t>
            </a:r>
            <a:endParaRPr lang="en-US" sz="2100" dirty="0"/>
          </a:p>
        </p:txBody>
      </p:sp>
      <p:sp>
        <p:nvSpPr>
          <p:cNvPr id="17" name="Shape 15"/>
          <p:cNvSpPr/>
          <p:nvPr/>
        </p:nvSpPr>
        <p:spPr>
          <a:xfrm>
            <a:off x="7050731" y="7538127"/>
            <a:ext cx="4186467" cy="9525"/>
          </a:xfrm>
          <a:prstGeom prst="rect">
            <a:avLst/>
          </a:prstGeom>
          <a:solidFill>
            <a:srgbClr val="D8D2C4"/>
          </a:solidFill>
          <a:ln/>
        </p:spPr>
        <p:txBody>
          <a:bodyPr/>
          <a:lstStyle/>
          <a:p>
            <a:endParaRPr lang="en-US"/>
          </a:p>
        </p:txBody>
      </p:sp>
      <p:sp>
        <p:nvSpPr>
          <p:cNvPr id="18" name="Text 16"/>
          <p:cNvSpPr/>
          <p:nvPr/>
        </p:nvSpPr>
        <p:spPr>
          <a:xfrm>
            <a:off x="7050732" y="7709565"/>
            <a:ext cx="4312061" cy="553385"/>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6A6258"/>
                </a:solidFill>
                <a:latin typeface="JetBrains Mono" pitchFamily="34" charset="0"/>
                <a:ea typeface="JetBrains Mono" pitchFamily="34" charset="-122"/>
                <a:cs typeface="JetBrains Mono" pitchFamily="34" charset="-120"/>
              </a:rPr>
              <a:t>Ed25519 attestation · alpha live</a:t>
            </a:r>
            <a:endParaRPr lang="en-US" sz="1800" dirty="0"/>
          </a:p>
        </p:txBody>
      </p:sp>
      <p:sp>
        <p:nvSpPr>
          <p:cNvPr id="19" name="Shape 17"/>
          <p:cNvSpPr/>
          <p:nvPr/>
        </p:nvSpPr>
        <p:spPr>
          <a:xfrm>
            <a:off x="12007791" y="3616320"/>
            <a:ext cx="5041891" cy="5036276"/>
          </a:xfrm>
          <a:prstGeom prst="rect">
            <a:avLst/>
          </a:prstGeom>
          <a:solidFill>
            <a:srgbClr val="FBF8F0"/>
          </a:solidFill>
          <a:ln w="8659">
            <a:solidFill>
              <a:srgbClr val="D8D2C4"/>
            </a:solidFill>
            <a:prstDash val="solid"/>
          </a:ln>
        </p:spPr>
        <p:txBody>
          <a:bodyPr/>
          <a:lstStyle/>
          <a:p>
            <a:endParaRPr lang="en-US"/>
          </a:p>
        </p:txBody>
      </p:sp>
      <p:sp>
        <p:nvSpPr>
          <p:cNvPr id="20" name="Text 18"/>
          <p:cNvSpPr/>
          <p:nvPr/>
        </p:nvSpPr>
        <p:spPr>
          <a:xfrm>
            <a:off x="12435536" y="4082152"/>
            <a:ext cx="43119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C8482B"/>
                </a:solidFill>
                <a:latin typeface="JetBrains Mono" pitchFamily="34" charset="0"/>
                <a:ea typeface="JetBrains Mono" pitchFamily="34" charset="-122"/>
                <a:cs typeface="JetBrains Mono" pitchFamily="34" charset="-120"/>
              </a:rPr>
              <a:t>03 — STANDARDS</a:t>
            </a:r>
            <a:endParaRPr lang="en-US" sz="1800" dirty="0"/>
          </a:p>
        </p:txBody>
      </p:sp>
      <p:sp>
        <p:nvSpPr>
          <p:cNvPr id="21" name="Text 19"/>
          <p:cNvSpPr/>
          <p:nvPr/>
        </p:nvSpPr>
        <p:spPr>
          <a:xfrm>
            <a:off x="12435536" y="4630719"/>
            <a:ext cx="4311992" cy="571514"/>
          </a:xfrm>
          <a:prstGeom prst="rect">
            <a:avLst/>
          </a:prstGeom>
          <a:noFill/>
          <a:ln/>
        </p:spPr>
        <p:txBody>
          <a:bodyPr wrap="square" lIns="25400" tIns="25400" rIns="25400" bIns="25400" rtlCol="0" anchor="t">
            <a:normAutofit/>
          </a:bodyPr>
          <a:lstStyle/>
          <a:p>
            <a:pPr marL="0" indent="0" algn="l">
              <a:lnSpc>
                <a:spcPct val="100000"/>
              </a:lnSpc>
              <a:buNone/>
            </a:pPr>
            <a:r>
              <a:rPr lang="en-US" sz="4200" kern="0" spc="-63" dirty="0">
                <a:solidFill>
                  <a:srgbClr val="1A1A1A"/>
                </a:solidFill>
                <a:latin typeface="Source Serif 4" pitchFamily="34" charset="0"/>
                <a:ea typeface="Source Serif 4" pitchFamily="34" charset="-122"/>
                <a:cs typeface="Source Serif 4" pitchFamily="34" charset="-120"/>
              </a:rPr>
              <a:t>The Gathering</a:t>
            </a:r>
            <a:endParaRPr lang="en-US" sz="4200" dirty="0"/>
          </a:p>
        </p:txBody>
      </p:sp>
      <p:sp>
        <p:nvSpPr>
          <p:cNvPr id="22" name="Text 20"/>
          <p:cNvSpPr/>
          <p:nvPr/>
        </p:nvSpPr>
        <p:spPr>
          <a:xfrm>
            <a:off x="12435536" y="5297469"/>
            <a:ext cx="3503711" cy="632330"/>
          </a:xfrm>
          <a:prstGeom prst="rect">
            <a:avLst/>
          </a:prstGeom>
          <a:noFill/>
          <a:ln/>
        </p:spPr>
        <p:txBody>
          <a:bodyPr wrap="square" lIns="25400" tIns="25400" rIns="25400" bIns="25400" rtlCol="0" anchor="t">
            <a:noAutofit/>
          </a:bodyPr>
          <a:lstStyle/>
          <a:p>
            <a:pPr marL="0" indent="0" algn="l">
              <a:lnSpc>
                <a:spcPct val="130000"/>
              </a:lnSpc>
              <a:buNone/>
            </a:pPr>
            <a:r>
              <a:rPr lang="en-US" kern="0" spc="216" dirty="0">
                <a:solidFill>
                  <a:srgbClr val="6A6258"/>
                </a:solidFill>
                <a:latin typeface="Inter" pitchFamily="34" charset="0"/>
                <a:ea typeface="Inter" pitchFamily="34" charset="-122"/>
                <a:cs typeface="Inter" pitchFamily="34" charset="-120"/>
              </a:rPr>
              <a:t>INDEPENDENT STANDARDS BODY</a:t>
            </a:r>
            <a:endParaRPr lang="en-US" dirty="0"/>
          </a:p>
        </p:txBody>
      </p:sp>
      <p:sp>
        <p:nvSpPr>
          <p:cNvPr id="23" name="Text 21"/>
          <p:cNvSpPr/>
          <p:nvPr/>
        </p:nvSpPr>
        <p:spPr>
          <a:xfrm>
            <a:off x="12435536" y="6120286"/>
            <a:ext cx="4311992" cy="1094035"/>
          </a:xfrm>
          <a:prstGeom prst="rect">
            <a:avLst/>
          </a:prstGeom>
          <a:noFill/>
          <a:ln/>
        </p:spPr>
        <p:txBody>
          <a:bodyPr wrap="square" lIns="25400" tIns="25400" rIns="25400" bIns="25400" rtlCol="0" anchor="t">
            <a:normAutofit/>
          </a:bodyPr>
          <a:lstStyle/>
          <a:p>
            <a:pPr marL="0" indent="0" algn="l">
              <a:lnSpc>
                <a:spcPct val="132000"/>
              </a:lnSpc>
              <a:buNone/>
            </a:pPr>
            <a:r>
              <a:rPr lang="en-US" sz="2100" dirty="0">
                <a:solidFill>
                  <a:srgbClr val="2A2A28"/>
                </a:solidFill>
                <a:latin typeface="Source Serif 4" pitchFamily="34" charset="0"/>
                <a:ea typeface="Source Serif 4" pitchFamily="34" charset="-122"/>
                <a:cs typeface="Source Serif 4" pitchFamily="34" charset="-120"/>
              </a:rPr>
              <a:t>Structurally separate from any commercial entity. Open governance for an open layer.</a:t>
            </a:r>
            <a:endParaRPr lang="en-US" sz="2100" dirty="0"/>
          </a:p>
        </p:txBody>
      </p:sp>
      <p:sp>
        <p:nvSpPr>
          <p:cNvPr id="24" name="Shape 22"/>
          <p:cNvSpPr/>
          <p:nvPr/>
        </p:nvSpPr>
        <p:spPr>
          <a:xfrm>
            <a:off x="12435536" y="7528563"/>
            <a:ext cx="4186400" cy="9525"/>
          </a:xfrm>
          <a:prstGeom prst="rect">
            <a:avLst/>
          </a:prstGeom>
          <a:solidFill>
            <a:srgbClr val="D8D2C4"/>
          </a:solidFill>
          <a:ln/>
        </p:spPr>
        <p:txBody>
          <a:bodyPr/>
          <a:lstStyle/>
          <a:p>
            <a:endParaRPr lang="en-US"/>
          </a:p>
        </p:txBody>
      </p:sp>
      <p:sp>
        <p:nvSpPr>
          <p:cNvPr id="25" name="Text 23"/>
          <p:cNvSpPr/>
          <p:nvPr/>
        </p:nvSpPr>
        <p:spPr>
          <a:xfrm>
            <a:off x="12435536" y="7747663"/>
            <a:ext cx="4311992" cy="515287"/>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6A6258"/>
                </a:solidFill>
                <a:latin typeface="JetBrains Mono" pitchFamily="34" charset="0"/>
                <a:ea typeface="JetBrains Mono" pitchFamily="34" charset="-122"/>
                <a:cs typeface="JetBrains Mono" pitchFamily="34" charset="-120"/>
              </a:rPr>
              <a:t>Incorporated as TG Administration LTD</a:t>
            </a:r>
            <a:endParaRPr lang="en-US" sz="1800" dirty="0"/>
          </a:p>
        </p:txBody>
      </p:sp>
      <p:sp>
        <p:nvSpPr>
          <p:cNvPr id="26" name="Text 24"/>
          <p:cNvSpPr/>
          <p:nvPr/>
        </p:nvSpPr>
        <p:spPr>
          <a:xfrm>
            <a:off x="1238250" y="9014519"/>
            <a:ext cx="16285845"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20" dirty="0">
                <a:solidFill>
                  <a:srgbClr val="6A6258"/>
                </a:solidFill>
                <a:latin typeface="JetBrains Mono" pitchFamily="34" charset="0"/>
                <a:ea typeface="JetBrains Mono" pitchFamily="34" charset="-122"/>
                <a:cs typeface="JetBrains Mono" pitchFamily="34" charset="-120"/>
              </a:rPr>
              <a:t>NOTHING PROPRIETARY · NOTHING TO INSTALL · NOTHING TO LOCK IN</a:t>
            </a:r>
            <a:endParaRPr lang="en-US" sz="1950" dirty="0"/>
          </a:p>
        </p:txBody>
      </p:sp>
      <p:sp>
        <p:nvSpPr>
          <p:cNvPr id="27" name="Text 25"/>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8" name="Text 26"/>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9" name="Text 27"/>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0" name="Text 28"/>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07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HOW IT WORKS</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Metadata that </a:t>
            </a:r>
            <a:r>
              <a:rPr lang="en-US" sz="5700" i="1" kern="0" spc="-103" dirty="0">
                <a:solidFill>
                  <a:srgbClr val="C8482B"/>
                </a:solidFill>
                <a:latin typeface="Source Serif 4" pitchFamily="34" charset="0"/>
                <a:ea typeface="Source Serif 4" pitchFamily="34" charset="-122"/>
                <a:cs typeface="Source Serif 4" pitchFamily="34" charset="-120"/>
              </a:rPr>
              <a:t>executes </a:t>
            </a:r>
            <a:r>
              <a:rPr lang="en-US" sz="5700" kern="0" spc="-103" dirty="0">
                <a:solidFill>
                  <a:srgbClr val="1A1A1A"/>
                </a:solidFill>
                <a:latin typeface="Source Serif 4" pitchFamily="34" charset="0"/>
                <a:ea typeface="Source Serif 4" pitchFamily="34" charset="-122"/>
                <a:cs typeface="Source Serif 4" pitchFamily="34" charset="-120"/>
              </a:rPr>
              <a:t>, not metadata that describes.</a:t>
            </a:r>
            <a:endParaRPr lang="en-US" sz="5700" dirty="0"/>
          </a:p>
        </p:txBody>
      </p:sp>
      <p:sp>
        <p:nvSpPr>
          <p:cNvPr id="5" name="Shape 3"/>
          <p:cNvSpPr/>
          <p:nvPr/>
        </p:nvSpPr>
        <p:spPr>
          <a:xfrm>
            <a:off x="1238250" y="3902070"/>
            <a:ext cx="5100475" cy="4381500"/>
          </a:xfrm>
          <a:prstGeom prst="rect">
            <a:avLst/>
          </a:prstGeom>
          <a:solidFill>
            <a:srgbClr val="FBF8F0"/>
          </a:solidFill>
          <a:ln w="8659">
            <a:solidFill>
              <a:srgbClr val="D8D2C4"/>
            </a:solidFill>
            <a:prstDash val="solid"/>
          </a:ln>
        </p:spPr>
        <p:txBody>
          <a:bodyPr/>
          <a:lstStyle/>
          <a:p>
            <a:endParaRPr lang="en-US"/>
          </a:p>
        </p:txBody>
      </p:sp>
      <p:sp>
        <p:nvSpPr>
          <p:cNvPr id="6" name="Text 4"/>
          <p:cNvSpPr/>
          <p:nvPr/>
        </p:nvSpPr>
        <p:spPr>
          <a:xfrm>
            <a:off x="2948001" y="4177402"/>
            <a:ext cx="1680973"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PUBLISHER</a:t>
            </a:r>
            <a:endParaRPr lang="en-US" sz="1800" dirty="0"/>
          </a:p>
        </p:txBody>
      </p:sp>
      <p:sp>
        <p:nvSpPr>
          <p:cNvPr id="7" name="Shape 5"/>
          <p:cNvSpPr/>
          <p:nvPr/>
        </p:nvSpPr>
        <p:spPr>
          <a:xfrm>
            <a:off x="3331991" y="4706825"/>
            <a:ext cx="912925" cy="589765"/>
          </a:xfrm>
          <a:prstGeom prst="rect">
            <a:avLst/>
          </a:prstGeom>
          <a:ln w="12989">
            <a:solidFill>
              <a:srgbClr val="C8482B"/>
            </a:solidFill>
            <a:prstDash val="solid"/>
          </a:ln>
        </p:spPr>
        <p:txBody>
          <a:bodyPr/>
          <a:lstStyle/>
          <a:p>
            <a:endParaRPr lang="en-US"/>
          </a:p>
        </p:txBody>
      </p:sp>
      <p:sp>
        <p:nvSpPr>
          <p:cNvPr id="8" name="Text 6"/>
          <p:cNvSpPr/>
          <p:nvPr/>
        </p:nvSpPr>
        <p:spPr>
          <a:xfrm>
            <a:off x="3478330" y="4815063"/>
            <a:ext cx="620248" cy="411388"/>
          </a:xfrm>
          <a:prstGeom prst="rect">
            <a:avLst/>
          </a:prstGeom>
          <a:noFill/>
          <a:ln/>
        </p:spPr>
        <p:txBody>
          <a:bodyPr wrap="square" lIns="25400" tIns="25400" rIns="25400" bIns="25400" rtlCol="0" anchor="t">
            <a:normAutofit/>
          </a:bodyPr>
          <a:lstStyle/>
          <a:p>
            <a:pPr marL="0" indent="0" algn="ctr">
              <a:lnSpc>
                <a:spcPct val="140000"/>
              </a:lnSpc>
              <a:buNone/>
            </a:pPr>
            <a:r>
              <a:rPr lang="en-US" sz="2100" kern="0" spc="168" dirty="0">
                <a:solidFill>
                  <a:srgbClr val="C8482B"/>
                </a:solidFill>
                <a:latin typeface="JetBrains Mono" pitchFamily="34" charset="0"/>
                <a:ea typeface="JetBrains Mono" pitchFamily="34" charset="-122"/>
                <a:cs typeface="JetBrains Mono" pitchFamily="34" charset="-120"/>
              </a:rPr>
              <a:t>COG</a:t>
            </a:r>
            <a:endParaRPr lang="en-US" sz="2100" dirty="0"/>
          </a:p>
        </p:txBody>
      </p:sp>
      <p:sp>
        <p:nvSpPr>
          <p:cNvPr id="9" name="Text 7"/>
          <p:cNvSpPr/>
          <p:nvPr/>
        </p:nvSpPr>
        <p:spPr>
          <a:xfrm>
            <a:off x="2218768" y="5549153"/>
            <a:ext cx="3139440" cy="387398"/>
          </a:xfrm>
          <a:prstGeom prst="rect">
            <a:avLst/>
          </a:prstGeom>
          <a:noFill/>
          <a:ln/>
        </p:spPr>
        <p:txBody>
          <a:bodyPr wrap="square" lIns="25400" tIns="25400" rIns="25400" bIns="25400" rtlCol="0" anchor="t">
            <a:normAutofit fontScale="92500" lnSpcReduction="10000"/>
          </a:bodyPr>
          <a:lstStyle/>
          <a:p>
            <a:pPr marL="0" indent="0" algn="ctr">
              <a:lnSpc>
                <a:spcPct val="110000"/>
              </a:lnSpc>
              <a:buNone/>
            </a:pPr>
            <a:r>
              <a:rPr lang="en-US" sz="2400" dirty="0">
                <a:solidFill>
                  <a:srgbClr val="1A1A1A"/>
                </a:solidFill>
                <a:latin typeface="Source Serif 4" pitchFamily="34" charset="0"/>
                <a:ea typeface="Source Serif 4" pitchFamily="34" charset="-122"/>
                <a:cs typeface="Source Serif 4" pitchFamily="34" charset="-120"/>
              </a:rPr>
              <a:t>Holds the document</a:t>
            </a:r>
            <a:endParaRPr lang="en-US" sz="2400" dirty="0"/>
          </a:p>
        </p:txBody>
      </p:sp>
      <p:sp>
        <p:nvSpPr>
          <p:cNvPr id="10" name="Text 8"/>
          <p:cNvSpPr/>
          <p:nvPr/>
        </p:nvSpPr>
        <p:spPr>
          <a:xfrm>
            <a:off x="2218768" y="5936551"/>
            <a:ext cx="3139440" cy="918283"/>
          </a:xfrm>
          <a:prstGeom prst="rect">
            <a:avLst/>
          </a:prstGeom>
          <a:noFill/>
          <a:ln/>
        </p:spPr>
        <p:txBody>
          <a:bodyPr wrap="square" lIns="25400" tIns="25400" rIns="25400" bIns="25400" rtlCol="0" anchor="t">
            <a:normAutofit/>
          </a:bodyPr>
          <a:lstStyle/>
          <a:p>
            <a:pPr marL="0" indent="0" algn="ctr">
              <a:lnSpc>
                <a:spcPct val="140000"/>
              </a:lnSpc>
              <a:buNone/>
            </a:pPr>
            <a:r>
              <a:rPr lang="en-US" sz="1650" dirty="0">
                <a:solidFill>
                  <a:srgbClr val="6A6258"/>
                </a:solidFill>
                <a:latin typeface="Inter" pitchFamily="34" charset="0"/>
                <a:ea typeface="Inter" pitchFamily="34" charset="-122"/>
                <a:cs typeface="Inter" pitchFamily="34" charset="-120"/>
              </a:rPr>
              <a:t>Sovereign by default. The publisher hosts; the registry never holds the document.</a:t>
            </a:r>
            <a:endParaRPr lang="en-US" sz="1650" dirty="0"/>
          </a:p>
        </p:txBody>
      </p:sp>
      <p:sp>
        <p:nvSpPr>
          <p:cNvPr id="11" name="Shape 9"/>
          <p:cNvSpPr/>
          <p:nvPr/>
        </p:nvSpPr>
        <p:spPr>
          <a:xfrm>
            <a:off x="6338725" y="3902070"/>
            <a:ext cx="5610482" cy="4381500"/>
          </a:xfrm>
          <a:prstGeom prst="rect">
            <a:avLst/>
          </a:prstGeom>
          <a:solidFill>
            <a:srgbClr val="1A1A1A"/>
          </a:solidFill>
          <a:ln/>
        </p:spPr>
        <p:txBody>
          <a:bodyPr/>
          <a:lstStyle/>
          <a:p>
            <a:endParaRPr lang="en-US"/>
          </a:p>
        </p:txBody>
      </p:sp>
      <p:sp>
        <p:nvSpPr>
          <p:cNvPr id="12" name="Text 10"/>
          <p:cNvSpPr/>
          <p:nvPr/>
        </p:nvSpPr>
        <p:spPr>
          <a:xfrm>
            <a:off x="8392607" y="4168743"/>
            <a:ext cx="1502718"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324" dirty="0">
                <a:solidFill>
                  <a:srgbClr val="E07A5F"/>
                </a:solidFill>
                <a:latin typeface="JetBrains Mono" pitchFamily="34" charset="0"/>
                <a:ea typeface="JetBrains Mono" pitchFamily="34" charset="-122"/>
                <a:cs typeface="JetBrains Mono" pitchFamily="34" charset="-120"/>
              </a:rPr>
              <a:t>REGISTRY</a:t>
            </a:r>
            <a:endParaRPr lang="en-US" sz="1800" dirty="0"/>
          </a:p>
        </p:txBody>
      </p:sp>
      <p:sp>
        <p:nvSpPr>
          <p:cNvPr id="13" name="Shape 11"/>
          <p:cNvSpPr/>
          <p:nvPr/>
        </p:nvSpPr>
        <p:spPr>
          <a:xfrm>
            <a:off x="8234119" y="4698166"/>
            <a:ext cx="1819694" cy="589765"/>
          </a:xfrm>
          <a:prstGeom prst="rect">
            <a:avLst/>
          </a:prstGeom>
          <a:ln w="12989">
            <a:solidFill>
              <a:srgbClr val="E07A5F"/>
            </a:solidFill>
            <a:prstDash val="solid"/>
          </a:ln>
        </p:spPr>
        <p:txBody>
          <a:bodyPr/>
          <a:lstStyle/>
          <a:p>
            <a:endParaRPr lang="en-US"/>
          </a:p>
        </p:txBody>
      </p:sp>
      <p:sp>
        <p:nvSpPr>
          <p:cNvPr id="14" name="Text 12"/>
          <p:cNvSpPr/>
          <p:nvPr/>
        </p:nvSpPr>
        <p:spPr>
          <a:xfrm>
            <a:off x="8380458" y="4806404"/>
            <a:ext cx="1527017" cy="411388"/>
          </a:xfrm>
          <a:prstGeom prst="rect">
            <a:avLst/>
          </a:prstGeom>
          <a:noFill/>
          <a:ln/>
        </p:spPr>
        <p:txBody>
          <a:bodyPr wrap="square" lIns="25400" tIns="25400" rIns="25400" bIns="25400" rtlCol="0" anchor="t">
            <a:normAutofit/>
          </a:bodyPr>
          <a:lstStyle/>
          <a:p>
            <a:pPr marL="0" indent="0" algn="ctr">
              <a:lnSpc>
                <a:spcPct val="140000"/>
              </a:lnSpc>
              <a:buNone/>
            </a:pPr>
            <a:r>
              <a:rPr lang="en-US" sz="2100" kern="0" spc="168" dirty="0">
                <a:solidFill>
                  <a:srgbClr val="E07A5F"/>
                </a:solidFill>
                <a:latin typeface="JetBrains Mono" pitchFamily="34" charset="0"/>
                <a:ea typeface="JetBrains Mono" pitchFamily="34" charset="-122"/>
                <a:cs typeface="JetBrains Mono" pitchFamily="34" charset="-120"/>
              </a:rPr>
              <a:t>DNS-LIKE</a:t>
            </a:r>
            <a:endParaRPr lang="en-US" sz="2100" dirty="0"/>
          </a:p>
        </p:txBody>
      </p:sp>
      <p:sp>
        <p:nvSpPr>
          <p:cNvPr id="15" name="Text 13"/>
          <p:cNvSpPr/>
          <p:nvPr/>
        </p:nvSpPr>
        <p:spPr>
          <a:xfrm>
            <a:off x="8267659" y="5440277"/>
            <a:ext cx="1752546" cy="436215"/>
          </a:xfrm>
          <a:prstGeom prst="rect">
            <a:avLst/>
          </a:prstGeom>
          <a:noFill/>
          <a:ln/>
        </p:spPr>
        <p:txBody>
          <a:bodyPr wrap="square" lIns="25400" tIns="25400" rIns="25400" bIns="25400" rtlCol="0" anchor="t">
            <a:normAutofit/>
          </a:bodyPr>
          <a:lstStyle/>
          <a:p>
            <a:pPr marL="0" indent="0" algn="ctr">
              <a:lnSpc>
                <a:spcPct val="110000"/>
              </a:lnSpc>
              <a:buNone/>
            </a:pPr>
            <a:r>
              <a:rPr lang="en-US" sz="2850" i="1" dirty="0">
                <a:solidFill>
                  <a:srgbClr val="F5F1E8"/>
                </a:solidFill>
                <a:latin typeface="Source Serif 4" pitchFamily="34" charset="0"/>
                <a:ea typeface="Source Serif 4" pitchFamily="34" charset="-122"/>
                <a:cs typeface="Source Serif 4" pitchFamily="34" charset="-120"/>
              </a:rPr>
              <a:t>REGINALD</a:t>
            </a:r>
            <a:endParaRPr lang="en-US" sz="2850" dirty="0"/>
          </a:p>
        </p:txBody>
      </p:sp>
      <p:sp>
        <p:nvSpPr>
          <p:cNvPr id="16" name="Text 14"/>
          <p:cNvSpPr/>
          <p:nvPr/>
        </p:nvSpPr>
        <p:spPr>
          <a:xfrm>
            <a:off x="7574212" y="5990738"/>
            <a:ext cx="3139440" cy="1211677"/>
          </a:xfrm>
          <a:prstGeom prst="rect">
            <a:avLst/>
          </a:prstGeom>
          <a:noFill/>
          <a:ln/>
        </p:spPr>
        <p:txBody>
          <a:bodyPr wrap="square" lIns="25400" tIns="25400" rIns="25400" bIns="25400" rtlCol="0" anchor="t">
            <a:normAutofit/>
          </a:bodyPr>
          <a:lstStyle/>
          <a:p>
            <a:pPr marL="0" indent="0" algn="ctr">
              <a:lnSpc>
                <a:spcPct val="140000"/>
              </a:lnSpc>
              <a:buNone/>
            </a:pPr>
            <a:r>
              <a:rPr lang="en-US" sz="1650" dirty="0">
                <a:solidFill>
                  <a:srgbClr val="F5F1E8">
                    <a:alpha val="75000"/>
                  </a:srgbClr>
                </a:solidFill>
                <a:latin typeface="Inter" pitchFamily="34" charset="0"/>
                <a:ea typeface="Inter" pitchFamily="34" charset="-122"/>
                <a:cs typeface="Inter" pitchFamily="34" charset="-120"/>
              </a:rPr>
              <a:t>Points to where the COG lives. Attests it hasn’t been altered. Holds proof of provenance for jurisdictions that demand it.</a:t>
            </a:r>
            <a:endParaRPr lang="en-US" sz="1650" dirty="0"/>
          </a:p>
        </p:txBody>
      </p:sp>
      <p:sp>
        <p:nvSpPr>
          <p:cNvPr id="17" name="Text 15"/>
          <p:cNvSpPr/>
          <p:nvPr/>
        </p:nvSpPr>
        <p:spPr>
          <a:xfrm>
            <a:off x="6996087" y="7696944"/>
            <a:ext cx="4295757" cy="358053"/>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288" dirty="0">
                <a:solidFill>
                  <a:srgbClr val="F5F1E8">
                    <a:alpha val="50000"/>
                  </a:srgbClr>
                </a:solidFill>
                <a:latin typeface="JetBrains Mono" pitchFamily="34" charset="0"/>
                <a:ea typeface="JetBrains Mono" pitchFamily="34" charset="-122"/>
                <a:cs typeface="JetBrains Mono" pitchFamily="34" charset="-120"/>
              </a:rPr>
              <a:t>← LOOKUP · ATTESTATION →</a:t>
            </a:r>
            <a:endParaRPr lang="en-US" sz="1800" dirty="0"/>
          </a:p>
        </p:txBody>
      </p:sp>
      <p:sp>
        <p:nvSpPr>
          <p:cNvPr id="18" name="Shape 16"/>
          <p:cNvSpPr/>
          <p:nvPr/>
        </p:nvSpPr>
        <p:spPr>
          <a:xfrm>
            <a:off x="11949207" y="3902070"/>
            <a:ext cx="5100543" cy="4381500"/>
          </a:xfrm>
          <a:prstGeom prst="rect">
            <a:avLst/>
          </a:prstGeom>
          <a:solidFill>
            <a:srgbClr val="FBF8F0"/>
          </a:solidFill>
          <a:ln w="8659">
            <a:solidFill>
              <a:srgbClr val="D8D2C4"/>
            </a:solidFill>
            <a:prstDash val="solid"/>
          </a:ln>
        </p:spPr>
        <p:txBody>
          <a:bodyPr/>
          <a:lstStyle/>
          <a:p>
            <a:endParaRPr lang="en-US"/>
          </a:p>
        </p:txBody>
      </p:sp>
      <p:sp>
        <p:nvSpPr>
          <p:cNvPr id="19" name="Text 17"/>
          <p:cNvSpPr/>
          <p:nvPr/>
        </p:nvSpPr>
        <p:spPr>
          <a:xfrm>
            <a:off x="13926443" y="4177402"/>
            <a:ext cx="1146071"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READER</a:t>
            </a:r>
            <a:endParaRPr lang="en-US" sz="1800" dirty="0"/>
          </a:p>
        </p:txBody>
      </p:sp>
      <p:sp>
        <p:nvSpPr>
          <p:cNvPr id="20" name="Shape 18"/>
          <p:cNvSpPr/>
          <p:nvPr/>
        </p:nvSpPr>
        <p:spPr>
          <a:xfrm>
            <a:off x="13952298" y="4706825"/>
            <a:ext cx="1094293" cy="589765"/>
          </a:xfrm>
          <a:prstGeom prst="rect">
            <a:avLst/>
          </a:prstGeom>
          <a:ln w="12989">
            <a:solidFill>
              <a:srgbClr val="1A1A1A"/>
            </a:solidFill>
            <a:prstDash val="solid"/>
          </a:ln>
        </p:spPr>
        <p:txBody>
          <a:bodyPr/>
          <a:lstStyle/>
          <a:p>
            <a:endParaRPr lang="en-US"/>
          </a:p>
        </p:txBody>
      </p:sp>
      <p:sp>
        <p:nvSpPr>
          <p:cNvPr id="21" name="Text 19"/>
          <p:cNvSpPr/>
          <p:nvPr/>
        </p:nvSpPr>
        <p:spPr>
          <a:xfrm>
            <a:off x="14098637" y="4815063"/>
            <a:ext cx="801615" cy="411388"/>
          </a:xfrm>
          <a:prstGeom prst="rect">
            <a:avLst/>
          </a:prstGeom>
          <a:noFill/>
          <a:ln/>
        </p:spPr>
        <p:txBody>
          <a:bodyPr wrap="square" lIns="25400" tIns="25400" rIns="25400" bIns="25400" rtlCol="0" anchor="t">
            <a:normAutofit/>
          </a:bodyPr>
          <a:lstStyle/>
          <a:p>
            <a:pPr marL="0" indent="0" algn="ctr">
              <a:lnSpc>
                <a:spcPct val="140000"/>
              </a:lnSpc>
              <a:buNone/>
            </a:pPr>
            <a:r>
              <a:rPr lang="en-US" sz="2100" kern="0" spc="168" dirty="0">
                <a:solidFill>
                  <a:srgbClr val="1A1A1A"/>
                </a:solidFill>
                <a:latin typeface="JetBrains Mono" pitchFamily="34" charset="0"/>
                <a:ea typeface="JetBrains Mono" pitchFamily="34" charset="-122"/>
                <a:cs typeface="JetBrains Mono" pitchFamily="34" charset="-120"/>
              </a:rPr>
              <a:t>EXEC</a:t>
            </a:r>
            <a:endParaRPr lang="en-US" sz="2100" dirty="0"/>
          </a:p>
        </p:txBody>
      </p:sp>
      <p:sp>
        <p:nvSpPr>
          <p:cNvPr id="22" name="Text 20"/>
          <p:cNvSpPr/>
          <p:nvPr/>
        </p:nvSpPr>
        <p:spPr>
          <a:xfrm>
            <a:off x="13258801" y="5467933"/>
            <a:ext cx="2371886" cy="468618"/>
          </a:xfrm>
          <a:prstGeom prst="rect">
            <a:avLst/>
          </a:prstGeom>
          <a:noFill/>
          <a:ln/>
        </p:spPr>
        <p:txBody>
          <a:bodyPr wrap="square" lIns="25400" tIns="25400" rIns="25400" bIns="25400" rtlCol="0" anchor="t">
            <a:normAutofit/>
          </a:bodyPr>
          <a:lstStyle/>
          <a:p>
            <a:pPr marL="0" indent="0" algn="ctr">
              <a:lnSpc>
                <a:spcPct val="110000"/>
              </a:lnSpc>
              <a:buNone/>
            </a:pPr>
            <a:r>
              <a:rPr lang="en-US" sz="2200" dirty="0">
                <a:solidFill>
                  <a:srgbClr val="1A1A1A"/>
                </a:solidFill>
                <a:latin typeface="Source Serif 4" pitchFamily="34" charset="0"/>
                <a:ea typeface="Source Serif 4" pitchFamily="34" charset="-122"/>
                <a:cs typeface="Source Serif 4" pitchFamily="34" charset="-120"/>
              </a:rPr>
              <a:t>Agent executes</a:t>
            </a:r>
            <a:endParaRPr lang="en-US" sz="2200" dirty="0"/>
          </a:p>
        </p:txBody>
      </p:sp>
      <p:sp>
        <p:nvSpPr>
          <p:cNvPr id="23" name="Text 21"/>
          <p:cNvSpPr/>
          <p:nvPr/>
        </p:nvSpPr>
        <p:spPr>
          <a:xfrm>
            <a:off x="12929724" y="5936551"/>
            <a:ext cx="3139440" cy="918283"/>
          </a:xfrm>
          <a:prstGeom prst="rect">
            <a:avLst/>
          </a:prstGeom>
          <a:noFill/>
          <a:ln/>
        </p:spPr>
        <p:txBody>
          <a:bodyPr wrap="square" lIns="25400" tIns="25400" rIns="25400" bIns="25400" rtlCol="0" anchor="t">
            <a:normAutofit/>
          </a:bodyPr>
          <a:lstStyle/>
          <a:p>
            <a:pPr marL="0" indent="0" algn="ctr">
              <a:lnSpc>
                <a:spcPct val="140000"/>
              </a:lnSpc>
              <a:buNone/>
            </a:pPr>
            <a:r>
              <a:rPr lang="en-US" sz="1650" dirty="0">
                <a:solidFill>
                  <a:srgbClr val="6A6258"/>
                </a:solidFill>
                <a:latin typeface="Inter" pitchFamily="34" charset="0"/>
                <a:ea typeface="Inter" pitchFamily="34" charset="-122"/>
                <a:cs typeface="Inter" pitchFamily="34" charset="-120"/>
              </a:rPr>
              <a:t>Resolves the COG, verifies provenance, executes safely. No re-reading. No guessing.</a:t>
            </a:r>
            <a:endParaRPr lang="en-US" sz="1650" dirty="0"/>
          </a:p>
        </p:txBody>
      </p:sp>
      <p:sp>
        <p:nvSpPr>
          <p:cNvPr id="24" name="Shape 22"/>
          <p:cNvSpPr/>
          <p:nvPr/>
        </p:nvSpPr>
        <p:spPr>
          <a:xfrm>
            <a:off x="1238250" y="8740675"/>
            <a:ext cx="7620000" cy="9525"/>
          </a:xfrm>
          <a:prstGeom prst="rect">
            <a:avLst/>
          </a:prstGeom>
          <a:solidFill>
            <a:srgbClr val="D8D2C4"/>
          </a:solidFill>
          <a:ln/>
        </p:spPr>
        <p:txBody>
          <a:bodyPr/>
          <a:lstStyle/>
          <a:p>
            <a:endParaRPr lang="en-US"/>
          </a:p>
        </p:txBody>
      </p:sp>
      <p:sp>
        <p:nvSpPr>
          <p:cNvPr id="25" name="Text 23"/>
          <p:cNvSpPr/>
          <p:nvPr/>
        </p:nvSpPr>
        <p:spPr>
          <a:xfrm>
            <a:off x="1238250" y="8825507"/>
            <a:ext cx="361950"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kern="0" spc="72" dirty="0">
                <a:solidFill>
                  <a:srgbClr val="C8482B"/>
                </a:solidFill>
                <a:latin typeface="JetBrains Mono" pitchFamily="34" charset="0"/>
                <a:ea typeface="JetBrains Mono" pitchFamily="34" charset="-122"/>
                <a:cs typeface="JetBrains Mono" pitchFamily="34" charset="-120"/>
              </a:rPr>
              <a:t>▸</a:t>
            </a:r>
            <a:endParaRPr lang="en-US" sz="1800" dirty="0"/>
          </a:p>
        </p:txBody>
      </p:sp>
      <p:sp>
        <p:nvSpPr>
          <p:cNvPr id="26" name="Text 24"/>
          <p:cNvSpPr/>
          <p:nvPr/>
        </p:nvSpPr>
        <p:spPr>
          <a:xfrm>
            <a:off x="1657336" y="8825507"/>
            <a:ext cx="7416941"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1A1A1A"/>
                </a:solidFill>
                <a:latin typeface="Inter" pitchFamily="34" charset="0"/>
                <a:ea typeface="Inter" pitchFamily="34" charset="-122"/>
                <a:cs typeface="Inter" pitchFamily="34" charset="-120"/>
              </a:rPr>
              <a:t>Works the way DNS works. </a:t>
            </a:r>
            <a:r>
              <a:rPr lang="en-US" sz="1800" dirty="0">
                <a:solidFill>
                  <a:srgbClr val="2A2A28"/>
                </a:solidFill>
                <a:latin typeface="Inter" pitchFamily="34" charset="0"/>
                <a:ea typeface="Inter" pitchFamily="34" charset="-122"/>
                <a:cs typeface="Inter" pitchFamily="34" charset="-120"/>
              </a:rPr>
              <a:t>Layered, optional, federated. Signing is opt-in — the way DNSSEC layers on DNS.</a:t>
            </a:r>
            <a:endParaRPr lang="en-US" sz="1800" dirty="0"/>
          </a:p>
        </p:txBody>
      </p:sp>
      <p:sp>
        <p:nvSpPr>
          <p:cNvPr id="27" name="Shape 25"/>
          <p:cNvSpPr/>
          <p:nvPr/>
        </p:nvSpPr>
        <p:spPr>
          <a:xfrm>
            <a:off x="9429749" y="8740675"/>
            <a:ext cx="7620000" cy="9525"/>
          </a:xfrm>
          <a:prstGeom prst="rect">
            <a:avLst/>
          </a:prstGeom>
          <a:solidFill>
            <a:srgbClr val="D8D2C4"/>
          </a:solidFill>
          <a:ln/>
        </p:spPr>
        <p:txBody>
          <a:bodyPr/>
          <a:lstStyle/>
          <a:p>
            <a:endParaRPr lang="en-US"/>
          </a:p>
        </p:txBody>
      </p:sp>
      <p:sp>
        <p:nvSpPr>
          <p:cNvPr id="28" name="Text 26"/>
          <p:cNvSpPr/>
          <p:nvPr/>
        </p:nvSpPr>
        <p:spPr>
          <a:xfrm>
            <a:off x="9429749" y="8825507"/>
            <a:ext cx="361950"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kern="0" spc="72" dirty="0">
                <a:solidFill>
                  <a:srgbClr val="C8482B"/>
                </a:solidFill>
                <a:latin typeface="JetBrains Mono" pitchFamily="34" charset="0"/>
                <a:ea typeface="JetBrains Mono" pitchFamily="34" charset="-122"/>
                <a:cs typeface="JetBrains Mono" pitchFamily="34" charset="-120"/>
              </a:rPr>
              <a:t>▸</a:t>
            </a:r>
            <a:endParaRPr lang="en-US" sz="1800" dirty="0"/>
          </a:p>
        </p:txBody>
      </p:sp>
      <p:sp>
        <p:nvSpPr>
          <p:cNvPr id="29" name="Text 27"/>
          <p:cNvSpPr/>
          <p:nvPr/>
        </p:nvSpPr>
        <p:spPr>
          <a:xfrm>
            <a:off x="9848836" y="8825507"/>
            <a:ext cx="7416941"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1A1A1A"/>
                </a:solidFill>
                <a:latin typeface="Inter" pitchFamily="34" charset="0"/>
                <a:ea typeface="Inter" pitchFamily="34" charset="-122"/>
                <a:cs typeface="Inter" pitchFamily="34" charset="-120"/>
              </a:rPr>
              <a:t>Unsigned COGs are still discoverable. </a:t>
            </a:r>
            <a:r>
              <a:rPr lang="en-US" sz="1800" dirty="0">
                <a:solidFill>
                  <a:srgbClr val="2A2A28"/>
                </a:solidFill>
                <a:latin typeface="Inter" pitchFamily="34" charset="0"/>
                <a:ea typeface="Inter" pitchFamily="34" charset="-122"/>
                <a:cs typeface="Inter" pitchFamily="34" charset="-120"/>
              </a:rPr>
              <a:t>Signed COGs add cryptographic provenance on top.</a:t>
            </a:r>
            <a:endParaRPr lang="en-US" sz="1800" dirty="0"/>
          </a:p>
        </p:txBody>
      </p:sp>
      <p:sp>
        <p:nvSpPr>
          <p:cNvPr id="30" name="Text 28"/>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31" name="Text 29"/>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32" name="Text 30"/>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3" name="Text 31"/>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08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WHERE MX FITS</a:t>
            </a:r>
            <a:endParaRPr lang="en-US" sz="1800" dirty="0"/>
          </a:p>
        </p:txBody>
      </p:sp>
      <p:sp>
        <p:nvSpPr>
          <p:cNvPr id="4" name="Text 2"/>
          <p:cNvSpPr/>
          <p:nvPr/>
        </p:nvSpPr>
        <p:spPr>
          <a:xfrm>
            <a:off x="1238250" y="1577240"/>
            <a:ext cx="10890997" cy="1838313"/>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Bare Metal owns the physical stack. MX is the missing logical layer.</a:t>
            </a:r>
            <a:endParaRPr lang="en-US" sz="5700" dirty="0"/>
          </a:p>
        </p:txBody>
      </p:sp>
      <p:sp>
        <p:nvSpPr>
          <p:cNvPr id="5" name="Shape 3"/>
          <p:cNvSpPr/>
          <p:nvPr/>
        </p:nvSpPr>
        <p:spPr>
          <a:xfrm>
            <a:off x="1238250" y="3692493"/>
            <a:ext cx="15811500" cy="684000"/>
          </a:xfrm>
          <a:prstGeom prst="rect">
            <a:avLst/>
          </a:prstGeom>
          <a:ln w="8659">
            <a:solidFill>
              <a:srgbClr val="D8D2C4"/>
            </a:solidFill>
            <a:prstDash val="dash"/>
          </a:ln>
        </p:spPr>
        <p:txBody>
          <a:bodyPr/>
          <a:lstStyle/>
          <a:p>
            <a:endParaRPr lang="en-US"/>
          </a:p>
        </p:txBody>
      </p:sp>
      <p:sp>
        <p:nvSpPr>
          <p:cNvPr id="6" name="Shape 4"/>
          <p:cNvSpPr/>
          <p:nvPr/>
        </p:nvSpPr>
        <p:spPr>
          <a:xfrm>
            <a:off x="10957741" y="3701152"/>
            <a:ext cx="9525" cy="666682"/>
          </a:xfrm>
          <a:prstGeom prst="rect">
            <a:avLst/>
          </a:prstGeom>
          <a:solidFill>
            <a:srgbClr val="D8D2C4"/>
          </a:solidFill>
          <a:ln/>
        </p:spPr>
        <p:txBody>
          <a:bodyPr/>
          <a:lstStyle/>
          <a:p>
            <a:endParaRPr lang="en-US"/>
          </a:p>
        </p:txBody>
      </p:sp>
      <p:sp>
        <p:nvSpPr>
          <p:cNvPr id="7" name="Text 5"/>
          <p:cNvSpPr/>
          <p:nvPr/>
        </p:nvSpPr>
        <p:spPr>
          <a:xfrm>
            <a:off x="1551709" y="3834502"/>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APPLICATIONS</a:t>
            </a:r>
            <a:endParaRPr lang="en-US" sz="1800" dirty="0"/>
          </a:p>
        </p:txBody>
      </p:sp>
      <p:sp>
        <p:nvSpPr>
          <p:cNvPr id="8" name="Text 6"/>
          <p:cNvSpPr/>
          <p:nvPr/>
        </p:nvSpPr>
        <p:spPr>
          <a:xfrm>
            <a:off x="11271200" y="3834502"/>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i="1" kern="0" spc="-11" dirty="0">
                <a:solidFill>
                  <a:srgbClr val="6A6258"/>
                </a:solidFill>
                <a:latin typeface="Source Serif 4" pitchFamily="34" charset="0"/>
                <a:ea typeface="Source Serif 4" pitchFamily="34" charset="-122"/>
                <a:cs typeface="Source Serif 4" pitchFamily="34" charset="-120"/>
              </a:rPr>
              <a:t>Agents · Robots · Everything above</a:t>
            </a:r>
            <a:endParaRPr lang="en-US" sz="2250" dirty="0"/>
          </a:p>
        </p:txBody>
      </p:sp>
      <p:sp>
        <p:nvSpPr>
          <p:cNvPr id="9" name="Shape 7"/>
          <p:cNvSpPr/>
          <p:nvPr/>
        </p:nvSpPr>
        <p:spPr>
          <a:xfrm>
            <a:off x="1238250" y="4414580"/>
            <a:ext cx="15811500" cy="684000"/>
          </a:xfrm>
          <a:prstGeom prst="rect">
            <a:avLst/>
          </a:prstGeom>
          <a:solidFill>
            <a:srgbClr val="C8482B"/>
          </a:solidFill>
          <a:ln w="8659">
            <a:solidFill>
              <a:srgbClr val="C8482B"/>
            </a:solidFill>
            <a:prstDash val="solid"/>
          </a:ln>
        </p:spPr>
        <p:txBody>
          <a:bodyPr/>
          <a:lstStyle/>
          <a:p>
            <a:endParaRPr lang="en-US"/>
          </a:p>
        </p:txBody>
      </p:sp>
      <p:sp>
        <p:nvSpPr>
          <p:cNvPr id="10" name="Shape 8"/>
          <p:cNvSpPr/>
          <p:nvPr/>
        </p:nvSpPr>
        <p:spPr>
          <a:xfrm>
            <a:off x="10957741" y="4423239"/>
            <a:ext cx="9525" cy="666682"/>
          </a:xfrm>
          <a:prstGeom prst="rect">
            <a:avLst/>
          </a:prstGeom>
          <a:solidFill>
            <a:srgbClr val="FBF2E6">
              <a:alpha val="30000"/>
            </a:srgbClr>
          </a:solidFill>
          <a:ln/>
        </p:spPr>
        <p:txBody>
          <a:bodyPr/>
          <a:lstStyle/>
          <a:p>
            <a:endParaRPr lang="en-US"/>
          </a:p>
        </p:txBody>
      </p:sp>
      <p:sp>
        <p:nvSpPr>
          <p:cNvPr id="11" name="Text 9"/>
          <p:cNvSpPr/>
          <p:nvPr/>
        </p:nvSpPr>
        <p:spPr>
          <a:xfrm>
            <a:off x="1551709" y="4556589"/>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FBF2E6"/>
                </a:solidFill>
                <a:latin typeface="JetBrains Mono" pitchFamily="34" charset="0"/>
                <a:ea typeface="JetBrains Mono" pitchFamily="34" charset="-122"/>
                <a:cs typeface="JetBrains Mono" pitchFamily="34" charset="-120"/>
              </a:rPr>
              <a:t>DOCUMENT RUNTIME</a:t>
            </a:r>
            <a:endParaRPr lang="en-US" sz="1800" dirty="0"/>
          </a:p>
        </p:txBody>
      </p:sp>
      <p:sp>
        <p:nvSpPr>
          <p:cNvPr id="12" name="Text 10"/>
          <p:cNvSpPr/>
          <p:nvPr/>
        </p:nvSpPr>
        <p:spPr>
          <a:xfrm>
            <a:off x="11271200" y="4556589"/>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b="1" i="1" kern="0" spc="-11" dirty="0">
                <a:solidFill>
                  <a:srgbClr val="FBF2E6"/>
                </a:solidFill>
                <a:latin typeface="Source Serif 4" pitchFamily="34" charset="0"/>
                <a:ea typeface="Source Serif 4" pitchFamily="34" charset="-122"/>
                <a:cs typeface="Source Serif 4" pitchFamily="34" charset="-120"/>
              </a:rPr>
              <a:t>MX — Document-native machine runtime</a:t>
            </a:r>
            <a:endParaRPr lang="en-US" sz="2250" dirty="0"/>
          </a:p>
        </p:txBody>
      </p:sp>
      <p:sp>
        <p:nvSpPr>
          <p:cNvPr id="13" name="Shape 11"/>
          <p:cNvSpPr/>
          <p:nvPr/>
        </p:nvSpPr>
        <p:spPr>
          <a:xfrm>
            <a:off x="1238250" y="5136667"/>
            <a:ext cx="15811500" cy="684000"/>
          </a:xfrm>
          <a:prstGeom prst="rect">
            <a:avLst/>
          </a:prstGeom>
          <a:solidFill>
            <a:srgbClr val="FBF8F0"/>
          </a:solidFill>
          <a:ln w="8659">
            <a:solidFill>
              <a:srgbClr val="D8D2C4"/>
            </a:solidFill>
            <a:prstDash val="solid"/>
          </a:ln>
        </p:spPr>
        <p:txBody>
          <a:bodyPr/>
          <a:lstStyle/>
          <a:p>
            <a:endParaRPr lang="en-US"/>
          </a:p>
        </p:txBody>
      </p:sp>
      <p:sp>
        <p:nvSpPr>
          <p:cNvPr id="14" name="Shape 12"/>
          <p:cNvSpPr/>
          <p:nvPr/>
        </p:nvSpPr>
        <p:spPr>
          <a:xfrm>
            <a:off x="10957741" y="5145327"/>
            <a:ext cx="9525" cy="666682"/>
          </a:xfrm>
          <a:prstGeom prst="rect">
            <a:avLst/>
          </a:prstGeom>
          <a:solidFill>
            <a:srgbClr val="D8D2C4"/>
          </a:solidFill>
          <a:ln/>
        </p:spPr>
        <p:txBody>
          <a:bodyPr/>
          <a:lstStyle/>
          <a:p>
            <a:endParaRPr lang="en-US"/>
          </a:p>
        </p:txBody>
      </p:sp>
      <p:sp>
        <p:nvSpPr>
          <p:cNvPr id="15" name="Text 13"/>
          <p:cNvSpPr/>
          <p:nvPr/>
        </p:nvSpPr>
        <p:spPr>
          <a:xfrm>
            <a:off x="1551709" y="5278677"/>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SOVEREIGN AI RUNTIME</a:t>
            </a:r>
            <a:endParaRPr lang="en-US" sz="1800" dirty="0"/>
          </a:p>
        </p:txBody>
      </p:sp>
      <p:sp>
        <p:nvSpPr>
          <p:cNvPr id="16" name="Text 14"/>
          <p:cNvSpPr/>
          <p:nvPr/>
        </p:nvSpPr>
        <p:spPr>
          <a:xfrm>
            <a:off x="11271200" y="5278677"/>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MeetKai</a:t>
            </a:r>
            <a:endParaRPr lang="en-US" sz="2250" dirty="0"/>
          </a:p>
        </p:txBody>
      </p:sp>
      <p:sp>
        <p:nvSpPr>
          <p:cNvPr id="17" name="Shape 15"/>
          <p:cNvSpPr/>
          <p:nvPr/>
        </p:nvSpPr>
        <p:spPr>
          <a:xfrm>
            <a:off x="1238250" y="5858754"/>
            <a:ext cx="15811500" cy="684000"/>
          </a:xfrm>
          <a:prstGeom prst="rect">
            <a:avLst/>
          </a:prstGeom>
          <a:solidFill>
            <a:srgbClr val="FBF8F0"/>
          </a:solidFill>
          <a:ln w="8659">
            <a:solidFill>
              <a:srgbClr val="D8D2C4"/>
            </a:solidFill>
            <a:prstDash val="solid"/>
          </a:ln>
        </p:spPr>
        <p:txBody>
          <a:bodyPr/>
          <a:lstStyle/>
          <a:p>
            <a:endParaRPr lang="en-US"/>
          </a:p>
        </p:txBody>
      </p:sp>
      <p:sp>
        <p:nvSpPr>
          <p:cNvPr id="18" name="Shape 16"/>
          <p:cNvSpPr/>
          <p:nvPr/>
        </p:nvSpPr>
        <p:spPr>
          <a:xfrm>
            <a:off x="10957741" y="5867413"/>
            <a:ext cx="9525" cy="666682"/>
          </a:xfrm>
          <a:prstGeom prst="rect">
            <a:avLst/>
          </a:prstGeom>
          <a:solidFill>
            <a:srgbClr val="D8D2C4"/>
          </a:solidFill>
          <a:ln/>
        </p:spPr>
        <p:txBody>
          <a:bodyPr/>
          <a:lstStyle/>
          <a:p>
            <a:endParaRPr lang="en-US"/>
          </a:p>
        </p:txBody>
      </p:sp>
      <p:sp>
        <p:nvSpPr>
          <p:cNvPr id="19" name="Text 17"/>
          <p:cNvSpPr/>
          <p:nvPr/>
        </p:nvSpPr>
        <p:spPr>
          <a:xfrm>
            <a:off x="1551709" y="6000763"/>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HETEROGENEOUS ORCHESTRATION</a:t>
            </a:r>
            <a:endParaRPr lang="en-US" sz="1800" dirty="0"/>
          </a:p>
        </p:txBody>
      </p:sp>
      <p:sp>
        <p:nvSpPr>
          <p:cNvPr id="20" name="Text 18"/>
          <p:cNvSpPr/>
          <p:nvPr/>
        </p:nvSpPr>
        <p:spPr>
          <a:xfrm>
            <a:off x="11271200" y="6000763"/>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Callosum</a:t>
            </a:r>
            <a:endParaRPr lang="en-US" sz="2250" dirty="0"/>
          </a:p>
        </p:txBody>
      </p:sp>
      <p:sp>
        <p:nvSpPr>
          <p:cNvPr id="21" name="Shape 19"/>
          <p:cNvSpPr/>
          <p:nvPr/>
        </p:nvSpPr>
        <p:spPr>
          <a:xfrm>
            <a:off x="1238250" y="6580841"/>
            <a:ext cx="15811500" cy="684000"/>
          </a:xfrm>
          <a:prstGeom prst="rect">
            <a:avLst/>
          </a:prstGeom>
          <a:solidFill>
            <a:srgbClr val="FBF8F0"/>
          </a:solidFill>
          <a:ln w="8659">
            <a:solidFill>
              <a:srgbClr val="D8D2C4"/>
            </a:solidFill>
            <a:prstDash val="solid"/>
          </a:ln>
        </p:spPr>
        <p:txBody>
          <a:bodyPr/>
          <a:lstStyle/>
          <a:p>
            <a:endParaRPr lang="en-US"/>
          </a:p>
        </p:txBody>
      </p:sp>
      <p:sp>
        <p:nvSpPr>
          <p:cNvPr id="22" name="Shape 20"/>
          <p:cNvSpPr/>
          <p:nvPr/>
        </p:nvSpPr>
        <p:spPr>
          <a:xfrm>
            <a:off x="10957741" y="6589500"/>
            <a:ext cx="9525" cy="666682"/>
          </a:xfrm>
          <a:prstGeom prst="rect">
            <a:avLst/>
          </a:prstGeom>
          <a:solidFill>
            <a:srgbClr val="D8D2C4"/>
          </a:solidFill>
          <a:ln/>
        </p:spPr>
        <p:txBody>
          <a:bodyPr/>
          <a:lstStyle/>
          <a:p>
            <a:endParaRPr lang="en-US"/>
          </a:p>
        </p:txBody>
      </p:sp>
      <p:sp>
        <p:nvSpPr>
          <p:cNvPr id="23" name="Text 21"/>
          <p:cNvSpPr/>
          <p:nvPr/>
        </p:nvSpPr>
        <p:spPr>
          <a:xfrm>
            <a:off x="1551709" y="6722850"/>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RACK HARDWARE + OS</a:t>
            </a:r>
            <a:endParaRPr lang="en-US" sz="1800" dirty="0"/>
          </a:p>
        </p:txBody>
      </p:sp>
      <p:sp>
        <p:nvSpPr>
          <p:cNvPr id="24" name="Text 22"/>
          <p:cNvSpPr/>
          <p:nvPr/>
        </p:nvSpPr>
        <p:spPr>
          <a:xfrm>
            <a:off x="11271200" y="6722850"/>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Oxide</a:t>
            </a:r>
            <a:endParaRPr lang="en-US" sz="2250" dirty="0"/>
          </a:p>
        </p:txBody>
      </p:sp>
      <p:sp>
        <p:nvSpPr>
          <p:cNvPr id="25" name="Shape 23"/>
          <p:cNvSpPr/>
          <p:nvPr/>
        </p:nvSpPr>
        <p:spPr>
          <a:xfrm>
            <a:off x="1238250" y="7302928"/>
            <a:ext cx="15811500" cy="684000"/>
          </a:xfrm>
          <a:prstGeom prst="rect">
            <a:avLst/>
          </a:prstGeom>
          <a:solidFill>
            <a:srgbClr val="FBF8F0"/>
          </a:solidFill>
          <a:ln w="8659">
            <a:solidFill>
              <a:srgbClr val="D8D2C4"/>
            </a:solidFill>
            <a:prstDash val="solid"/>
          </a:ln>
        </p:spPr>
        <p:txBody>
          <a:bodyPr/>
          <a:lstStyle/>
          <a:p>
            <a:endParaRPr lang="en-US"/>
          </a:p>
        </p:txBody>
      </p:sp>
      <p:sp>
        <p:nvSpPr>
          <p:cNvPr id="26" name="Shape 24"/>
          <p:cNvSpPr/>
          <p:nvPr/>
        </p:nvSpPr>
        <p:spPr>
          <a:xfrm>
            <a:off x="10957741" y="7311587"/>
            <a:ext cx="9525" cy="666682"/>
          </a:xfrm>
          <a:prstGeom prst="rect">
            <a:avLst/>
          </a:prstGeom>
          <a:solidFill>
            <a:srgbClr val="D8D2C4"/>
          </a:solidFill>
          <a:ln/>
        </p:spPr>
        <p:txBody>
          <a:bodyPr/>
          <a:lstStyle/>
          <a:p>
            <a:endParaRPr lang="en-US"/>
          </a:p>
        </p:txBody>
      </p:sp>
      <p:sp>
        <p:nvSpPr>
          <p:cNvPr id="27" name="Text 25"/>
          <p:cNvSpPr/>
          <p:nvPr/>
        </p:nvSpPr>
        <p:spPr>
          <a:xfrm>
            <a:off x="1551709" y="7444937"/>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COMPUTE</a:t>
            </a:r>
            <a:endParaRPr lang="en-US" sz="1800" dirty="0"/>
          </a:p>
        </p:txBody>
      </p:sp>
      <p:sp>
        <p:nvSpPr>
          <p:cNvPr id="28" name="Text 26"/>
          <p:cNvSpPr/>
          <p:nvPr/>
        </p:nvSpPr>
        <p:spPr>
          <a:xfrm>
            <a:off x="11271200" y="7444937"/>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FluidStack</a:t>
            </a:r>
            <a:endParaRPr lang="en-US" sz="2250" dirty="0"/>
          </a:p>
        </p:txBody>
      </p:sp>
      <p:sp>
        <p:nvSpPr>
          <p:cNvPr id="29" name="Shape 27"/>
          <p:cNvSpPr/>
          <p:nvPr/>
        </p:nvSpPr>
        <p:spPr>
          <a:xfrm>
            <a:off x="1238250" y="8025015"/>
            <a:ext cx="15811500" cy="684000"/>
          </a:xfrm>
          <a:prstGeom prst="rect">
            <a:avLst/>
          </a:prstGeom>
          <a:solidFill>
            <a:srgbClr val="FBF8F0"/>
          </a:solidFill>
          <a:ln w="8659">
            <a:solidFill>
              <a:srgbClr val="D8D2C4"/>
            </a:solidFill>
            <a:prstDash val="solid"/>
          </a:ln>
        </p:spPr>
        <p:txBody>
          <a:bodyPr/>
          <a:lstStyle/>
          <a:p>
            <a:endParaRPr lang="en-US"/>
          </a:p>
        </p:txBody>
      </p:sp>
      <p:sp>
        <p:nvSpPr>
          <p:cNvPr id="30" name="Shape 28"/>
          <p:cNvSpPr/>
          <p:nvPr/>
        </p:nvSpPr>
        <p:spPr>
          <a:xfrm>
            <a:off x="10957741" y="8033674"/>
            <a:ext cx="9525" cy="666682"/>
          </a:xfrm>
          <a:prstGeom prst="rect">
            <a:avLst/>
          </a:prstGeom>
          <a:solidFill>
            <a:srgbClr val="D8D2C4"/>
          </a:solidFill>
          <a:ln/>
        </p:spPr>
        <p:txBody>
          <a:bodyPr/>
          <a:lstStyle/>
          <a:p>
            <a:endParaRPr lang="en-US"/>
          </a:p>
        </p:txBody>
      </p:sp>
      <p:sp>
        <p:nvSpPr>
          <p:cNvPr id="31" name="Text 29"/>
          <p:cNvSpPr/>
          <p:nvPr/>
        </p:nvSpPr>
        <p:spPr>
          <a:xfrm>
            <a:off x="1551709" y="8167024"/>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SILICON</a:t>
            </a:r>
            <a:endParaRPr lang="en-US" sz="1800" dirty="0"/>
          </a:p>
        </p:txBody>
      </p:sp>
      <p:sp>
        <p:nvSpPr>
          <p:cNvPr id="32" name="Text 30"/>
          <p:cNvSpPr/>
          <p:nvPr/>
        </p:nvSpPr>
        <p:spPr>
          <a:xfrm>
            <a:off x="11271200" y="8167024"/>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DreamBig</a:t>
            </a:r>
            <a:endParaRPr lang="en-US" sz="2250" dirty="0"/>
          </a:p>
        </p:txBody>
      </p:sp>
      <p:sp>
        <p:nvSpPr>
          <p:cNvPr id="33" name="Text 31"/>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34" name="Text 32"/>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35" name="Text 33"/>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6" name="Text 34"/>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09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WHY NOW</a:t>
            </a:r>
            <a:endParaRPr lang="en-US" sz="1800" dirty="0"/>
          </a:p>
        </p:txBody>
      </p:sp>
      <p:sp>
        <p:nvSpPr>
          <p:cNvPr id="4" name="Text 2"/>
          <p:cNvSpPr/>
          <p:nvPr/>
        </p:nvSpPr>
        <p:spPr>
          <a:xfrm>
            <a:off x="1238250" y="1577240"/>
            <a:ext cx="14716125" cy="2296702"/>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Three forces converged in 2025. The window for an open document standard </a:t>
            </a:r>
            <a:r>
              <a:rPr lang="en-US" sz="5700" i="1" kern="0" spc="-103" dirty="0">
                <a:solidFill>
                  <a:srgbClr val="C8482B"/>
                </a:solidFill>
                <a:latin typeface="Source Serif 4" pitchFamily="34" charset="0"/>
                <a:ea typeface="Source Serif 4" pitchFamily="34" charset="-122"/>
                <a:cs typeface="Source Serif 4" pitchFamily="34" charset="-120"/>
              </a:rPr>
              <a:t>is open now.</a:t>
            </a:r>
            <a:endParaRPr lang="en-US" sz="5700" dirty="0"/>
          </a:p>
        </p:txBody>
      </p:sp>
      <p:sp>
        <p:nvSpPr>
          <p:cNvPr id="5" name="Shape 3"/>
          <p:cNvSpPr/>
          <p:nvPr/>
        </p:nvSpPr>
        <p:spPr>
          <a:xfrm>
            <a:off x="1238249" y="6183220"/>
            <a:ext cx="7783237" cy="9525"/>
          </a:xfrm>
          <a:prstGeom prst="rect">
            <a:avLst/>
          </a:prstGeom>
          <a:solidFill>
            <a:srgbClr val="D8D2C4"/>
          </a:solidFill>
          <a:ln/>
        </p:spPr>
        <p:txBody>
          <a:bodyPr/>
          <a:lstStyle/>
          <a:p>
            <a:endParaRPr lang="en-US"/>
          </a:p>
        </p:txBody>
      </p:sp>
      <p:sp>
        <p:nvSpPr>
          <p:cNvPr id="6" name="Text 4"/>
          <p:cNvSpPr/>
          <p:nvPr/>
        </p:nvSpPr>
        <p:spPr>
          <a:xfrm>
            <a:off x="1238250" y="4425472"/>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01</a:t>
            </a:r>
            <a:endParaRPr lang="en-US" sz="1950" dirty="0"/>
          </a:p>
        </p:txBody>
      </p:sp>
      <p:sp>
        <p:nvSpPr>
          <p:cNvPr id="7" name="Text 5"/>
          <p:cNvSpPr/>
          <p:nvPr/>
        </p:nvSpPr>
        <p:spPr>
          <a:xfrm>
            <a:off x="2190750" y="4369188"/>
            <a:ext cx="7035659"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Agents can finally act on documents</a:t>
            </a:r>
            <a:endParaRPr lang="en-US" sz="2700" dirty="0"/>
          </a:p>
        </p:txBody>
      </p:sp>
      <p:sp>
        <p:nvSpPr>
          <p:cNvPr id="8" name="Text 6"/>
          <p:cNvSpPr/>
          <p:nvPr/>
        </p:nvSpPr>
        <p:spPr>
          <a:xfrm>
            <a:off x="2190750" y="4829269"/>
            <a:ext cx="7035659" cy="1078206"/>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Frontier models in 2025 cleared the threshold from summarising to executing. Demand for machine-readable source just became real.</a:t>
            </a:r>
            <a:endParaRPr lang="en-US" sz="1950" dirty="0"/>
          </a:p>
        </p:txBody>
      </p:sp>
      <p:sp>
        <p:nvSpPr>
          <p:cNvPr id="9" name="Shape 7"/>
          <p:cNvSpPr/>
          <p:nvPr/>
        </p:nvSpPr>
        <p:spPr>
          <a:xfrm>
            <a:off x="1238248" y="7723235"/>
            <a:ext cx="7783237" cy="9525"/>
          </a:xfrm>
          <a:prstGeom prst="rect">
            <a:avLst/>
          </a:prstGeom>
          <a:solidFill>
            <a:srgbClr val="D8D2C4"/>
          </a:solidFill>
          <a:ln/>
        </p:spPr>
        <p:txBody>
          <a:bodyPr/>
          <a:lstStyle/>
          <a:p>
            <a:endParaRPr lang="en-US"/>
          </a:p>
        </p:txBody>
      </p:sp>
      <p:sp>
        <p:nvSpPr>
          <p:cNvPr id="10" name="Text 8"/>
          <p:cNvSpPr/>
          <p:nvPr/>
        </p:nvSpPr>
        <p:spPr>
          <a:xfrm>
            <a:off x="1238250" y="6353337"/>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02</a:t>
            </a:r>
            <a:endParaRPr lang="en-US" sz="1950" dirty="0"/>
          </a:p>
        </p:txBody>
      </p:sp>
      <p:sp>
        <p:nvSpPr>
          <p:cNvPr id="11" name="Text 9"/>
          <p:cNvSpPr/>
          <p:nvPr/>
        </p:nvSpPr>
        <p:spPr>
          <a:xfrm>
            <a:off x="2190750" y="6297053"/>
            <a:ext cx="7035659"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Ambiguity is now a line item</a:t>
            </a:r>
            <a:endParaRPr lang="en-US" sz="2700" dirty="0"/>
          </a:p>
        </p:txBody>
      </p:sp>
      <p:sp>
        <p:nvSpPr>
          <p:cNvPr id="12" name="Text 10"/>
          <p:cNvSpPr/>
          <p:nvPr/>
        </p:nvSpPr>
        <p:spPr>
          <a:xfrm>
            <a:off x="2190750" y="6757135"/>
            <a:ext cx="7035659"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Re-reading the same unclear PDF a million times is now an inference bill. Enterprises have started counting it.</a:t>
            </a:r>
            <a:endParaRPr lang="en-US" sz="1950" dirty="0"/>
          </a:p>
        </p:txBody>
      </p:sp>
      <p:sp>
        <p:nvSpPr>
          <p:cNvPr id="13" name="Text 11"/>
          <p:cNvSpPr/>
          <p:nvPr/>
        </p:nvSpPr>
        <p:spPr>
          <a:xfrm>
            <a:off x="1238250" y="7934501"/>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03</a:t>
            </a:r>
            <a:endParaRPr lang="en-US" sz="1950" dirty="0"/>
          </a:p>
        </p:txBody>
      </p:sp>
      <p:sp>
        <p:nvSpPr>
          <p:cNvPr id="14" name="Text 12"/>
          <p:cNvSpPr/>
          <p:nvPr/>
        </p:nvSpPr>
        <p:spPr>
          <a:xfrm>
            <a:off x="2190750" y="7878217"/>
            <a:ext cx="7035659"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Provenance is becoming law</a:t>
            </a:r>
            <a:endParaRPr lang="en-US" sz="2700" dirty="0"/>
          </a:p>
        </p:txBody>
      </p:sp>
      <p:sp>
        <p:nvSpPr>
          <p:cNvPr id="15" name="Text 13"/>
          <p:cNvSpPr/>
          <p:nvPr/>
        </p:nvSpPr>
        <p:spPr>
          <a:xfrm>
            <a:off x="2190750" y="8338299"/>
            <a:ext cx="7035659"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EU AI Act. UK AI assurance. Documents must prove origin and integrity to be admissible. No incumbent solves this.</a:t>
            </a:r>
            <a:endParaRPr lang="en-US" sz="1950" dirty="0"/>
          </a:p>
        </p:txBody>
      </p:sp>
      <p:sp>
        <p:nvSpPr>
          <p:cNvPr id="16" name="Text 14"/>
          <p:cNvSpPr/>
          <p:nvPr/>
        </p:nvSpPr>
        <p:spPr>
          <a:xfrm>
            <a:off x="9973987" y="4369188"/>
            <a:ext cx="7288035" cy="1405086"/>
          </a:xfrm>
          <a:prstGeom prst="rect">
            <a:avLst/>
          </a:prstGeom>
          <a:noFill/>
          <a:ln/>
        </p:spPr>
        <p:txBody>
          <a:bodyPr wrap="square" lIns="25400" tIns="25400" rIns="25400" bIns="25400" rtlCol="0" anchor="t">
            <a:normAutofit/>
          </a:bodyPr>
          <a:lstStyle/>
          <a:p>
            <a:pPr marL="0" indent="0" algn="l">
              <a:lnSpc>
                <a:spcPct val="92000"/>
              </a:lnSpc>
              <a:buNone/>
            </a:pPr>
            <a:r>
              <a:rPr lang="en-US" sz="11700" kern="0" spc="-468" dirty="0">
                <a:solidFill>
                  <a:srgbClr val="E07A5F"/>
                </a:solidFill>
                <a:latin typeface="Source Serif 4" pitchFamily="34" charset="0"/>
                <a:ea typeface="Source Serif 4" pitchFamily="34" charset="-122"/>
                <a:cs typeface="Source Serif 4" pitchFamily="34" charset="-120"/>
              </a:rPr>
              <a:t>700</a:t>
            </a:r>
            <a:r>
              <a:rPr lang="en-US" sz="4800" kern="0" spc="-468" baseline="30000" dirty="0">
                <a:solidFill>
                  <a:srgbClr val="E07A5F"/>
                </a:solidFill>
                <a:latin typeface="Source Serif 4" pitchFamily="34" charset="0"/>
                <a:ea typeface="Source Serif 4" pitchFamily="34" charset="-122"/>
                <a:cs typeface="Source Serif 4" pitchFamily="34" charset="-120"/>
              </a:rPr>
              <a:t>%</a:t>
            </a:r>
            <a:endParaRPr lang="en-US" sz="11700" dirty="0"/>
          </a:p>
        </p:txBody>
      </p:sp>
      <p:sp>
        <p:nvSpPr>
          <p:cNvPr id="17" name="Text 15"/>
          <p:cNvSpPr/>
          <p:nvPr/>
        </p:nvSpPr>
        <p:spPr>
          <a:xfrm>
            <a:off x="9973987" y="5888520"/>
            <a:ext cx="7288035" cy="1424908"/>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alpha val="85000"/>
                  </a:srgbClr>
                </a:solidFill>
                <a:latin typeface="Inter" pitchFamily="34" charset="0"/>
                <a:ea typeface="Inter" pitchFamily="34" charset="-122"/>
                <a:cs typeface="Inter" pitchFamily="34" charset="-120"/>
              </a:rPr>
              <a:t>Growth in AI-referred retail traffic this year. Those users convert </a:t>
            </a:r>
            <a:r>
              <a:rPr lang="en-US" sz="1950" b="1" dirty="0">
                <a:solidFill>
                  <a:srgbClr val="1A1A1A">
                    <a:alpha val="85000"/>
                  </a:srgbClr>
                </a:solidFill>
                <a:latin typeface="Inter" pitchFamily="34" charset="0"/>
                <a:ea typeface="Inter" pitchFamily="34" charset="-122"/>
                <a:cs typeface="Inter" pitchFamily="34" charset="-120"/>
              </a:rPr>
              <a:t>30% higher </a:t>
            </a:r>
            <a:r>
              <a:rPr lang="en-US" sz="1950" dirty="0">
                <a:solidFill>
                  <a:srgbClr val="1A1A1A">
                    <a:alpha val="85000"/>
                  </a:srgbClr>
                </a:solidFill>
                <a:latin typeface="Inter" pitchFamily="34" charset="0"/>
                <a:ea typeface="Inter" pitchFamily="34" charset="-122"/>
                <a:cs typeface="Inter" pitchFamily="34" charset="-120"/>
              </a:rPr>
              <a:t>than direct. The audience for documents is shifting from human eyes to agent calls — fast.</a:t>
            </a:r>
            <a:endParaRPr lang="en-US" sz="1950" dirty="0"/>
          </a:p>
        </p:txBody>
      </p:sp>
      <p:sp>
        <p:nvSpPr>
          <p:cNvPr id="18" name="Text 16"/>
          <p:cNvSpPr/>
          <p:nvPr/>
        </p:nvSpPr>
        <p:spPr>
          <a:xfrm>
            <a:off x="9973987" y="7522923"/>
            <a:ext cx="72880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ADOBE HOLIDAY 2025</a:t>
            </a:r>
            <a:endParaRPr lang="en-US" sz="1800" dirty="0"/>
          </a:p>
        </p:txBody>
      </p:sp>
      <p:sp>
        <p:nvSpPr>
          <p:cNvPr id="19" name="Text 17"/>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0" name="Text 18"/>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1" name="Text 19"/>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22" name="Text 20"/>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10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TRACTION</a:t>
            </a:r>
            <a:endParaRPr lang="en-US" sz="1800" dirty="0"/>
          </a:p>
        </p:txBody>
      </p:sp>
      <p:sp>
        <p:nvSpPr>
          <p:cNvPr id="4" name="Text 2"/>
          <p:cNvSpPr/>
          <p:nvPr/>
        </p:nvSpPr>
        <p:spPr>
          <a:xfrm>
            <a:off x="1238250" y="1577240"/>
            <a:ext cx="16285845" cy="632398"/>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Not a prototype. A functioning ecosystem.</a:t>
            </a:r>
            <a:endParaRPr lang="en-US" sz="4500" dirty="0"/>
          </a:p>
        </p:txBody>
      </p:sp>
      <p:sp>
        <p:nvSpPr>
          <p:cNvPr id="5" name="Shape 3"/>
          <p:cNvSpPr/>
          <p:nvPr/>
        </p:nvSpPr>
        <p:spPr>
          <a:xfrm>
            <a:off x="1238250" y="2704883"/>
            <a:ext cx="10509227" cy="3320694"/>
          </a:xfrm>
          <a:prstGeom prst="rect">
            <a:avLst/>
          </a:prstGeom>
          <a:solidFill>
            <a:srgbClr val="1A1A1A"/>
          </a:solidFill>
          <a:ln w="8659">
            <a:solidFill>
              <a:srgbClr val="1A1A1A"/>
            </a:solidFill>
            <a:prstDash val="solid"/>
          </a:ln>
        </p:spPr>
        <p:txBody>
          <a:bodyPr/>
          <a:lstStyle/>
          <a:p>
            <a:endParaRPr lang="en-US"/>
          </a:p>
        </p:txBody>
      </p:sp>
      <p:sp>
        <p:nvSpPr>
          <p:cNvPr id="6" name="Text 4"/>
          <p:cNvSpPr/>
          <p:nvPr/>
        </p:nvSpPr>
        <p:spPr>
          <a:xfrm>
            <a:off x="1456419" y="2884965"/>
            <a:ext cx="10375077"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E07A5F"/>
                </a:solidFill>
                <a:latin typeface="JetBrains Mono" pitchFamily="34" charset="0"/>
                <a:ea typeface="JetBrains Mono" pitchFamily="34" charset="-122"/>
                <a:cs typeface="JetBrains Mono" pitchFamily="34" charset="-120"/>
              </a:rPr>
              <a:t>PUBLISHED · APR 2026</a:t>
            </a:r>
            <a:endParaRPr lang="en-US" sz="1800" dirty="0"/>
          </a:p>
        </p:txBody>
      </p:sp>
      <p:sp>
        <p:nvSpPr>
          <p:cNvPr id="7" name="Text 5"/>
          <p:cNvSpPr/>
          <p:nvPr/>
        </p:nvSpPr>
        <p:spPr>
          <a:xfrm>
            <a:off x="1456419" y="3281119"/>
            <a:ext cx="10375077" cy="653369"/>
          </a:xfrm>
          <a:prstGeom prst="rect">
            <a:avLst/>
          </a:prstGeom>
          <a:noFill/>
          <a:ln/>
        </p:spPr>
        <p:txBody>
          <a:bodyPr wrap="square" lIns="25400" tIns="25400" rIns="25400" bIns="25400" rtlCol="0" anchor="t">
            <a:normAutofit/>
          </a:bodyPr>
          <a:lstStyle/>
          <a:p>
            <a:pPr marL="0" indent="0" algn="l">
              <a:lnSpc>
                <a:spcPct val="95000"/>
              </a:lnSpc>
              <a:buNone/>
            </a:pPr>
            <a:r>
              <a:rPr lang="en-US" sz="5100" kern="0" spc="-102" dirty="0">
                <a:solidFill>
                  <a:srgbClr val="E07A5F"/>
                </a:solidFill>
                <a:latin typeface="Source Serif 4" pitchFamily="34" charset="0"/>
                <a:ea typeface="Source Serif 4" pitchFamily="34" charset="-122"/>
                <a:cs typeface="Source Serif 4" pitchFamily="34" charset="-120"/>
              </a:rPr>
              <a:t>320pp</a:t>
            </a:r>
            <a:endParaRPr lang="en-US" sz="5100" dirty="0"/>
          </a:p>
        </p:txBody>
      </p:sp>
      <p:sp>
        <p:nvSpPr>
          <p:cNvPr id="8" name="Text 6"/>
          <p:cNvSpPr/>
          <p:nvPr/>
        </p:nvSpPr>
        <p:spPr>
          <a:xfrm>
            <a:off x="1448252" y="4450595"/>
            <a:ext cx="10375077" cy="408411"/>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2700" kern="0" spc="-13" dirty="0">
                <a:solidFill>
                  <a:srgbClr val="F5F1E8"/>
                </a:solidFill>
                <a:latin typeface="Source Serif 4" pitchFamily="34" charset="0"/>
                <a:ea typeface="Source Serif 4" pitchFamily="34" charset="-122"/>
                <a:cs typeface="Source Serif 4" pitchFamily="34" charset="-120"/>
              </a:rPr>
              <a:t>MX: The Handbook</a:t>
            </a:r>
            <a:endParaRPr lang="en-US" sz="2700" dirty="0"/>
          </a:p>
        </p:txBody>
      </p:sp>
      <p:sp>
        <p:nvSpPr>
          <p:cNvPr id="9" name="Text 7"/>
          <p:cNvSpPr/>
          <p:nvPr/>
        </p:nvSpPr>
        <p:spPr>
          <a:xfrm>
            <a:off x="1467650" y="4954256"/>
            <a:ext cx="7156397" cy="6551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F5F1E8">
                    <a:alpha val="70000"/>
                  </a:srgbClr>
                </a:solidFill>
                <a:latin typeface="Inter" pitchFamily="34" charset="0"/>
                <a:ea typeface="Inter" pitchFamily="34" charset="-122"/>
                <a:cs typeface="Inter" pitchFamily="34" charset="-120"/>
              </a:rPr>
              <a:t>The reference for documents both humans and machines can use. The protocols volume (800pp) opens for pre-order July 2026.</a:t>
            </a:r>
            <a:endParaRPr lang="en-US" sz="1800" dirty="0"/>
          </a:p>
        </p:txBody>
      </p:sp>
      <p:sp>
        <p:nvSpPr>
          <p:cNvPr id="10" name="Shape 8"/>
          <p:cNvSpPr/>
          <p:nvPr/>
        </p:nvSpPr>
        <p:spPr>
          <a:xfrm>
            <a:off x="11842727" y="2704883"/>
            <a:ext cx="5206955" cy="3320694"/>
          </a:xfrm>
          <a:prstGeom prst="rect">
            <a:avLst/>
          </a:prstGeom>
          <a:solidFill>
            <a:srgbClr val="C8482B"/>
          </a:solidFill>
          <a:ln w="8659">
            <a:solidFill>
              <a:srgbClr val="C8482B"/>
            </a:solidFill>
            <a:prstDash val="solid"/>
          </a:ln>
        </p:spPr>
        <p:txBody>
          <a:bodyPr/>
          <a:lstStyle/>
          <a:p>
            <a:endParaRPr lang="en-US"/>
          </a:p>
        </p:txBody>
      </p:sp>
      <p:sp>
        <p:nvSpPr>
          <p:cNvPr id="11" name="Text 9"/>
          <p:cNvSpPr/>
          <p:nvPr/>
        </p:nvSpPr>
        <p:spPr>
          <a:xfrm>
            <a:off x="12060895" y="2884965"/>
            <a:ext cx="491373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BF2E6">
                    <a:alpha val="85000"/>
                  </a:srgbClr>
                </a:solidFill>
                <a:latin typeface="JetBrains Mono" pitchFamily="34" charset="0"/>
                <a:ea typeface="JetBrains Mono" pitchFamily="34" charset="-122"/>
                <a:cs typeface="JetBrains Mono" pitchFamily="34" charset="-120"/>
              </a:rPr>
              <a:t>LIVE ALPHA</a:t>
            </a:r>
            <a:endParaRPr lang="en-US" sz="1800" dirty="0"/>
          </a:p>
        </p:txBody>
      </p:sp>
      <p:sp>
        <p:nvSpPr>
          <p:cNvPr id="12" name="Text 10"/>
          <p:cNvSpPr/>
          <p:nvPr/>
        </p:nvSpPr>
        <p:spPr>
          <a:xfrm>
            <a:off x="12033331" y="4529333"/>
            <a:ext cx="4913736" cy="32608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2100" kern="0" spc="-11" dirty="0">
                <a:solidFill>
                  <a:srgbClr val="FBF2E6"/>
                </a:solidFill>
                <a:latin typeface="Source Serif 4" pitchFamily="34" charset="0"/>
                <a:ea typeface="Source Serif 4" pitchFamily="34" charset="-122"/>
                <a:cs typeface="Source Serif 4" pitchFamily="34" charset="-120"/>
              </a:rPr>
              <a:t>REGINALD running</a:t>
            </a:r>
            <a:endParaRPr lang="en-US" sz="2100" dirty="0"/>
          </a:p>
        </p:txBody>
      </p:sp>
      <p:sp>
        <p:nvSpPr>
          <p:cNvPr id="13" name="Text 11"/>
          <p:cNvSpPr/>
          <p:nvPr/>
        </p:nvSpPr>
        <p:spPr>
          <a:xfrm>
            <a:off x="12060895" y="4987814"/>
            <a:ext cx="4913736" cy="6551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FBF2E6">
                    <a:alpha val="85000"/>
                  </a:srgbClr>
                </a:solidFill>
                <a:latin typeface="Inter" pitchFamily="34" charset="0"/>
                <a:ea typeface="Inter" pitchFamily="34" charset="-122"/>
                <a:cs typeface="Inter" pitchFamily="34" charset="-120"/>
              </a:rPr>
              <a:t>89 COGs in production. Two test publishers. Ed25519 attestation operational.</a:t>
            </a:r>
            <a:endParaRPr lang="en-US" sz="1800" dirty="0"/>
          </a:p>
        </p:txBody>
      </p:sp>
      <p:sp>
        <p:nvSpPr>
          <p:cNvPr id="14" name="Shape 12"/>
          <p:cNvSpPr/>
          <p:nvPr/>
        </p:nvSpPr>
        <p:spPr>
          <a:xfrm>
            <a:off x="1238250" y="6120827"/>
            <a:ext cx="5206955" cy="2546923"/>
          </a:xfrm>
          <a:prstGeom prst="rect">
            <a:avLst/>
          </a:prstGeom>
          <a:solidFill>
            <a:srgbClr val="FBF8F0"/>
          </a:solidFill>
          <a:ln w="8659">
            <a:solidFill>
              <a:srgbClr val="D8D2C4"/>
            </a:solidFill>
            <a:prstDash val="solid"/>
          </a:ln>
        </p:spPr>
        <p:txBody>
          <a:bodyPr/>
          <a:lstStyle/>
          <a:p>
            <a:endParaRPr lang="en-US"/>
          </a:p>
        </p:txBody>
      </p:sp>
      <p:sp>
        <p:nvSpPr>
          <p:cNvPr id="15" name="Text 13"/>
          <p:cNvSpPr/>
          <p:nvPr/>
        </p:nvSpPr>
        <p:spPr>
          <a:xfrm>
            <a:off x="1456419" y="6300909"/>
            <a:ext cx="491373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C8482B"/>
                </a:solidFill>
                <a:latin typeface="JetBrains Mono" pitchFamily="34" charset="0"/>
                <a:ea typeface="JetBrains Mono" pitchFamily="34" charset="-122"/>
                <a:cs typeface="JetBrains Mono" pitchFamily="34" charset="-120"/>
              </a:rPr>
              <a:t>ENTERPRISE PROOF</a:t>
            </a:r>
            <a:endParaRPr lang="en-US" sz="1800" dirty="0"/>
          </a:p>
        </p:txBody>
      </p:sp>
      <p:sp>
        <p:nvSpPr>
          <p:cNvPr id="16" name="Text 14"/>
          <p:cNvSpPr/>
          <p:nvPr/>
        </p:nvSpPr>
        <p:spPr>
          <a:xfrm>
            <a:off x="1428855" y="7113662"/>
            <a:ext cx="4913736" cy="32608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2100" kern="0" spc="-11" dirty="0">
                <a:solidFill>
                  <a:srgbClr val="1A1A1A"/>
                </a:solidFill>
                <a:latin typeface="Source Serif 4" pitchFamily="34" charset="0"/>
                <a:ea typeface="Source Serif 4" pitchFamily="34" charset="-122"/>
                <a:cs typeface="Source Serif 4" pitchFamily="34" charset="-120"/>
              </a:rPr>
              <a:t>Leica Microsystems</a:t>
            </a:r>
            <a:endParaRPr lang="en-US" sz="2100" dirty="0"/>
          </a:p>
        </p:txBody>
      </p:sp>
      <p:sp>
        <p:nvSpPr>
          <p:cNvPr id="17" name="Text 15"/>
          <p:cNvSpPr/>
          <p:nvPr/>
        </p:nvSpPr>
        <p:spPr>
          <a:xfrm>
            <a:off x="1448252" y="7574526"/>
            <a:ext cx="4913736" cy="6551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A6258"/>
                </a:solidFill>
                <a:latin typeface="Inter" pitchFamily="34" charset="0"/>
                <a:ea typeface="Inter" pitchFamily="34" charset="-122"/>
                <a:cs typeface="Inter" pitchFamily="34" charset="-120"/>
              </a:rPr>
              <a:t>Sampled across 10 locales as part of an active engagement.</a:t>
            </a:r>
            <a:endParaRPr lang="en-US" sz="1800" dirty="0"/>
          </a:p>
        </p:txBody>
      </p:sp>
      <p:sp>
        <p:nvSpPr>
          <p:cNvPr id="18" name="Shape 16"/>
          <p:cNvSpPr/>
          <p:nvPr/>
        </p:nvSpPr>
        <p:spPr>
          <a:xfrm>
            <a:off x="6540455" y="6120827"/>
            <a:ext cx="5207022" cy="2546923"/>
          </a:xfrm>
          <a:prstGeom prst="rect">
            <a:avLst/>
          </a:prstGeom>
          <a:solidFill>
            <a:srgbClr val="FBF8F0"/>
          </a:solidFill>
          <a:ln w="8659">
            <a:solidFill>
              <a:srgbClr val="D8D2C4"/>
            </a:solidFill>
            <a:prstDash val="solid"/>
          </a:ln>
        </p:spPr>
        <p:txBody>
          <a:bodyPr/>
          <a:lstStyle/>
          <a:p>
            <a:endParaRPr lang="en-US"/>
          </a:p>
        </p:txBody>
      </p:sp>
      <p:sp>
        <p:nvSpPr>
          <p:cNvPr id="19" name="Text 17"/>
          <p:cNvSpPr/>
          <p:nvPr/>
        </p:nvSpPr>
        <p:spPr>
          <a:xfrm>
            <a:off x="6758623" y="6300909"/>
            <a:ext cx="491380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C8482B"/>
                </a:solidFill>
                <a:latin typeface="JetBrains Mono" pitchFamily="34" charset="0"/>
                <a:ea typeface="JetBrains Mono" pitchFamily="34" charset="-122"/>
                <a:cs typeface="JetBrains Mono" pitchFamily="34" charset="-120"/>
              </a:rPr>
              <a:t>STANDARDS BODY</a:t>
            </a:r>
            <a:endParaRPr lang="en-US" sz="1800" dirty="0"/>
          </a:p>
        </p:txBody>
      </p:sp>
      <p:sp>
        <p:nvSpPr>
          <p:cNvPr id="20" name="Text 18"/>
          <p:cNvSpPr/>
          <p:nvPr/>
        </p:nvSpPr>
        <p:spPr>
          <a:xfrm>
            <a:off x="6731059" y="7113662"/>
            <a:ext cx="4913806" cy="32608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2100" kern="0" spc="-11" dirty="0">
                <a:solidFill>
                  <a:srgbClr val="1A1A1A"/>
                </a:solidFill>
                <a:latin typeface="Source Serif 4" pitchFamily="34" charset="0"/>
                <a:ea typeface="Source Serif 4" pitchFamily="34" charset="-122"/>
                <a:cs typeface="Source Serif 4" pitchFamily="34" charset="-120"/>
              </a:rPr>
              <a:t>The Gathering</a:t>
            </a:r>
            <a:endParaRPr lang="en-US" sz="2100" dirty="0"/>
          </a:p>
        </p:txBody>
      </p:sp>
      <p:sp>
        <p:nvSpPr>
          <p:cNvPr id="21" name="Text 19"/>
          <p:cNvSpPr/>
          <p:nvPr/>
        </p:nvSpPr>
        <p:spPr>
          <a:xfrm>
            <a:off x="6750456" y="7574526"/>
            <a:ext cx="4913806" cy="6551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A6258"/>
                </a:solidFill>
                <a:latin typeface="Inter" pitchFamily="34" charset="0"/>
                <a:ea typeface="Inter" pitchFamily="34" charset="-122"/>
                <a:cs typeface="Inter" pitchFamily="34" charset="-120"/>
              </a:rPr>
              <a:t>Incorporated as TG Administration LTD. Independent of any commercial entity.</a:t>
            </a:r>
            <a:endParaRPr lang="en-US" sz="1800" dirty="0"/>
          </a:p>
        </p:txBody>
      </p:sp>
      <p:sp>
        <p:nvSpPr>
          <p:cNvPr id="22" name="Shape 20"/>
          <p:cNvSpPr/>
          <p:nvPr/>
        </p:nvSpPr>
        <p:spPr>
          <a:xfrm>
            <a:off x="11842727" y="6120827"/>
            <a:ext cx="5206955" cy="2546923"/>
          </a:xfrm>
          <a:prstGeom prst="rect">
            <a:avLst/>
          </a:prstGeom>
          <a:solidFill>
            <a:srgbClr val="FBF8F0"/>
          </a:solidFill>
          <a:ln w="8659">
            <a:solidFill>
              <a:srgbClr val="D8D2C4"/>
            </a:solidFill>
            <a:prstDash val="solid"/>
          </a:ln>
        </p:spPr>
        <p:txBody>
          <a:bodyPr/>
          <a:lstStyle/>
          <a:p>
            <a:endParaRPr lang="en-US"/>
          </a:p>
        </p:txBody>
      </p:sp>
      <p:sp>
        <p:nvSpPr>
          <p:cNvPr id="23" name="Text 21"/>
          <p:cNvSpPr/>
          <p:nvPr/>
        </p:nvSpPr>
        <p:spPr>
          <a:xfrm>
            <a:off x="12060895" y="6300909"/>
            <a:ext cx="491373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C8482B"/>
                </a:solidFill>
                <a:latin typeface="JetBrains Mono" pitchFamily="34" charset="0"/>
                <a:ea typeface="JetBrains Mono" pitchFamily="34" charset="-122"/>
                <a:cs typeface="JetBrains Mono" pitchFamily="34" charset="-120"/>
              </a:rPr>
              <a:t>THIS MONTH</a:t>
            </a:r>
            <a:endParaRPr lang="en-US" sz="1800" dirty="0"/>
          </a:p>
        </p:txBody>
      </p:sp>
      <p:sp>
        <p:nvSpPr>
          <p:cNvPr id="24" name="Text 22"/>
          <p:cNvSpPr/>
          <p:nvPr/>
        </p:nvSpPr>
        <p:spPr>
          <a:xfrm>
            <a:off x="12033331" y="7113662"/>
            <a:ext cx="4913736" cy="32608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2100" kern="0" spc="-11" dirty="0">
                <a:solidFill>
                  <a:srgbClr val="1A1A1A"/>
                </a:solidFill>
                <a:latin typeface="Source Serif 4" pitchFamily="34" charset="0"/>
                <a:ea typeface="Source Serif 4" pitchFamily="34" charset="-122"/>
                <a:cs typeface="Source Serif 4" pitchFamily="34" charset="-120"/>
              </a:rPr>
              <a:t>CMS Summit Frankfurt</a:t>
            </a:r>
            <a:endParaRPr lang="en-US" sz="2100" dirty="0"/>
          </a:p>
        </p:txBody>
      </p:sp>
      <p:sp>
        <p:nvSpPr>
          <p:cNvPr id="25" name="Text 23"/>
          <p:cNvSpPr/>
          <p:nvPr/>
        </p:nvSpPr>
        <p:spPr>
          <a:xfrm>
            <a:off x="12052728" y="7574526"/>
            <a:ext cx="4913736" cy="6551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A6258"/>
                </a:solidFill>
                <a:latin typeface="Inter" pitchFamily="34" charset="0"/>
                <a:ea typeface="Inter" pitchFamily="34" charset="-122"/>
                <a:cs typeface="Inter" pitchFamily="34" charset="-120"/>
              </a:rPr>
              <a:t>Keynote to 200 platform practitioners. Workshop confirmed for day two.</a:t>
            </a:r>
            <a:endParaRPr lang="en-US" sz="1800" dirty="0"/>
          </a:p>
        </p:txBody>
      </p:sp>
      <p:sp>
        <p:nvSpPr>
          <p:cNvPr id="26" name="Text 2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7" name="Text 2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8" name="Text 2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29" name="Text 2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11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COMPETITIVE POSITION</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Every competitor raised on agent-OS. None is document-native.</a:t>
            </a:r>
            <a:endParaRPr lang="en-US" sz="4500" dirty="0"/>
          </a:p>
        </p:txBody>
      </p:sp>
      <p:sp>
        <p:nvSpPr>
          <p:cNvPr id="5" name="Shape 3"/>
          <p:cNvSpPr/>
          <p:nvPr/>
        </p:nvSpPr>
        <p:spPr>
          <a:xfrm>
            <a:off x="1238250" y="6175758"/>
            <a:ext cx="4000500" cy="9525"/>
          </a:xfrm>
          <a:prstGeom prst="rect">
            <a:avLst/>
          </a:prstGeom>
          <a:solidFill>
            <a:srgbClr val="1A1A1A"/>
          </a:solidFill>
          <a:ln/>
        </p:spPr>
        <p:txBody>
          <a:bodyPr/>
          <a:lstStyle/>
          <a:p>
            <a:endParaRPr lang="en-US"/>
          </a:p>
        </p:txBody>
      </p:sp>
      <p:sp>
        <p:nvSpPr>
          <p:cNvPr id="6" name="Shape 4"/>
          <p:cNvSpPr/>
          <p:nvPr/>
        </p:nvSpPr>
        <p:spPr>
          <a:xfrm>
            <a:off x="3238500" y="4175508"/>
            <a:ext cx="9525" cy="4000500"/>
          </a:xfrm>
          <a:prstGeom prst="rect">
            <a:avLst/>
          </a:prstGeom>
          <a:solidFill>
            <a:srgbClr val="1A1A1A"/>
          </a:solidFill>
          <a:ln/>
        </p:spPr>
        <p:txBody>
          <a:bodyPr/>
          <a:lstStyle/>
          <a:p>
            <a:endParaRPr lang="en-US"/>
          </a:p>
        </p:txBody>
      </p:sp>
      <p:sp>
        <p:nvSpPr>
          <p:cNvPr id="7" name="Text 5"/>
          <p:cNvSpPr/>
          <p:nvPr/>
        </p:nvSpPr>
        <p:spPr>
          <a:xfrm>
            <a:off x="1162077" y="6347181"/>
            <a:ext cx="203761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PROPRIETARY</a:t>
            </a:r>
            <a:endParaRPr lang="en-US" sz="1800" dirty="0"/>
          </a:p>
        </p:txBody>
      </p:sp>
      <p:sp>
        <p:nvSpPr>
          <p:cNvPr id="8" name="Text 6"/>
          <p:cNvSpPr/>
          <p:nvPr/>
        </p:nvSpPr>
        <p:spPr>
          <a:xfrm>
            <a:off x="4525430" y="6347181"/>
            <a:ext cx="789493"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OPEN</a:t>
            </a:r>
            <a:endParaRPr lang="en-US" sz="1800" dirty="0"/>
          </a:p>
        </p:txBody>
      </p:sp>
      <p:sp>
        <p:nvSpPr>
          <p:cNvPr id="9" name="Text 7"/>
          <p:cNvSpPr/>
          <p:nvPr/>
        </p:nvSpPr>
        <p:spPr>
          <a:xfrm>
            <a:off x="3371836" y="3775499"/>
            <a:ext cx="185929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EXECUTABLE</a:t>
            </a:r>
            <a:endParaRPr lang="en-US" sz="1800" dirty="0"/>
          </a:p>
        </p:txBody>
      </p:sp>
      <p:sp>
        <p:nvSpPr>
          <p:cNvPr id="10" name="Text 8"/>
          <p:cNvSpPr/>
          <p:nvPr/>
        </p:nvSpPr>
        <p:spPr>
          <a:xfrm>
            <a:off x="3371836" y="8198873"/>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QUERIED</a:t>
            </a:r>
            <a:endParaRPr lang="en-US" sz="1800" dirty="0"/>
          </a:p>
        </p:txBody>
      </p:sp>
      <p:sp>
        <p:nvSpPr>
          <p:cNvPr id="11" name="Text 9"/>
          <p:cNvSpPr/>
          <p:nvPr/>
        </p:nvSpPr>
        <p:spPr>
          <a:xfrm>
            <a:off x="3755948" y="4249922"/>
            <a:ext cx="1367905" cy="609600"/>
          </a:xfrm>
          <a:prstGeom prst="rect">
            <a:avLst/>
          </a:prstGeom>
          <a:noFill/>
          <a:ln/>
        </p:spPr>
        <p:txBody>
          <a:bodyPr wrap="square" lIns="0" tIns="0" rIns="0" bIns="0" rtlCol="0" anchor="t">
            <a:normAutofit/>
          </a:bodyPr>
          <a:lstStyle/>
          <a:p>
            <a:pPr marL="0" indent="0" algn="r">
              <a:lnSpc>
                <a:spcPct val="100000"/>
              </a:lnSpc>
              <a:buNone/>
            </a:pPr>
            <a:r>
              <a:rPr lang="en-US" sz="3300" i="1" kern="0" spc="-66" dirty="0">
                <a:solidFill>
                  <a:srgbClr val="C8482B"/>
                </a:solidFill>
                <a:latin typeface="Source Serif 4" pitchFamily="34" charset="0"/>
                <a:ea typeface="Source Serif 4" pitchFamily="34" charset="-122"/>
                <a:cs typeface="Source Serif 4" pitchFamily="34" charset="-120"/>
              </a:rPr>
              <a:t>MX OS</a:t>
            </a:r>
            <a:endParaRPr lang="en-US" sz="3300" dirty="0"/>
          </a:p>
        </p:txBody>
      </p:sp>
      <p:sp>
        <p:nvSpPr>
          <p:cNvPr id="12" name="Text 10"/>
          <p:cNvSpPr/>
          <p:nvPr/>
        </p:nvSpPr>
        <p:spPr>
          <a:xfrm>
            <a:off x="3333723" y="4823113"/>
            <a:ext cx="1733604" cy="384734"/>
          </a:xfrm>
          <a:prstGeom prst="rect">
            <a:avLst/>
          </a:prstGeom>
          <a:noFill/>
          <a:ln/>
        </p:spPr>
        <p:txBody>
          <a:bodyPr wrap="square" lIns="25400" tIns="25400" rIns="25400" bIns="25400" rtlCol="0" anchor="t">
            <a:normAutofit/>
          </a:bodyPr>
          <a:lstStyle/>
          <a:p>
            <a:pPr marL="0" indent="0" algn="r">
              <a:lnSpc>
                <a:spcPct val="130000"/>
              </a:lnSpc>
              <a:buNone/>
            </a:pPr>
            <a:r>
              <a:rPr lang="en-US" sz="1050" kern="0" spc="168" dirty="0">
                <a:solidFill>
                  <a:srgbClr val="C8482B"/>
                </a:solidFill>
                <a:latin typeface="JetBrains Mono" pitchFamily="34" charset="0"/>
                <a:ea typeface="JetBrains Mono" pitchFamily="34" charset="-122"/>
                <a:cs typeface="JetBrains Mono" pitchFamily="34" charset="-120"/>
              </a:rPr>
              <a:t>— ALONE IN THIS QUADRANT</a:t>
            </a:r>
            <a:endParaRPr lang="en-US" sz="1050" dirty="0"/>
          </a:p>
        </p:txBody>
      </p:sp>
      <p:sp>
        <p:nvSpPr>
          <p:cNvPr id="13" name="Shape 11"/>
          <p:cNvSpPr/>
          <p:nvPr/>
        </p:nvSpPr>
        <p:spPr>
          <a:xfrm>
            <a:off x="9243850" y="4643031"/>
            <a:ext cx="7805900" cy="9525"/>
          </a:xfrm>
          <a:prstGeom prst="rect">
            <a:avLst/>
          </a:prstGeom>
          <a:solidFill>
            <a:srgbClr val="1A1A1A"/>
          </a:solidFill>
          <a:ln/>
        </p:spPr>
        <p:txBody>
          <a:bodyPr/>
          <a:lstStyle/>
          <a:p>
            <a:endParaRPr lang="en-US"/>
          </a:p>
        </p:txBody>
      </p:sp>
      <p:sp>
        <p:nvSpPr>
          <p:cNvPr id="14" name="Text 12"/>
          <p:cNvSpPr/>
          <p:nvPr/>
        </p:nvSpPr>
        <p:spPr>
          <a:xfrm>
            <a:off x="9243850" y="3869734"/>
            <a:ext cx="203484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COMPANY</a:t>
            </a:r>
            <a:endParaRPr lang="en-US" sz="1800" dirty="0"/>
          </a:p>
        </p:txBody>
      </p:sp>
      <p:sp>
        <p:nvSpPr>
          <p:cNvPr id="15" name="Text 13"/>
          <p:cNvSpPr/>
          <p:nvPr/>
        </p:nvSpPr>
        <p:spPr>
          <a:xfrm>
            <a:off x="11354842" y="3869734"/>
            <a:ext cx="1615218"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FUNDING</a:t>
            </a:r>
            <a:endParaRPr lang="en-US" sz="1800" dirty="0"/>
          </a:p>
        </p:txBody>
      </p:sp>
      <p:sp>
        <p:nvSpPr>
          <p:cNvPr id="16" name="Text 14"/>
          <p:cNvSpPr/>
          <p:nvPr/>
        </p:nvSpPr>
        <p:spPr>
          <a:xfrm>
            <a:off x="13008105" y="3869734"/>
            <a:ext cx="1195455" cy="678061"/>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DOC-NATIVE</a:t>
            </a:r>
            <a:endParaRPr lang="en-US" sz="1800" dirty="0"/>
          </a:p>
        </p:txBody>
      </p:sp>
      <p:sp>
        <p:nvSpPr>
          <p:cNvPr id="17" name="Text 15"/>
          <p:cNvSpPr/>
          <p:nvPr/>
        </p:nvSpPr>
        <p:spPr>
          <a:xfrm>
            <a:off x="14279706" y="3869734"/>
            <a:ext cx="105555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OPEN</a:t>
            </a:r>
            <a:endParaRPr lang="en-US" sz="1800" dirty="0"/>
          </a:p>
        </p:txBody>
      </p:sp>
      <p:sp>
        <p:nvSpPr>
          <p:cNvPr id="18" name="Text 16"/>
          <p:cNvSpPr/>
          <p:nvPr/>
        </p:nvSpPr>
        <p:spPr>
          <a:xfrm>
            <a:off x="15411409" y="3869734"/>
            <a:ext cx="1676441"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EXECUTABLE</a:t>
            </a:r>
            <a:endParaRPr lang="en-US" sz="1800" dirty="0"/>
          </a:p>
        </p:txBody>
      </p:sp>
      <p:sp>
        <p:nvSpPr>
          <p:cNvPr id="19" name="Shape 17"/>
          <p:cNvSpPr/>
          <p:nvPr/>
        </p:nvSpPr>
        <p:spPr>
          <a:xfrm>
            <a:off x="9243850" y="5579972"/>
            <a:ext cx="7805900" cy="9525"/>
          </a:xfrm>
          <a:prstGeom prst="rect">
            <a:avLst/>
          </a:prstGeom>
          <a:solidFill>
            <a:srgbClr val="D8D2C4"/>
          </a:solidFill>
          <a:ln/>
        </p:spPr>
        <p:txBody>
          <a:bodyPr/>
          <a:lstStyle/>
          <a:p>
            <a:endParaRPr lang="en-US"/>
          </a:p>
        </p:txBody>
      </p:sp>
      <p:sp>
        <p:nvSpPr>
          <p:cNvPr id="20" name="Text 18"/>
          <p:cNvSpPr/>
          <p:nvPr/>
        </p:nvSpPr>
        <p:spPr>
          <a:xfrm>
            <a:off x="9243850" y="4785027"/>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/dev/agents</a:t>
            </a:r>
            <a:endParaRPr lang="en-US" sz="1950" dirty="0"/>
          </a:p>
        </p:txBody>
      </p:sp>
      <p:sp>
        <p:nvSpPr>
          <p:cNvPr id="21" name="Text 19"/>
          <p:cNvSpPr/>
          <p:nvPr/>
        </p:nvSpPr>
        <p:spPr>
          <a:xfrm>
            <a:off x="11452324" y="4806675"/>
            <a:ext cx="1691729"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$56M @ $500M</a:t>
            </a:r>
            <a:endParaRPr lang="en-US" sz="1800" dirty="0"/>
          </a:p>
        </p:txBody>
      </p:sp>
      <p:sp>
        <p:nvSpPr>
          <p:cNvPr id="22" name="Text 20"/>
          <p:cNvSpPr/>
          <p:nvPr/>
        </p:nvSpPr>
        <p:spPr>
          <a:xfrm>
            <a:off x="13182099" y="4806675"/>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23" name="Text 21"/>
          <p:cNvSpPr/>
          <p:nvPr/>
        </p:nvSpPr>
        <p:spPr>
          <a:xfrm>
            <a:off x="14509375" y="4806675"/>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24" name="Text 22"/>
          <p:cNvSpPr/>
          <p:nvPr/>
        </p:nvSpPr>
        <p:spPr>
          <a:xfrm>
            <a:off x="15689785" y="4806675"/>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25" name="Shape 23"/>
          <p:cNvSpPr/>
          <p:nvPr/>
        </p:nvSpPr>
        <p:spPr>
          <a:xfrm>
            <a:off x="9243850" y="6202006"/>
            <a:ext cx="7805900" cy="9525"/>
          </a:xfrm>
          <a:prstGeom prst="rect">
            <a:avLst/>
          </a:prstGeom>
          <a:solidFill>
            <a:srgbClr val="D8D2C4"/>
          </a:solidFill>
          <a:ln/>
        </p:spPr>
        <p:txBody>
          <a:bodyPr/>
          <a:lstStyle/>
          <a:p>
            <a:endParaRPr lang="en-US"/>
          </a:p>
        </p:txBody>
      </p:sp>
      <p:sp>
        <p:nvSpPr>
          <p:cNvPr id="26" name="Text 24"/>
          <p:cNvSpPr/>
          <p:nvPr/>
        </p:nvSpPr>
        <p:spPr>
          <a:xfrm>
            <a:off x="9243850" y="5721968"/>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Letta</a:t>
            </a:r>
            <a:endParaRPr lang="en-US" sz="1950" dirty="0"/>
          </a:p>
        </p:txBody>
      </p:sp>
      <p:sp>
        <p:nvSpPr>
          <p:cNvPr id="27" name="Text 25"/>
          <p:cNvSpPr/>
          <p:nvPr/>
        </p:nvSpPr>
        <p:spPr>
          <a:xfrm>
            <a:off x="11452324" y="5743615"/>
            <a:ext cx="169172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$10M @ $70M</a:t>
            </a:r>
            <a:endParaRPr lang="en-US" sz="1800" dirty="0"/>
          </a:p>
        </p:txBody>
      </p:sp>
      <p:sp>
        <p:nvSpPr>
          <p:cNvPr id="28" name="Text 26"/>
          <p:cNvSpPr/>
          <p:nvPr/>
        </p:nvSpPr>
        <p:spPr>
          <a:xfrm>
            <a:off x="13182099" y="5743615"/>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Partial</a:t>
            </a:r>
            <a:endParaRPr lang="en-US" sz="1800" dirty="0"/>
          </a:p>
        </p:txBody>
      </p:sp>
      <p:sp>
        <p:nvSpPr>
          <p:cNvPr id="29" name="Text 27"/>
          <p:cNvSpPr/>
          <p:nvPr/>
        </p:nvSpPr>
        <p:spPr>
          <a:xfrm>
            <a:off x="14509375" y="5743615"/>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Partial</a:t>
            </a:r>
            <a:endParaRPr lang="en-US" sz="1800" dirty="0"/>
          </a:p>
        </p:txBody>
      </p:sp>
      <p:sp>
        <p:nvSpPr>
          <p:cNvPr id="30" name="Text 28"/>
          <p:cNvSpPr/>
          <p:nvPr/>
        </p:nvSpPr>
        <p:spPr>
          <a:xfrm>
            <a:off x="15689785" y="5743615"/>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1" name="Shape 29"/>
          <p:cNvSpPr/>
          <p:nvPr/>
        </p:nvSpPr>
        <p:spPr>
          <a:xfrm>
            <a:off x="9243850" y="7138947"/>
            <a:ext cx="7805900" cy="9525"/>
          </a:xfrm>
          <a:prstGeom prst="rect">
            <a:avLst/>
          </a:prstGeom>
          <a:solidFill>
            <a:srgbClr val="D8D2C4"/>
          </a:solidFill>
          <a:ln/>
        </p:spPr>
        <p:txBody>
          <a:bodyPr/>
          <a:lstStyle/>
          <a:p>
            <a:endParaRPr lang="en-US"/>
          </a:p>
        </p:txBody>
      </p:sp>
      <p:sp>
        <p:nvSpPr>
          <p:cNvPr id="32" name="Text 30"/>
          <p:cNvSpPr/>
          <p:nvPr/>
        </p:nvSpPr>
        <p:spPr>
          <a:xfrm>
            <a:off x="9243850" y="6344002"/>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E2B</a:t>
            </a:r>
            <a:endParaRPr lang="en-US" sz="1950" dirty="0"/>
          </a:p>
        </p:txBody>
      </p:sp>
      <p:sp>
        <p:nvSpPr>
          <p:cNvPr id="33" name="Text 31"/>
          <p:cNvSpPr/>
          <p:nvPr/>
        </p:nvSpPr>
        <p:spPr>
          <a:xfrm>
            <a:off x="11452324" y="6365649"/>
            <a:ext cx="1691729"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$21M Series A</a:t>
            </a:r>
            <a:endParaRPr lang="en-US" sz="1800" dirty="0"/>
          </a:p>
        </p:txBody>
      </p:sp>
      <p:sp>
        <p:nvSpPr>
          <p:cNvPr id="34" name="Text 32"/>
          <p:cNvSpPr/>
          <p:nvPr/>
        </p:nvSpPr>
        <p:spPr>
          <a:xfrm>
            <a:off x="13182099" y="6365649"/>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5" name="Text 33"/>
          <p:cNvSpPr/>
          <p:nvPr/>
        </p:nvSpPr>
        <p:spPr>
          <a:xfrm>
            <a:off x="14509375" y="6365649"/>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6" name="Text 34"/>
          <p:cNvSpPr/>
          <p:nvPr/>
        </p:nvSpPr>
        <p:spPr>
          <a:xfrm>
            <a:off x="15689785" y="6365649"/>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7" name="Shape 35"/>
          <p:cNvSpPr/>
          <p:nvPr/>
        </p:nvSpPr>
        <p:spPr>
          <a:xfrm>
            <a:off x="9243850" y="7760980"/>
            <a:ext cx="7805900" cy="9525"/>
          </a:xfrm>
          <a:prstGeom prst="rect">
            <a:avLst/>
          </a:prstGeom>
          <a:solidFill>
            <a:srgbClr val="D8D2C4"/>
          </a:solidFill>
          <a:ln/>
        </p:spPr>
        <p:txBody>
          <a:bodyPr/>
          <a:lstStyle/>
          <a:p>
            <a:endParaRPr lang="en-US"/>
          </a:p>
        </p:txBody>
      </p:sp>
      <p:sp>
        <p:nvSpPr>
          <p:cNvPr id="38" name="Text 36"/>
          <p:cNvSpPr/>
          <p:nvPr/>
        </p:nvSpPr>
        <p:spPr>
          <a:xfrm>
            <a:off x="9243850" y="7280942"/>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Cognition</a:t>
            </a:r>
            <a:endParaRPr lang="en-US" sz="1950" dirty="0"/>
          </a:p>
        </p:txBody>
      </p:sp>
      <p:sp>
        <p:nvSpPr>
          <p:cNvPr id="39" name="Text 37"/>
          <p:cNvSpPr/>
          <p:nvPr/>
        </p:nvSpPr>
        <p:spPr>
          <a:xfrm>
            <a:off x="11452324" y="7302590"/>
            <a:ext cx="169172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$175M @ $2B</a:t>
            </a:r>
            <a:endParaRPr lang="en-US" sz="1800" dirty="0"/>
          </a:p>
        </p:txBody>
      </p:sp>
      <p:sp>
        <p:nvSpPr>
          <p:cNvPr id="40" name="Text 38"/>
          <p:cNvSpPr/>
          <p:nvPr/>
        </p:nvSpPr>
        <p:spPr>
          <a:xfrm>
            <a:off x="13182099" y="7302590"/>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41" name="Text 39"/>
          <p:cNvSpPr/>
          <p:nvPr/>
        </p:nvSpPr>
        <p:spPr>
          <a:xfrm>
            <a:off x="14509375" y="7302590"/>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42" name="Text 40"/>
          <p:cNvSpPr/>
          <p:nvPr/>
        </p:nvSpPr>
        <p:spPr>
          <a:xfrm>
            <a:off x="15689785" y="7302590"/>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43" name="Shape 41"/>
          <p:cNvSpPr/>
          <p:nvPr/>
        </p:nvSpPr>
        <p:spPr>
          <a:xfrm>
            <a:off x="9091504" y="7941342"/>
            <a:ext cx="8110592" cy="669650"/>
          </a:xfrm>
          <a:prstGeom prst="rect">
            <a:avLst/>
          </a:prstGeom>
          <a:solidFill>
            <a:srgbClr val="1A1A1A"/>
          </a:solidFill>
          <a:ln/>
        </p:spPr>
        <p:txBody>
          <a:bodyPr/>
          <a:lstStyle/>
          <a:p>
            <a:endParaRPr lang="en-US"/>
          </a:p>
        </p:txBody>
      </p:sp>
      <p:sp>
        <p:nvSpPr>
          <p:cNvPr id="44" name="Text 42"/>
          <p:cNvSpPr/>
          <p:nvPr/>
        </p:nvSpPr>
        <p:spPr>
          <a:xfrm>
            <a:off x="9243850" y="8017236"/>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i="1" dirty="0">
                <a:solidFill>
                  <a:srgbClr val="F5F1E8"/>
                </a:solidFill>
                <a:latin typeface="Source Serif 4" pitchFamily="34" charset="0"/>
                <a:ea typeface="Source Serif 4" pitchFamily="34" charset="-122"/>
                <a:cs typeface="Source Serif 4" pitchFamily="34" charset="-120"/>
              </a:rPr>
              <a:t>MX OS</a:t>
            </a:r>
            <a:endParaRPr lang="en-US" sz="1950" dirty="0"/>
          </a:p>
        </p:txBody>
      </p:sp>
      <p:sp>
        <p:nvSpPr>
          <p:cNvPr id="45" name="Text 43"/>
          <p:cNvSpPr/>
          <p:nvPr/>
        </p:nvSpPr>
        <p:spPr>
          <a:xfrm>
            <a:off x="11452324" y="8038883"/>
            <a:ext cx="169172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5F1E8">
                    <a:alpha val="70000"/>
                  </a:srgbClr>
                </a:solidFill>
                <a:latin typeface="JetBrains Mono" pitchFamily="34" charset="0"/>
                <a:ea typeface="JetBrains Mono" pitchFamily="34" charset="-122"/>
                <a:cs typeface="JetBrains Mono" pitchFamily="34" charset="-120"/>
              </a:rPr>
              <a:t>Pre-seed</a:t>
            </a:r>
            <a:endParaRPr lang="en-US" sz="1800" dirty="0"/>
          </a:p>
        </p:txBody>
      </p:sp>
      <p:sp>
        <p:nvSpPr>
          <p:cNvPr id="46" name="Text 44"/>
          <p:cNvSpPr/>
          <p:nvPr/>
        </p:nvSpPr>
        <p:spPr>
          <a:xfrm>
            <a:off x="13182099" y="8038883"/>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b="1" dirty="0">
                <a:solidFill>
                  <a:srgbClr val="E07A5F"/>
                </a:solidFill>
                <a:latin typeface="JetBrains Mono" pitchFamily="34" charset="0"/>
                <a:ea typeface="JetBrains Mono" pitchFamily="34" charset="-122"/>
                <a:cs typeface="JetBrains Mono" pitchFamily="34" charset="-120"/>
              </a:rPr>
              <a:t>Yes</a:t>
            </a:r>
            <a:endParaRPr lang="en-US" sz="1800" dirty="0"/>
          </a:p>
        </p:txBody>
      </p:sp>
      <p:sp>
        <p:nvSpPr>
          <p:cNvPr id="47" name="Text 45"/>
          <p:cNvSpPr/>
          <p:nvPr/>
        </p:nvSpPr>
        <p:spPr>
          <a:xfrm>
            <a:off x="14509375" y="8038883"/>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b="1" dirty="0">
                <a:solidFill>
                  <a:srgbClr val="E07A5F"/>
                </a:solidFill>
                <a:latin typeface="JetBrains Mono" pitchFamily="34" charset="0"/>
                <a:ea typeface="JetBrains Mono" pitchFamily="34" charset="-122"/>
                <a:cs typeface="JetBrains Mono" pitchFamily="34" charset="-120"/>
              </a:rPr>
              <a:t>Yes</a:t>
            </a:r>
            <a:endParaRPr lang="en-US" sz="1800" dirty="0"/>
          </a:p>
        </p:txBody>
      </p:sp>
      <p:sp>
        <p:nvSpPr>
          <p:cNvPr id="48" name="Text 46"/>
          <p:cNvSpPr/>
          <p:nvPr/>
        </p:nvSpPr>
        <p:spPr>
          <a:xfrm>
            <a:off x="15689785" y="8038883"/>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b="1" dirty="0">
                <a:solidFill>
                  <a:srgbClr val="E07A5F"/>
                </a:solidFill>
                <a:latin typeface="JetBrains Mono" pitchFamily="34" charset="0"/>
                <a:ea typeface="JetBrains Mono" pitchFamily="34" charset="-122"/>
                <a:cs typeface="JetBrains Mono" pitchFamily="34" charset="-120"/>
              </a:rPr>
              <a:t>Yes</a:t>
            </a:r>
            <a:endParaRPr lang="en-US" sz="1800" dirty="0"/>
          </a:p>
        </p:txBody>
      </p:sp>
      <p:sp>
        <p:nvSpPr>
          <p:cNvPr id="49" name="Text 47"/>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50" name="Text 48"/>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51" name="Text 49"/>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52" name="Text 50"/>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12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LOCAL REGINALD MACHINE</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REGINALD for organisations that will not put documents on the internet.</a:t>
            </a:r>
            <a:endParaRPr lang="en-US" sz="5700" dirty="0"/>
          </a:p>
        </p:txBody>
      </p:sp>
      <p:sp>
        <p:nvSpPr>
          <p:cNvPr id="5" name="Shape 3"/>
          <p:cNvSpPr/>
          <p:nvPr/>
        </p:nvSpPr>
        <p:spPr>
          <a:xfrm>
            <a:off x="1238250" y="3806820"/>
            <a:ext cx="6797386" cy="5703013"/>
          </a:xfrm>
          <a:prstGeom prst="rect">
            <a:avLst/>
          </a:prstGeom>
          <a:solidFill>
            <a:srgbClr val="1A1A1A"/>
          </a:solidFill>
          <a:ln/>
        </p:spPr>
        <p:txBody>
          <a:bodyPr/>
          <a:lstStyle/>
          <a:p>
            <a:endParaRPr lang="en-US"/>
          </a:p>
        </p:txBody>
      </p:sp>
      <p:sp>
        <p:nvSpPr>
          <p:cNvPr id="6" name="Text 4"/>
          <p:cNvSpPr/>
          <p:nvPr/>
        </p:nvSpPr>
        <p:spPr>
          <a:xfrm>
            <a:off x="1657336" y="4225907"/>
            <a:ext cx="613798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F5F1E8">
                    <a:alpha val="60000"/>
                  </a:srgbClr>
                </a:solidFill>
                <a:latin typeface="JetBrains Mono" pitchFamily="34" charset="0"/>
                <a:ea typeface="JetBrains Mono" pitchFamily="34" charset="-122"/>
                <a:cs typeface="JetBrains Mono" pitchFamily="34" charset="-120"/>
              </a:rPr>
              <a:t>PER SERVER · PER YEAR</a:t>
            </a:r>
            <a:endParaRPr lang="en-US" sz="1800" dirty="0"/>
          </a:p>
        </p:txBody>
      </p:sp>
      <p:sp>
        <p:nvSpPr>
          <p:cNvPr id="7" name="Text 5"/>
          <p:cNvSpPr/>
          <p:nvPr/>
        </p:nvSpPr>
        <p:spPr>
          <a:xfrm>
            <a:off x="1657336" y="4660147"/>
            <a:ext cx="6137989" cy="1219186"/>
          </a:xfrm>
          <a:prstGeom prst="rect">
            <a:avLst/>
          </a:prstGeom>
          <a:noFill/>
          <a:ln/>
        </p:spPr>
        <p:txBody>
          <a:bodyPr wrap="square" lIns="25400" tIns="25400" rIns="25400" bIns="25400" rtlCol="0" anchor="t">
            <a:normAutofit/>
          </a:bodyPr>
          <a:lstStyle/>
          <a:p>
            <a:pPr marL="0" indent="0" algn="l">
              <a:lnSpc>
                <a:spcPct val="100000"/>
              </a:lnSpc>
              <a:buNone/>
            </a:pPr>
            <a:r>
              <a:rPr lang="en-US" sz="6000" kern="0" spc="-279" dirty="0">
                <a:solidFill>
                  <a:srgbClr val="E07A5F"/>
                </a:solidFill>
                <a:latin typeface="Source Serif 4" pitchFamily="34" charset="0"/>
                <a:ea typeface="Source Serif 4" pitchFamily="34" charset="-122"/>
                <a:cs typeface="Source Serif 4" pitchFamily="34" charset="-120"/>
              </a:rPr>
              <a:t>£ </a:t>
            </a:r>
            <a:r>
              <a:rPr lang="en-US" sz="9300" kern="0" spc="-279" dirty="0">
                <a:solidFill>
                  <a:srgbClr val="E07A5F"/>
                </a:solidFill>
                <a:latin typeface="Source Serif 4" pitchFamily="34" charset="0"/>
                <a:ea typeface="Source Serif 4" pitchFamily="34" charset="-122"/>
                <a:cs typeface="Source Serif 4" pitchFamily="34" charset="-120"/>
              </a:rPr>
              <a:t>25k</a:t>
            </a:r>
            <a:endParaRPr lang="en-US" sz="9300" dirty="0"/>
          </a:p>
        </p:txBody>
      </p:sp>
      <p:sp>
        <p:nvSpPr>
          <p:cNvPr id="8" name="Text 6"/>
          <p:cNvSpPr/>
          <p:nvPr/>
        </p:nvSpPr>
        <p:spPr>
          <a:xfrm>
            <a:off x="1657336" y="5993579"/>
            <a:ext cx="6137989"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5F1E8">
                    <a:alpha val="85000"/>
                  </a:srgbClr>
                </a:solidFill>
                <a:latin typeface="Inter" pitchFamily="34" charset="0"/>
                <a:ea typeface="Inter" pitchFamily="34" charset="-122"/>
                <a:cs typeface="Inter" pitchFamily="34" charset="-120"/>
              </a:rPr>
              <a:t>Banks. Law firms. Government. Defence. Regulated buyers cannot deploy any other way.</a:t>
            </a:r>
            <a:endParaRPr lang="en-US" sz="1800" dirty="0"/>
          </a:p>
        </p:txBody>
      </p:sp>
      <p:sp>
        <p:nvSpPr>
          <p:cNvPr id="9" name="Shape 7"/>
          <p:cNvSpPr/>
          <p:nvPr/>
        </p:nvSpPr>
        <p:spPr>
          <a:xfrm>
            <a:off x="1657336" y="7204972"/>
            <a:ext cx="5959213" cy="9525"/>
          </a:xfrm>
          <a:prstGeom prst="rect">
            <a:avLst/>
          </a:prstGeom>
          <a:solidFill>
            <a:srgbClr val="F5F1E8">
              <a:alpha val="20000"/>
            </a:srgbClr>
          </a:solidFill>
          <a:ln/>
        </p:spPr>
        <p:txBody>
          <a:bodyPr/>
          <a:lstStyle/>
          <a:p>
            <a:endParaRPr lang="en-US"/>
          </a:p>
        </p:txBody>
      </p:sp>
      <p:sp>
        <p:nvSpPr>
          <p:cNvPr id="10" name="Text 8"/>
          <p:cNvSpPr/>
          <p:nvPr/>
        </p:nvSpPr>
        <p:spPr>
          <a:xfrm>
            <a:off x="1657335" y="7456296"/>
            <a:ext cx="5575683" cy="741178"/>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5F1E8">
                    <a:alpha val="55000"/>
                  </a:srgbClr>
                </a:solidFill>
                <a:latin typeface="JetBrains Mono" pitchFamily="34" charset="0"/>
                <a:ea typeface="JetBrains Mono" pitchFamily="34" charset="-122"/>
                <a:cs typeface="JetBrains Mono" pitchFamily="34" charset="-120"/>
              </a:rPr>
              <a:t>10 ENTERPRISE CLIENTS · 5-SERVER AVG</a:t>
            </a:r>
            <a:endParaRPr lang="en-US" sz="1800" dirty="0"/>
          </a:p>
        </p:txBody>
      </p:sp>
      <p:sp>
        <p:nvSpPr>
          <p:cNvPr id="11" name="Text 9"/>
          <p:cNvSpPr/>
          <p:nvPr/>
        </p:nvSpPr>
        <p:spPr>
          <a:xfrm>
            <a:off x="1657335" y="8114866"/>
            <a:ext cx="6137989" cy="1135437"/>
          </a:xfrm>
          <a:prstGeom prst="rect">
            <a:avLst/>
          </a:prstGeom>
          <a:noFill/>
          <a:ln/>
        </p:spPr>
        <p:txBody>
          <a:bodyPr wrap="square" lIns="25400" tIns="25400" rIns="25400" bIns="25400" rtlCol="0" anchor="t">
            <a:normAutofit/>
          </a:bodyPr>
          <a:lstStyle/>
          <a:p>
            <a:pPr marL="0" indent="0" algn="l">
              <a:lnSpc>
                <a:spcPct val="120000"/>
              </a:lnSpc>
              <a:buNone/>
            </a:pPr>
            <a:r>
              <a:rPr lang="en-US" sz="2400" i="1" dirty="0">
                <a:solidFill>
                  <a:srgbClr val="FBF2E6"/>
                </a:solidFill>
                <a:latin typeface="Source Serif 4" pitchFamily="34" charset="0"/>
                <a:ea typeface="Source Serif 4" pitchFamily="34" charset="-122"/>
                <a:cs typeface="Source Serif 4" pitchFamily="34" charset="-120"/>
              </a:rPr>
              <a:t>£1.25M ARR from on-prem alone — before a single SaaS subscription.</a:t>
            </a:r>
            <a:endParaRPr lang="en-US" sz="2400" dirty="0"/>
          </a:p>
        </p:txBody>
      </p:sp>
      <p:sp>
        <p:nvSpPr>
          <p:cNvPr id="12" name="Shape 10"/>
          <p:cNvSpPr/>
          <p:nvPr/>
        </p:nvSpPr>
        <p:spPr>
          <a:xfrm>
            <a:off x="8892886" y="5373845"/>
            <a:ext cx="8156863" cy="9525"/>
          </a:xfrm>
          <a:prstGeom prst="rect">
            <a:avLst/>
          </a:prstGeom>
          <a:solidFill>
            <a:srgbClr val="1A1A1A"/>
          </a:solidFill>
          <a:ln/>
        </p:spPr>
        <p:txBody>
          <a:bodyPr/>
          <a:lstStyle/>
          <a:p>
            <a:endParaRPr lang="en-US"/>
          </a:p>
        </p:txBody>
      </p:sp>
      <p:sp>
        <p:nvSpPr>
          <p:cNvPr id="13" name="Text 11"/>
          <p:cNvSpPr/>
          <p:nvPr/>
        </p:nvSpPr>
        <p:spPr>
          <a:xfrm>
            <a:off x="8892886" y="4939605"/>
            <a:ext cx="417145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16" dirty="0">
                <a:solidFill>
                  <a:srgbClr val="6A6258"/>
                </a:solidFill>
                <a:latin typeface="JetBrains Mono" pitchFamily="34" charset="0"/>
                <a:ea typeface="JetBrains Mono" pitchFamily="34" charset="-122"/>
                <a:cs typeface="JetBrains Mono" pitchFamily="34" charset="-120"/>
              </a:rPr>
              <a:t>ORGANISATION</a:t>
            </a:r>
            <a:endParaRPr lang="en-US" sz="1800" dirty="0"/>
          </a:p>
        </p:txBody>
      </p:sp>
      <p:sp>
        <p:nvSpPr>
          <p:cNvPr id="14" name="Text 12"/>
          <p:cNvSpPr/>
          <p:nvPr/>
        </p:nvSpPr>
        <p:spPr>
          <a:xfrm>
            <a:off x="13133310" y="4939605"/>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kern="0" spc="216" dirty="0">
                <a:solidFill>
                  <a:srgbClr val="6A6258"/>
                </a:solidFill>
                <a:latin typeface="JetBrains Mono" pitchFamily="34" charset="0"/>
                <a:ea typeface="JetBrains Mono" pitchFamily="34" charset="-122"/>
                <a:cs typeface="JetBrains Mono" pitchFamily="34" charset="-120"/>
              </a:rPr>
              <a:t>SERVERS</a:t>
            </a:r>
            <a:endParaRPr lang="en-US" sz="1800" dirty="0"/>
          </a:p>
        </p:txBody>
      </p:sp>
      <p:sp>
        <p:nvSpPr>
          <p:cNvPr id="15" name="Text 13"/>
          <p:cNvSpPr/>
          <p:nvPr/>
        </p:nvSpPr>
        <p:spPr>
          <a:xfrm>
            <a:off x="14591149" y="4939605"/>
            <a:ext cx="2458600"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kern="0" spc="216" dirty="0">
                <a:solidFill>
                  <a:srgbClr val="6A6258"/>
                </a:solidFill>
                <a:latin typeface="JetBrains Mono" pitchFamily="34" charset="0"/>
                <a:ea typeface="JetBrains Mono" pitchFamily="34" charset="-122"/>
                <a:cs typeface="JetBrains Mono" pitchFamily="34" charset="-120"/>
              </a:rPr>
              <a:t>ACV</a:t>
            </a:r>
            <a:endParaRPr lang="en-US" sz="1800" dirty="0"/>
          </a:p>
        </p:txBody>
      </p:sp>
      <p:sp>
        <p:nvSpPr>
          <p:cNvPr id="16" name="Shape 14"/>
          <p:cNvSpPr/>
          <p:nvPr/>
        </p:nvSpPr>
        <p:spPr>
          <a:xfrm>
            <a:off x="8892886" y="6136792"/>
            <a:ext cx="8156863" cy="9525"/>
          </a:xfrm>
          <a:prstGeom prst="rect">
            <a:avLst/>
          </a:prstGeom>
          <a:solidFill>
            <a:srgbClr val="D8D2C4"/>
          </a:solidFill>
          <a:ln/>
        </p:spPr>
        <p:txBody>
          <a:bodyPr/>
          <a:lstStyle/>
          <a:p>
            <a:endParaRPr lang="en-US"/>
          </a:p>
        </p:txBody>
      </p:sp>
      <p:sp>
        <p:nvSpPr>
          <p:cNvPr id="17" name="Text 15"/>
          <p:cNvSpPr/>
          <p:nvPr/>
        </p:nvSpPr>
        <p:spPr>
          <a:xfrm>
            <a:off x="8892886" y="5573004"/>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Mid-size law firm</a:t>
            </a:r>
            <a:endParaRPr lang="en-US" sz="2100" dirty="0"/>
          </a:p>
        </p:txBody>
      </p:sp>
      <p:sp>
        <p:nvSpPr>
          <p:cNvPr id="18" name="Text 16"/>
          <p:cNvSpPr/>
          <p:nvPr/>
        </p:nvSpPr>
        <p:spPr>
          <a:xfrm>
            <a:off x="13133310" y="5611970"/>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2</a:t>
            </a:r>
            <a:endParaRPr lang="en-US" sz="1800" dirty="0"/>
          </a:p>
        </p:txBody>
      </p:sp>
      <p:sp>
        <p:nvSpPr>
          <p:cNvPr id="19" name="Text 17"/>
          <p:cNvSpPr/>
          <p:nvPr/>
        </p:nvSpPr>
        <p:spPr>
          <a:xfrm>
            <a:off x="14591149" y="5573004"/>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£50,000</a:t>
            </a:r>
            <a:endParaRPr lang="en-US" sz="2100" dirty="0"/>
          </a:p>
        </p:txBody>
      </p:sp>
      <p:sp>
        <p:nvSpPr>
          <p:cNvPr id="20" name="Shape 18"/>
          <p:cNvSpPr/>
          <p:nvPr/>
        </p:nvSpPr>
        <p:spPr>
          <a:xfrm>
            <a:off x="8892886" y="6899739"/>
            <a:ext cx="8156863" cy="9525"/>
          </a:xfrm>
          <a:prstGeom prst="rect">
            <a:avLst/>
          </a:prstGeom>
          <a:solidFill>
            <a:srgbClr val="D8D2C4"/>
          </a:solidFill>
          <a:ln/>
        </p:spPr>
        <p:txBody>
          <a:bodyPr/>
          <a:lstStyle/>
          <a:p>
            <a:endParaRPr lang="en-US"/>
          </a:p>
        </p:txBody>
      </p:sp>
      <p:sp>
        <p:nvSpPr>
          <p:cNvPr id="21" name="Text 19"/>
          <p:cNvSpPr/>
          <p:nvPr/>
        </p:nvSpPr>
        <p:spPr>
          <a:xfrm>
            <a:off x="8892886" y="6335951"/>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Regional bank</a:t>
            </a:r>
            <a:endParaRPr lang="en-US" sz="2100" dirty="0"/>
          </a:p>
        </p:txBody>
      </p:sp>
      <p:sp>
        <p:nvSpPr>
          <p:cNvPr id="22" name="Text 20"/>
          <p:cNvSpPr/>
          <p:nvPr/>
        </p:nvSpPr>
        <p:spPr>
          <a:xfrm>
            <a:off x="13133310" y="6374917"/>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5</a:t>
            </a:r>
            <a:endParaRPr lang="en-US" sz="1800" dirty="0"/>
          </a:p>
        </p:txBody>
      </p:sp>
      <p:sp>
        <p:nvSpPr>
          <p:cNvPr id="23" name="Text 21"/>
          <p:cNvSpPr/>
          <p:nvPr/>
        </p:nvSpPr>
        <p:spPr>
          <a:xfrm>
            <a:off x="14591149" y="6335951"/>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£125,000</a:t>
            </a:r>
            <a:endParaRPr lang="en-US" sz="2100" dirty="0"/>
          </a:p>
        </p:txBody>
      </p:sp>
      <p:sp>
        <p:nvSpPr>
          <p:cNvPr id="24" name="Shape 22"/>
          <p:cNvSpPr/>
          <p:nvPr/>
        </p:nvSpPr>
        <p:spPr>
          <a:xfrm>
            <a:off x="8892886" y="7662686"/>
            <a:ext cx="8156863" cy="9525"/>
          </a:xfrm>
          <a:prstGeom prst="rect">
            <a:avLst/>
          </a:prstGeom>
          <a:solidFill>
            <a:srgbClr val="D8D2C4"/>
          </a:solidFill>
          <a:ln/>
        </p:spPr>
        <p:txBody>
          <a:bodyPr/>
          <a:lstStyle/>
          <a:p>
            <a:endParaRPr lang="en-US"/>
          </a:p>
        </p:txBody>
      </p:sp>
      <p:sp>
        <p:nvSpPr>
          <p:cNvPr id="25" name="Text 23"/>
          <p:cNvSpPr/>
          <p:nvPr/>
        </p:nvSpPr>
        <p:spPr>
          <a:xfrm>
            <a:off x="8892886" y="7098898"/>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Global bank · per division</a:t>
            </a:r>
            <a:endParaRPr lang="en-US" sz="2100" dirty="0"/>
          </a:p>
        </p:txBody>
      </p:sp>
      <p:sp>
        <p:nvSpPr>
          <p:cNvPr id="26" name="Text 24"/>
          <p:cNvSpPr/>
          <p:nvPr/>
        </p:nvSpPr>
        <p:spPr>
          <a:xfrm>
            <a:off x="13133310" y="7137864"/>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10–20</a:t>
            </a:r>
            <a:endParaRPr lang="en-US" sz="1800" dirty="0"/>
          </a:p>
        </p:txBody>
      </p:sp>
      <p:sp>
        <p:nvSpPr>
          <p:cNvPr id="27" name="Text 25"/>
          <p:cNvSpPr/>
          <p:nvPr/>
        </p:nvSpPr>
        <p:spPr>
          <a:xfrm>
            <a:off x="14591149" y="7098898"/>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£250–500k</a:t>
            </a:r>
            <a:endParaRPr lang="en-US" sz="2100" dirty="0"/>
          </a:p>
        </p:txBody>
      </p:sp>
      <p:sp>
        <p:nvSpPr>
          <p:cNvPr id="28" name="Shape 26"/>
          <p:cNvSpPr/>
          <p:nvPr/>
        </p:nvSpPr>
        <p:spPr>
          <a:xfrm>
            <a:off x="8892886" y="8425634"/>
            <a:ext cx="8156863" cy="9525"/>
          </a:xfrm>
          <a:prstGeom prst="rect">
            <a:avLst/>
          </a:prstGeom>
          <a:solidFill>
            <a:srgbClr val="D8D2C4"/>
          </a:solidFill>
          <a:ln/>
        </p:spPr>
        <p:txBody>
          <a:bodyPr/>
          <a:lstStyle/>
          <a:p>
            <a:endParaRPr lang="en-US"/>
          </a:p>
        </p:txBody>
      </p:sp>
      <p:sp>
        <p:nvSpPr>
          <p:cNvPr id="29" name="Text 27"/>
          <p:cNvSpPr/>
          <p:nvPr/>
        </p:nvSpPr>
        <p:spPr>
          <a:xfrm>
            <a:off x="8892886" y="7861846"/>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Government department</a:t>
            </a:r>
            <a:endParaRPr lang="en-US" sz="2100" dirty="0"/>
          </a:p>
        </p:txBody>
      </p:sp>
      <p:sp>
        <p:nvSpPr>
          <p:cNvPr id="30" name="Text 28"/>
          <p:cNvSpPr/>
          <p:nvPr/>
        </p:nvSpPr>
        <p:spPr>
          <a:xfrm>
            <a:off x="13133310" y="7900811"/>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5–10</a:t>
            </a:r>
            <a:endParaRPr lang="en-US" sz="1800" dirty="0"/>
          </a:p>
        </p:txBody>
      </p:sp>
      <p:sp>
        <p:nvSpPr>
          <p:cNvPr id="31" name="Text 29"/>
          <p:cNvSpPr/>
          <p:nvPr/>
        </p:nvSpPr>
        <p:spPr>
          <a:xfrm>
            <a:off x="14591149" y="7861846"/>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£125–250k</a:t>
            </a:r>
            <a:endParaRPr lang="en-US" sz="2100" dirty="0"/>
          </a:p>
        </p:txBody>
      </p:sp>
      <p:sp>
        <p:nvSpPr>
          <p:cNvPr id="32" name="Shape 30"/>
          <p:cNvSpPr/>
          <p:nvPr/>
        </p:nvSpPr>
        <p:spPr>
          <a:xfrm>
            <a:off x="8892886" y="9188581"/>
            <a:ext cx="8156863" cy="9525"/>
          </a:xfrm>
          <a:prstGeom prst="rect">
            <a:avLst/>
          </a:prstGeom>
          <a:solidFill>
            <a:srgbClr val="D8D2C4"/>
          </a:solidFill>
          <a:ln/>
        </p:spPr>
        <p:txBody>
          <a:bodyPr/>
          <a:lstStyle/>
          <a:p>
            <a:endParaRPr lang="en-US"/>
          </a:p>
        </p:txBody>
      </p:sp>
      <p:sp>
        <p:nvSpPr>
          <p:cNvPr id="33" name="Text 31"/>
          <p:cNvSpPr/>
          <p:nvPr/>
        </p:nvSpPr>
        <p:spPr>
          <a:xfrm>
            <a:off x="8892886" y="8624793"/>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Defence contractor</a:t>
            </a:r>
            <a:endParaRPr lang="en-US" sz="2100" dirty="0"/>
          </a:p>
        </p:txBody>
      </p:sp>
      <p:sp>
        <p:nvSpPr>
          <p:cNvPr id="34" name="Text 32"/>
          <p:cNvSpPr/>
          <p:nvPr/>
        </p:nvSpPr>
        <p:spPr>
          <a:xfrm>
            <a:off x="13133310" y="8663758"/>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10+</a:t>
            </a:r>
            <a:endParaRPr lang="en-US" sz="1800" dirty="0"/>
          </a:p>
        </p:txBody>
      </p:sp>
      <p:sp>
        <p:nvSpPr>
          <p:cNvPr id="35" name="Text 33"/>
          <p:cNvSpPr/>
          <p:nvPr/>
        </p:nvSpPr>
        <p:spPr>
          <a:xfrm>
            <a:off x="14591149" y="8624793"/>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£250,000+</a:t>
            </a:r>
            <a:endParaRPr lang="en-US" sz="2100" dirty="0"/>
          </a:p>
        </p:txBody>
      </p:sp>
      <p:sp>
        <p:nvSpPr>
          <p:cNvPr id="36" name="Text 3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37" name="Text 3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38" name="Text 3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9" name="Text 3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13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THE ASK</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Pre-Series A infrastructure round. Lead investor to shape the structure.</a:t>
            </a:r>
            <a:endParaRPr lang="en-US" sz="4500" dirty="0"/>
          </a:p>
        </p:txBody>
      </p:sp>
      <p:sp>
        <p:nvSpPr>
          <p:cNvPr id="5" name="Shape 3"/>
          <p:cNvSpPr/>
          <p:nvPr/>
        </p:nvSpPr>
        <p:spPr>
          <a:xfrm>
            <a:off x="1238250" y="4767844"/>
            <a:ext cx="7030302" cy="9525"/>
          </a:xfrm>
          <a:prstGeom prst="rect">
            <a:avLst/>
          </a:prstGeom>
          <a:solidFill>
            <a:srgbClr val="D8D2C4"/>
          </a:solidFill>
          <a:ln/>
        </p:spPr>
        <p:txBody>
          <a:bodyPr/>
          <a:lstStyle/>
          <a:p>
            <a:endParaRPr lang="en-US"/>
          </a:p>
        </p:txBody>
      </p:sp>
      <p:sp>
        <p:nvSpPr>
          <p:cNvPr id="6" name="Shape 4"/>
          <p:cNvSpPr/>
          <p:nvPr/>
        </p:nvSpPr>
        <p:spPr>
          <a:xfrm>
            <a:off x="1238250" y="3108681"/>
            <a:ext cx="7030302" cy="17318"/>
          </a:xfrm>
          <a:prstGeom prst="rect">
            <a:avLst/>
          </a:prstGeom>
          <a:solidFill>
            <a:srgbClr val="1A1A1A"/>
          </a:solidFill>
          <a:ln/>
        </p:spPr>
        <p:txBody>
          <a:bodyPr/>
          <a:lstStyle/>
          <a:p>
            <a:endParaRPr lang="en-US"/>
          </a:p>
        </p:txBody>
      </p:sp>
      <p:sp>
        <p:nvSpPr>
          <p:cNvPr id="7" name="Text 5"/>
          <p:cNvSpPr/>
          <p:nvPr/>
        </p:nvSpPr>
        <p:spPr>
          <a:xfrm>
            <a:off x="1238250" y="3316499"/>
            <a:ext cx="724121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6A6258"/>
                </a:solidFill>
                <a:latin typeface="JetBrains Mono" pitchFamily="34" charset="0"/>
                <a:ea typeface="JetBrains Mono" pitchFamily="34" charset="-122"/>
                <a:cs typeface="JetBrains Mono" pitchFamily="34" charset="-120"/>
              </a:rPr>
              <a:t>INVESTABLE ENTITY</a:t>
            </a:r>
            <a:endParaRPr lang="en-US" sz="1800" dirty="0"/>
          </a:p>
        </p:txBody>
      </p:sp>
      <p:sp>
        <p:nvSpPr>
          <p:cNvPr id="8" name="Text 6"/>
          <p:cNvSpPr/>
          <p:nvPr/>
        </p:nvSpPr>
        <p:spPr>
          <a:xfrm>
            <a:off x="1238250" y="3693576"/>
            <a:ext cx="7241211" cy="544792"/>
          </a:xfrm>
          <a:prstGeom prst="rect">
            <a:avLst/>
          </a:prstGeom>
          <a:noFill/>
          <a:ln/>
        </p:spPr>
        <p:txBody>
          <a:bodyPr wrap="square" lIns="25400" tIns="25400" rIns="25400" bIns="25400" rtlCol="0" anchor="t">
            <a:normAutofit/>
          </a:bodyPr>
          <a:lstStyle/>
          <a:p>
            <a:pPr marL="0" indent="0" algn="l">
              <a:lnSpc>
                <a:spcPct val="140000"/>
              </a:lnSpc>
              <a:buNone/>
            </a:pPr>
            <a:r>
              <a:rPr lang="en-US" sz="2850" kern="0" spc="-14" dirty="0">
                <a:solidFill>
                  <a:srgbClr val="1A1A1A"/>
                </a:solidFill>
                <a:latin typeface="Source Serif 4" pitchFamily="34" charset="0"/>
                <a:ea typeface="Source Serif 4" pitchFamily="34" charset="-122"/>
                <a:cs typeface="Source Serif 4" pitchFamily="34" charset="-120"/>
              </a:rPr>
              <a:t>CogNovaMX Ltd</a:t>
            </a:r>
            <a:endParaRPr lang="en-US" sz="2850" dirty="0"/>
          </a:p>
        </p:txBody>
      </p:sp>
      <p:sp>
        <p:nvSpPr>
          <p:cNvPr id="9" name="Text 7"/>
          <p:cNvSpPr/>
          <p:nvPr/>
        </p:nvSpPr>
        <p:spPr>
          <a:xfrm>
            <a:off x="1238250" y="4257364"/>
            <a:ext cx="724121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6A6258"/>
                </a:solidFill>
                <a:latin typeface="Inter" pitchFamily="34" charset="0"/>
                <a:ea typeface="Inter" pitchFamily="34" charset="-122"/>
                <a:cs typeface="Inter" pitchFamily="34" charset="-120"/>
              </a:rPr>
              <a:t>Incorporated · 100% founder-owned</a:t>
            </a:r>
            <a:endParaRPr lang="en-US" sz="1800" dirty="0"/>
          </a:p>
        </p:txBody>
      </p:sp>
      <p:sp>
        <p:nvSpPr>
          <p:cNvPr id="10" name="Shape 8"/>
          <p:cNvSpPr/>
          <p:nvPr/>
        </p:nvSpPr>
        <p:spPr>
          <a:xfrm>
            <a:off x="1238250" y="5005090"/>
            <a:ext cx="7030302" cy="2070537"/>
          </a:xfrm>
          <a:prstGeom prst="rect">
            <a:avLst/>
          </a:prstGeom>
          <a:solidFill>
            <a:srgbClr val="C8482B"/>
          </a:solidFill>
          <a:ln/>
        </p:spPr>
        <p:txBody>
          <a:bodyPr/>
          <a:lstStyle/>
          <a:p>
            <a:endParaRPr lang="en-US"/>
          </a:p>
        </p:txBody>
      </p:sp>
      <p:sp>
        <p:nvSpPr>
          <p:cNvPr id="11" name="Text 9"/>
          <p:cNvSpPr/>
          <p:nvPr/>
        </p:nvSpPr>
        <p:spPr>
          <a:xfrm>
            <a:off x="1504923" y="5214599"/>
            <a:ext cx="669186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BF2E6">
                    <a:alpha val="85000"/>
                  </a:srgbClr>
                </a:solidFill>
                <a:latin typeface="JetBrains Mono" pitchFamily="34" charset="0"/>
                <a:ea typeface="JetBrains Mono" pitchFamily="34" charset="-122"/>
                <a:cs typeface="JetBrains Mono" pitchFamily="34" charset="-120"/>
              </a:rPr>
              <a:t>THE MILESTONE WE'RE BUYING</a:t>
            </a:r>
            <a:endParaRPr lang="en-US" sz="1800" dirty="0"/>
          </a:p>
        </p:txBody>
      </p:sp>
      <p:sp>
        <p:nvSpPr>
          <p:cNvPr id="12" name="Text 10"/>
          <p:cNvSpPr/>
          <p:nvPr/>
        </p:nvSpPr>
        <p:spPr>
          <a:xfrm>
            <a:off x="1504923" y="5839339"/>
            <a:ext cx="6691865" cy="855369"/>
          </a:xfrm>
          <a:prstGeom prst="rect">
            <a:avLst/>
          </a:prstGeom>
          <a:noFill/>
          <a:ln/>
        </p:spPr>
        <p:txBody>
          <a:bodyPr wrap="square" lIns="25400" tIns="25400" rIns="25400" bIns="25400" rtlCol="0" anchor="t">
            <a:normAutofit/>
          </a:bodyPr>
          <a:lstStyle/>
          <a:p>
            <a:pPr marL="0" indent="0" algn="l">
              <a:lnSpc>
                <a:spcPct val="130000"/>
              </a:lnSpc>
              <a:buNone/>
            </a:pPr>
            <a:r>
              <a:rPr lang="en-US" sz="1650" b="1" dirty="0">
                <a:solidFill>
                  <a:srgbClr val="FBF2E6"/>
                </a:solidFill>
                <a:latin typeface="Source Serif 4" pitchFamily="34" charset="0"/>
                <a:ea typeface="Source Serif 4" pitchFamily="34" charset="-122"/>
                <a:cs typeface="Source Serif 4" pitchFamily="34" charset="-120"/>
              </a:rPr>
              <a:t>500+ paying publishers. </a:t>
            </a:r>
            <a:r>
              <a:rPr lang="en-US" sz="1650" i="1" dirty="0">
                <a:solidFill>
                  <a:srgbClr val="FBF2E6"/>
                </a:solidFill>
                <a:latin typeface="Source Serif 4" pitchFamily="34" charset="0"/>
                <a:ea typeface="Source Serif 4" pitchFamily="34" charset="-122"/>
                <a:cs typeface="Source Serif 4" pitchFamily="34" charset="-120"/>
              </a:rPr>
              <a:t>Local Reginald Machine in </a:t>
            </a:r>
            <a:r>
              <a:rPr lang="en-US" sz="1650" b="1" dirty="0">
                <a:solidFill>
                  <a:srgbClr val="FBF2E6"/>
                </a:solidFill>
                <a:latin typeface="Source Serif 4" pitchFamily="34" charset="0"/>
                <a:ea typeface="Source Serif 4" pitchFamily="34" charset="-122"/>
                <a:cs typeface="Source Serif 4" pitchFamily="34" charset="-120"/>
              </a:rPr>
              <a:t>10+ regulated-sector enterprises. </a:t>
            </a:r>
            <a:r>
              <a:rPr lang="en-US" sz="1650" i="1" dirty="0">
                <a:solidFill>
                  <a:srgbClr val="FBF2E6"/>
                </a:solidFill>
                <a:latin typeface="Source Serif 4" pitchFamily="34" charset="0"/>
                <a:ea typeface="Source Serif 4" pitchFamily="34" charset="-122"/>
                <a:cs typeface="Source Serif 4" pitchFamily="34" charset="-120"/>
              </a:rPr>
              <a:t>Network effects compound.</a:t>
            </a:r>
            <a:endParaRPr lang="en-US" sz="1650" dirty="0"/>
          </a:p>
        </p:txBody>
      </p:sp>
      <p:sp>
        <p:nvSpPr>
          <p:cNvPr id="13" name="Shape 11"/>
          <p:cNvSpPr/>
          <p:nvPr/>
        </p:nvSpPr>
        <p:spPr>
          <a:xfrm>
            <a:off x="1238250" y="7380387"/>
            <a:ext cx="3229367" cy="1655375"/>
          </a:xfrm>
          <a:prstGeom prst="rect">
            <a:avLst/>
          </a:prstGeom>
          <a:solidFill>
            <a:srgbClr val="FBF8F0"/>
          </a:solidFill>
          <a:ln w="8659">
            <a:solidFill>
              <a:srgbClr val="D8D2C4"/>
            </a:solidFill>
            <a:prstDash val="solid"/>
          </a:ln>
        </p:spPr>
        <p:txBody>
          <a:bodyPr/>
          <a:lstStyle/>
          <a:p>
            <a:endParaRPr lang="en-US"/>
          </a:p>
        </p:txBody>
      </p:sp>
      <p:sp>
        <p:nvSpPr>
          <p:cNvPr id="14" name="Text 12"/>
          <p:cNvSpPr/>
          <p:nvPr/>
        </p:nvSpPr>
        <p:spPr>
          <a:xfrm>
            <a:off x="1475496" y="7598555"/>
            <a:ext cx="283752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6A6258"/>
                </a:solidFill>
                <a:latin typeface="JetBrains Mono" pitchFamily="34" charset="0"/>
                <a:ea typeface="JetBrains Mono" pitchFamily="34" charset="-122"/>
                <a:cs typeface="JetBrains Mono" pitchFamily="34" charset="-120"/>
              </a:rPr>
              <a:t>TODAY</a:t>
            </a:r>
            <a:endParaRPr lang="en-US" sz="1800" dirty="0"/>
          </a:p>
        </p:txBody>
      </p:sp>
      <p:sp>
        <p:nvSpPr>
          <p:cNvPr id="15" name="Text 13"/>
          <p:cNvSpPr/>
          <p:nvPr/>
        </p:nvSpPr>
        <p:spPr>
          <a:xfrm>
            <a:off x="1475496" y="7994709"/>
            <a:ext cx="2837522" cy="464831"/>
          </a:xfrm>
          <a:prstGeom prst="rect">
            <a:avLst/>
          </a:prstGeom>
          <a:noFill/>
          <a:ln/>
        </p:spPr>
        <p:txBody>
          <a:bodyPr wrap="square" lIns="25400" tIns="25400" rIns="25400" bIns="25400" rtlCol="0" anchor="t">
            <a:normAutofit/>
          </a:bodyPr>
          <a:lstStyle/>
          <a:p>
            <a:pPr marL="0" indent="0" algn="l">
              <a:lnSpc>
                <a:spcPct val="140000"/>
              </a:lnSpc>
              <a:buNone/>
            </a:pPr>
            <a:r>
              <a:rPr lang="en-US" sz="2400" kern="0" spc="-24" dirty="0">
                <a:solidFill>
                  <a:srgbClr val="1A1A1A"/>
                </a:solidFill>
                <a:latin typeface="Source Serif 4" pitchFamily="34" charset="0"/>
                <a:ea typeface="Source Serif 4" pitchFamily="34" charset="-122"/>
                <a:cs typeface="Source Serif 4" pitchFamily="34" charset="-120"/>
              </a:rPr>
              <a:t>2–5×</a:t>
            </a:r>
            <a:endParaRPr lang="en-US" sz="2400" dirty="0"/>
          </a:p>
        </p:txBody>
      </p:sp>
      <p:sp>
        <p:nvSpPr>
          <p:cNvPr id="16" name="Text 14"/>
          <p:cNvSpPr/>
          <p:nvPr/>
        </p:nvSpPr>
        <p:spPr>
          <a:xfrm>
            <a:off x="1475496" y="8497612"/>
            <a:ext cx="283752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Services</a:t>
            </a:r>
            <a:endParaRPr lang="en-US" sz="1800" dirty="0"/>
          </a:p>
        </p:txBody>
      </p:sp>
      <p:sp>
        <p:nvSpPr>
          <p:cNvPr id="17" name="Text 15"/>
          <p:cNvSpPr/>
          <p:nvPr/>
        </p:nvSpPr>
        <p:spPr>
          <a:xfrm>
            <a:off x="4429517" y="7380387"/>
            <a:ext cx="647700" cy="1693475"/>
          </a:xfrm>
          <a:prstGeom prst="rect">
            <a:avLst/>
          </a:prstGeom>
          <a:noFill/>
          <a:ln/>
        </p:spPr>
        <p:txBody>
          <a:bodyPr wrap="square" lIns="25400" tIns="25400" rIns="25400" bIns="25400" rtlCol="0" anchor="ctr">
            <a:normAutofit/>
          </a:bodyPr>
          <a:lstStyle/>
          <a:p>
            <a:pPr marL="0" indent="0" algn="ctr">
              <a:lnSpc>
                <a:spcPct val="140000"/>
              </a:lnSpc>
              <a:buNone/>
            </a:pPr>
            <a:r>
              <a:rPr lang="en-US" sz="2100" dirty="0">
                <a:solidFill>
                  <a:srgbClr val="1A1A1A"/>
                </a:solidFill>
                <a:latin typeface="JetBrains Mono" pitchFamily="34" charset="0"/>
                <a:ea typeface="JetBrains Mono" pitchFamily="34" charset="-122"/>
                <a:cs typeface="JetBrains Mono" pitchFamily="34" charset="-120"/>
              </a:rPr>
              <a:t>→</a:t>
            </a:r>
            <a:endParaRPr lang="en-US" sz="2100" dirty="0"/>
          </a:p>
        </p:txBody>
      </p:sp>
      <p:sp>
        <p:nvSpPr>
          <p:cNvPr id="18" name="Shape 16"/>
          <p:cNvSpPr/>
          <p:nvPr/>
        </p:nvSpPr>
        <p:spPr>
          <a:xfrm>
            <a:off x="5039117" y="7380387"/>
            <a:ext cx="3229435" cy="1655375"/>
          </a:xfrm>
          <a:prstGeom prst="rect">
            <a:avLst/>
          </a:prstGeom>
          <a:solidFill>
            <a:srgbClr val="1A1A1A"/>
          </a:solidFill>
          <a:ln w="8659">
            <a:solidFill>
              <a:srgbClr val="1A1A1A"/>
            </a:solidFill>
            <a:prstDash val="solid"/>
          </a:ln>
        </p:spPr>
        <p:txBody>
          <a:bodyPr/>
          <a:lstStyle/>
          <a:p>
            <a:endParaRPr lang="en-US"/>
          </a:p>
        </p:txBody>
      </p:sp>
      <p:sp>
        <p:nvSpPr>
          <p:cNvPr id="19" name="Text 17"/>
          <p:cNvSpPr/>
          <p:nvPr/>
        </p:nvSpPr>
        <p:spPr>
          <a:xfrm>
            <a:off x="5276363" y="7598555"/>
            <a:ext cx="28375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5F1E8">
                    <a:alpha val="65000"/>
                  </a:srgbClr>
                </a:solidFill>
                <a:latin typeface="JetBrains Mono" pitchFamily="34" charset="0"/>
                <a:ea typeface="JetBrains Mono" pitchFamily="34" charset="-122"/>
                <a:cs typeface="JetBrains Mono" pitchFamily="34" charset="-120"/>
              </a:rPr>
              <a:t>AT MILESTONE</a:t>
            </a:r>
            <a:endParaRPr lang="en-US" sz="1800" dirty="0"/>
          </a:p>
        </p:txBody>
      </p:sp>
      <p:sp>
        <p:nvSpPr>
          <p:cNvPr id="20" name="Text 18"/>
          <p:cNvSpPr/>
          <p:nvPr/>
        </p:nvSpPr>
        <p:spPr>
          <a:xfrm>
            <a:off x="5276363" y="7994709"/>
            <a:ext cx="2837592" cy="464831"/>
          </a:xfrm>
          <a:prstGeom prst="rect">
            <a:avLst/>
          </a:prstGeom>
          <a:noFill/>
          <a:ln/>
        </p:spPr>
        <p:txBody>
          <a:bodyPr wrap="square" lIns="25400" tIns="25400" rIns="25400" bIns="25400" rtlCol="0" anchor="t">
            <a:normAutofit/>
          </a:bodyPr>
          <a:lstStyle/>
          <a:p>
            <a:pPr marL="0" indent="0" algn="l">
              <a:lnSpc>
                <a:spcPct val="140000"/>
              </a:lnSpc>
              <a:buNone/>
            </a:pPr>
            <a:r>
              <a:rPr lang="en-US" sz="2400" kern="0" spc="-24" dirty="0">
                <a:solidFill>
                  <a:srgbClr val="E07A5F"/>
                </a:solidFill>
                <a:latin typeface="Source Serif 4" pitchFamily="34" charset="0"/>
                <a:ea typeface="Source Serif 4" pitchFamily="34" charset="-122"/>
                <a:cs typeface="Source Serif 4" pitchFamily="34" charset="-120"/>
              </a:rPr>
              <a:t>50–100×</a:t>
            </a:r>
            <a:endParaRPr lang="en-US" sz="2400" dirty="0"/>
          </a:p>
        </p:txBody>
      </p:sp>
      <p:sp>
        <p:nvSpPr>
          <p:cNvPr id="21" name="Text 19"/>
          <p:cNvSpPr/>
          <p:nvPr/>
        </p:nvSpPr>
        <p:spPr>
          <a:xfrm>
            <a:off x="5276363" y="8497612"/>
            <a:ext cx="28375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5F1E8">
                    <a:alpha val="65000"/>
                  </a:srgbClr>
                </a:solidFill>
                <a:latin typeface="JetBrains Mono" pitchFamily="34" charset="0"/>
                <a:ea typeface="JetBrains Mono" pitchFamily="34" charset="-122"/>
                <a:cs typeface="JetBrains Mono" pitchFamily="34" charset="-120"/>
              </a:rPr>
              <a:t>Platform</a:t>
            </a:r>
            <a:endParaRPr lang="en-US" sz="1800" dirty="0"/>
          </a:p>
        </p:txBody>
      </p:sp>
      <p:sp>
        <p:nvSpPr>
          <p:cNvPr id="22" name="Text 20"/>
          <p:cNvSpPr/>
          <p:nvPr/>
        </p:nvSpPr>
        <p:spPr>
          <a:xfrm>
            <a:off x="9316302" y="3108681"/>
            <a:ext cx="796545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6A6258"/>
                </a:solidFill>
                <a:latin typeface="JetBrains Mono" pitchFamily="34" charset="0"/>
                <a:ea typeface="JetBrains Mono" pitchFamily="34" charset="-122"/>
                <a:cs typeface="JetBrains Mono" pitchFamily="34" charset="-120"/>
              </a:rPr>
              <a:t>USE OF FUNDS</a:t>
            </a:r>
            <a:endParaRPr lang="en-US" sz="1800" dirty="0"/>
          </a:p>
        </p:txBody>
      </p:sp>
      <p:sp>
        <p:nvSpPr>
          <p:cNvPr id="23" name="Shape 21"/>
          <p:cNvSpPr/>
          <p:nvPr/>
        </p:nvSpPr>
        <p:spPr>
          <a:xfrm>
            <a:off x="9316298" y="4374802"/>
            <a:ext cx="7733447" cy="9525"/>
          </a:xfrm>
          <a:prstGeom prst="rect">
            <a:avLst/>
          </a:prstGeom>
          <a:solidFill>
            <a:srgbClr val="D8D2C4"/>
          </a:solidFill>
          <a:ln/>
        </p:spPr>
        <p:txBody>
          <a:bodyPr/>
          <a:lstStyle/>
          <a:p>
            <a:endParaRPr lang="en-US"/>
          </a:p>
        </p:txBody>
      </p:sp>
      <p:sp>
        <p:nvSpPr>
          <p:cNvPr id="24" name="Text 22"/>
          <p:cNvSpPr/>
          <p:nvPr/>
        </p:nvSpPr>
        <p:spPr>
          <a:xfrm>
            <a:off x="9316302" y="3647710"/>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01</a:t>
            </a:r>
            <a:endParaRPr lang="en-US" sz="1800" dirty="0"/>
          </a:p>
        </p:txBody>
      </p:sp>
      <p:sp>
        <p:nvSpPr>
          <p:cNvPr id="25" name="Text 23"/>
          <p:cNvSpPr/>
          <p:nvPr/>
        </p:nvSpPr>
        <p:spPr>
          <a:xfrm>
            <a:off x="10059226" y="3669357"/>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Senior engineer — REGINALD production</a:t>
            </a:r>
            <a:endParaRPr lang="en-US" sz="1800" dirty="0"/>
          </a:p>
        </p:txBody>
      </p:sp>
      <p:sp>
        <p:nvSpPr>
          <p:cNvPr id="26" name="Text 24"/>
          <p:cNvSpPr/>
          <p:nvPr/>
        </p:nvSpPr>
        <p:spPr>
          <a:xfrm>
            <a:off x="10059226" y="3986699"/>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Hire #1.</a:t>
            </a:r>
            <a:endParaRPr lang="en-US" sz="1500" dirty="0"/>
          </a:p>
        </p:txBody>
      </p:sp>
      <p:sp>
        <p:nvSpPr>
          <p:cNvPr id="27" name="Shape 25"/>
          <p:cNvSpPr/>
          <p:nvPr/>
        </p:nvSpPr>
        <p:spPr>
          <a:xfrm>
            <a:off x="9316301" y="5151009"/>
            <a:ext cx="7733447" cy="9525"/>
          </a:xfrm>
          <a:prstGeom prst="rect">
            <a:avLst/>
          </a:prstGeom>
          <a:solidFill>
            <a:srgbClr val="D8D2C4"/>
          </a:solidFill>
          <a:ln/>
        </p:spPr>
        <p:txBody>
          <a:bodyPr/>
          <a:lstStyle/>
          <a:p>
            <a:endParaRPr lang="en-US"/>
          </a:p>
        </p:txBody>
      </p:sp>
      <p:sp>
        <p:nvSpPr>
          <p:cNvPr id="28" name="Text 26"/>
          <p:cNvSpPr/>
          <p:nvPr/>
        </p:nvSpPr>
        <p:spPr>
          <a:xfrm>
            <a:off x="9316302" y="4423916"/>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02</a:t>
            </a:r>
            <a:endParaRPr lang="en-US" sz="1800" dirty="0"/>
          </a:p>
        </p:txBody>
      </p:sp>
      <p:sp>
        <p:nvSpPr>
          <p:cNvPr id="29" name="Text 27"/>
          <p:cNvSpPr/>
          <p:nvPr/>
        </p:nvSpPr>
        <p:spPr>
          <a:xfrm>
            <a:off x="10059226" y="4445564"/>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Second engineer — tooling and integrations</a:t>
            </a:r>
            <a:endParaRPr lang="en-US" sz="1800" dirty="0"/>
          </a:p>
        </p:txBody>
      </p:sp>
      <p:sp>
        <p:nvSpPr>
          <p:cNvPr id="30" name="Text 28"/>
          <p:cNvSpPr/>
          <p:nvPr/>
        </p:nvSpPr>
        <p:spPr>
          <a:xfrm>
            <a:off x="10059226" y="4762906"/>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Hire #2.</a:t>
            </a:r>
            <a:endParaRPr lang="en-US" sz="1500" dirty="0"/>
          </a:p>
        </p:txBody>
      </p:sp>
      <p:sp>
        <p:nvSpPr>
          <p:cNvPr id="31" name="Shape 29"/>
          <p:cNvSpPr/>
          <p:nvPr/>
        </p:nvSpPr>
        <p:spPr>
          <a:xfrm>
            <a:off x="9316300" y="5927215"/>
            <a:ext cx="7733447" cy="9525"/>
          </a:xfrm>
          <a:prstGeom prst="rect">
            <a:avLst/>
          </a:prstGeom>
          <a:solidFill>
            <a:srgbClr val="D8D2C4"/>
          </a:solidFill>
          <a:ln/>
        </p:spPr>
        <p:txBody>
          <a:bodyPr/>
          <a:lstStyle/>
          <a:p>
            <a:endParaRPr lang="en-US"/>
          </a:p>
        </p:txBody>
      </p:sp>
      <p:sp>
        <p:nvSpPr>
          <p:cNvPr id="32" name="Text 30"/>
          <p:cNvSpPr/>
          <p:nvPr/>
        </p:nvSpPr>
        <p:spPr>
          <a:xfrm>
            <a:off x="9316302" y="5200122"/>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03</a:t>
            </a:r>
            <a:endParaRPr lang="en-US" sz="1800" dirty="0"/>
          </a:p>
        </p:txBody>
      </p:sp>
      <p:sp>
        <p:nvSpPr>
          <p:cNvPr id="33" name="Text 31"/>
          <p:cNvSpPr/>
          <p:nvPr/>
        </p:nvSpPr>
        <p:spPr>
          <a:xfrm>
            <a:off x="10059226" y="5221770"/>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Partnership lead</a:t>
            </a:r>
            <a:endParaRPr lang="en-US" sz="1800" dirty="0"/>
          </a:p>
        </p:txBody>
      </p:sp>
      <p:sp>
        <p:nvSpPr>
          <p:cNvPr id="34" name="Text 32"/>
          <p:cNvSpPr/>
          <p:nvPr/>
        </p:nvSpPr>
        <p:spPr>
          <a:xfrm>
            <a:off x="10059226" y="5539112"/>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Hire #3.</a:t>
            </a:r>
            <a:endParaRPr lang="en-US" sz="1500" dirty="0"/>
          </a:p>
        </p:txBody>
      </p:sp>
      <p:sp>
        <p:nvSpPr>
          <p:cNvPr id="35" name="Shape 33"/>
          <p:cNvSpPr/>
          <p:nvPr/>
        </p:nvSpPr>
        <p:spPr>
          <a:xfrm>
            <a:off x="9316302" y="6703421"/>
            <a:ext cx="7733447" cy="9525"/>
          </a:xfrm>
          <a:prstGeom prst="rect">
            <a:avLst/>
          </a:prstGeom>
          <a:solidFill>
            <a:srgbClr val="D8D2C4"/>
          </a:solidFill>
          <a:ln/>
        </p:spPr>
        <p:txBody>
          <a:bodyPr/>
          <a:lstStyle/>
          <a:p>
            <a:endParaRPr lang="en-US"/>
          </a:p>
        </p:txBody>
      </p:sp>
      <p:sp>
        <p:nvSpPr>
          <p:cNvPr id="36" name="Text 34"/>
          <p:cNvSpPr/>
          <p:nvPr/>
        </p:nvSpPr>
        <p:spPr>
          <a:xfrm>
            <a:off x="9316302" y="5976328"/>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04</a:t>
            </a:r>
            <a:endParaRPr lang="en-US" sz="1800" dirty="0"/>
          </a:p>
        </p:txBody>
      </p:sp>
      <p:sp>
        <p:nvSpPr>
          <p:cNvPr id="37" name="Text 35"/>
          <p:cNvSpPr/>
          <p:nvPr/>
        </p:nvSpPr>
        <p:spPr>
          <a:xfrm>
            <a:off x="10059226" y="5997976"/>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Local Reginald Machine — on-prem licensing</a:t>
            </a:r>
            <a:endParaRPr lang="en-US" sz="1800" dirty="0"/>
          </a:p>
        </p:txBody>
      </p:sp>
      <p:sp>
        <p:nvSpPr>
          <p:cNvPr id="38" name="Text 36"/>
          <p:cNvSpPr/>
          <p:nvPr/>
        </p:nvSpPr>
        <p:spPr>
          <a:xfrm>
            <a:off x="10059226" y="6315319"/>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Primary revenue motion.</a:t>
            </a:r>
            <a:endParaRPr lang="en-US" sz="1500" dirty="0"/>
          </a:p>
        </p:txBody>
      </p:sp>
      <p:sp>
        <p:nvSpPr>
          <p:cNvPr id="39" name="Shape 37"/>
          <p:cNvSpPr/>
          <p:nvPr/>
        </p:nvSpPr>
        <p:spPr>
          <a:xfrm>
            <a:off x="9316299" y="7479627"/>
            <a:ext cx="7733447" cy="9525"/>
          </a:xfrm>
          <a:prstGeom prst="rect">
            <a:avLst/>
          </a:prstGeom>
          <a:solidFill>
            <a:srgbClr val="D8D2C4"/>
          </a:solidFill>
          <a:ln/>
        </p:spPr>
        <p:txBody>
          <a:bodyPr/>
          <a:lstStyle/>
          <a:p>
            <a:endParaRPr lang="en-US"/>
          </a:p>
        </p:txBody>
      </p:sp>
      <p:sp>
        <p:nvSpPr>
          <p:cNvPr id="40" name="Text 38"/>
          <p:cNvSpPr/>
          <p:nvPr/>
        </p:nvSpPr>
        <p:spPr>
          <a:xfrm>
            <a:off x="9316302" y="6752535"/>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05</a:t>
            </a:r>
            <a:endParaRPr lang="en-US" sz="1800" dirty="0"/>
          </a:p>
        </p:txBody>
      </p:sp>
      <p:sp>
        <p:nvSpPr>
          <p:cNvPr id="41" name="Text 39"/>
          <p:cNvSpPr/>
          <p:nvPr/>
        </p:nvSpPr>
        <p:spPr>
          <a:xfrm>
            <a:off x="10059226" y="6774182"/>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REGINALD SaaS hardening</a:t>
            </a:r>
            <a:endParaRPr lang="en-US" sz="1800" dirty="0"/>
          </a:p>
        </p:txBody>
      </p:sp>
      <p:sp>
        <p:nvSpPr>
          <p:cNvPr id="42" name="Text 40"/>
          <p:cNvSpPr/>
          <p:nvPr/>
        </p:nvSpPr>
        <p:spPr>
          <a:xfrm>
            <a:off x="10059226" y="7091525"/>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To production scale.</a:t>
            </a:r>
            <a:endParaRPr lang="en-US" sz="1500" dirty="0"/>
          </a:p>
        </p:txBody>
      </p:sp>
      <p:sp>
        <p:nvSpPr>
          <p:cNvPr id="43" name="Shape 41"/>
          <p:cNvSpPr/>
          <p:nvPr/>
        </p:nvSpPr>
        <p:spPr>
          <a:xfrm>
            <a:off x="9316302" y="8255833"/>
            <a:ext cx="7733447" cy="9525"/>
          </a:xfrm>
          <a:prstGeom prst="rect">
            <a:avLst/>
          </a:prstGeom>
          <a:solidFill>
            <a:srgbClr val="D8D2C4"/>
          </a:solidFill>
          <a:ln/>
        </p:spPr>
        <p:txBody>
          <a:bodyPr/>
          <a:lstStyle/>
          <a:p>
            <a:endParaRPr lang="en-US"/>
          </a:p>
        </p:txBody>
      </p:sp>
      <p:sp>
        <p:nvSpPr>
          <p:cNvPr id="44" name="Text 42"/>
          <p:cNvSpPr/>
          <p:nvPr/>
        </p:nvSpPr>
        <p:spPr>
          <a:xfrm>
            <a:off x="9316302" y="7528741"/>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06</a:t>
            </a:r>
            <a:endParaRPr lang="en-US" sz="1800" dirty="0"/>
          </a:p>
        </p:txBody>
      </p:sp>
      <p:sp>
        <p:nvSpPr>
          <p:cNvPr id="45" name="Text 43"/>
          <p:cNvSpPr/>
          <p:nvPr/>
        </p:nvSpPr>
        <p:spPr>
          <a:xfrm>
            <a:off x="10059226" y="7550389"/>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Marketing and go-to-market</a:t>
            </a:r>
            <a:endParaRPr lang="en-US" sz="1800" dirty="0"/>
          </a:p>
        </p:txBody>
      </p:sp>
      <p:sp>
        <p:nvSpPr>
          <p:cNvPr id="46" name="Text 44"/>
          <p:cNvSpPr/>
          <p:nvPr/>
        </p:nvSpPr>
        <p:spPr>
          <a:xfrm>
            <a:off x="10059226" y="7867731"/>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Agency certification programme.</a:t>
            </a:r>
            <a:endParaRPr lang="en-US" sz="1500" dirty="0"/>
          </a:p>
        </p:txBody>
      </p:sp>
      <p:sp>
        <p:nvSpPr>
          <p:cNvPr id="47" name="Shape 45"/>
          <p:cNvSpPr/>
          <p:nvPr/>
        </p:nvSpPr>
        <p:spPr>
          <a:xfrm>
            <a:off x="9316302" y="8986783"/>
            <a:ext cx="7733447" cy="9525"/>
          </a:xfrm>
          <a:prstGeom prst="rect">
            <a:avLst/>
          </a:prstGeom>
          <a:solidFill>
            <a:srgbClr val="D8D2C4"/>
          </a:solidFill>
          <a:ln/>
        </p:spPr>
        <p:txBody>
          <a:bodyPr/>
          <a:lstStyle/>
          <a:p>
            <a:endParaRPr lang="en-US"/>
          </a:p>
        </p:txBody>
      </p:sp>
      <p:sp>
        <p:nvSpPr>
          <p:cNvPr id="48" name="Text 46"/>
          <p:cNvSpPr/>
          <p:nvPr/>
        </p:nvSpPr>
        <p:spPr>
          <a:xfrm>
            <a:off x="9316302" y="8304947"/>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07</a:t>
            </a:r>
            <a:endParaRPr lang="en-US" sz="1800" dirty="0"/>
          </a:p>
        </p:txBody>
      </p:sp>
      <p:sp>
        <p:nvSpPr>
          <p:cNvPr id="49" name="Text 47"/>
          <p:cNvSpPr/>
          <p:nvPr/>
        </p:nvSpPr>
        <p:spPr>
          <a:xfrm>
            <a:off x="10059226" y="8326595"/>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The Gathering — operational support · reserve</a:t>
            </a:r>
            <a:endParaRPr lang="en-US" sz="1800" dirty="0"/>
          </a:p>
        </p:txBody>
      </p:sp>
      <p:sp>
        <p:nvSpPr>
          <p:cNvPr id="50" name="Text 48"/>
          <p:cNvSpPr/>
          <p:nvPr/>
        </p:nvSpPr>
        <p:spPr>
          <a:xfrm>
            <a:off x="10059226" y="8643937"/>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Standards body · contingency.</a:t>
            </a:r>
            <a:endParaRPr lang="en-US" sz="1500" dirty="0"/>
          </a:p>
        </p:txBody>
      </p:sp>
      <p:sp>
        <p:nvSpPr>
          <p:cNvPr id="51" name="Text 49"/>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52" name="Text 50"/>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53" name="Text 51"/>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54" name="Text 52"/>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8482B"/>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FFFFFF">
                    <a:alpha val="55000"/>
                  </a:srgbClr>
                </a:solidFill>
                <a:latin typeface="JetBrains Mono" pitchFamily="34" charset="0"/>
                <a:ea typeface="JetBrains Mono" pitchFamily="34" charset="-122"/>
                <a:cs typeface="JetBrains Mono" pitchFamily="34" charset="-120"/>
              </a:rPr>
              <a:t>14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FFFFFF">
                    <a:alpha val="70000"/>
                  </a:srgbClr>
                </a:solidFill>
                <a:latin typeface="JetBrains Mono" pitchFamily="34" charset="0"/>
                <a:ea typeface="JetBrains Mono" pitchFamily="34" charset="-122"/>
                <a:cs typeface="JetBrains Mono" pitchFamily="34" charset="-120"/>
              </a:rPr>
              <a:t>CONNECT</a:t>
            </a:r>
            <a:endParaRPr lang="en-US" sz="1800" dirty="0"/>
          </a:p>
        </p:txBody>
      </p:sp>
      <p:sp>
        <p:nvSpPr>
          <p:cNvPr id="4" name="Text 2"/>
          <p:cNvSpPr/>
          <p:nvPr/>
        </p:nvSpPr>
        <p:spPr>
          <a:xfrm>
            <a:off x="1238251" y="1562154"/>
            <a:ext cx="9483537" cy="2307999"/>
          </a:xfrm>
          <a:prstGeom prst="rect">
            <a:avLst/>
          </a:prstGeom>
          <a:noFill/>
          <a:ln/>
        </p:spPr>
        <p:txBody>
          <a:bodyPr wrap="square" lIns="25400" tIns="25400" rIns="25400" bIns="25400" rtlCol="0" anchor="t">
            <a:normAutofit fontScale="92500" lnSpcReduction="20000"/>
          </a:bodyPr>
          <a:lstStyle/>
          <a:p>
            <a:pPr marL="0" indent="0" algn="l">
              <a:lnSpc>
                <a:spcPct val="98000"/>
              </a:lnSpc>
              <a:buNone/>
            </a:pPr>
            <a:r>
              <a:rPr lang="en-US" sz="9900" kern="0" spc="-247" dirty="0">
                <a:solidFill>
                  <a:srgbClr val="FBF2E6"/>
                </a:solidFill>
                <a:latin typeface="Source Serif 4" pitchFamily="34" charset="0"/>
                <a:ea typeface="Source Serif 4" pitchFamily="34" charset="-122"/>
                <a:cs typeface="Source Serif 4" pitchFamily="34" charset="-120"/>
              </a:rPr>
              <a:t>The machine layer </a:t>
            </a:r>
            <a:r>
              <a:rPr lang="en-US" sz="9900" i="1" kern="0" spc="-247" dirty="0">
                <a:solidFill>
                  <a:srgbClr val="FBF2E6"/>
                </a:solidFill>
                <a:latin typeface="Source Serif 4" pitchFamily="34" charset="0"/>
                <a:ea typeface="Source Serif 4" pitchFamily="34" charset="-122"/>
                <a:cs typeface="Source Serif 4" pitchFamily="34" charset="-120"/>
              </a:rPr>
              <a:t>for meaning.</a:t>
            </a:r>
            <a:endParaRPr lang="en-US" sz="9900" dirty="0"/>
          </a:p>
        </p:txBody>
      </p:sp>
      <p:sp>
        <p:nvSpPr>
          <p:cNvPr id="5" name="Text 3"/>
          <p:cNvSpPr/>
          <p:nvPr/>
        </p:nvSpPr>
        <p:spPr>
          <a:xfrm>
            <a:off x="1238250" y="4136813"/>
            <a:ext cx="12753975" cy="483840"/>
          </a:xfrm>
          <a:prstGeom prst="rect">
            <a:avLst/>
          </a:prstGeom>
          <a:noFill/>
          <a:ln/>
        </p:spPr>
        <p:txBody>
          <a:bodyPr wrap="square" lIns="25400" tIns="25400" rIns="25400" bIns="25400" rtlCol="0" anchor="t">
            <a:normAutofit/>
          </a:bodyPr>
          <a:lstStyle/>
          <a:p>
            <a:pPr marL="0" indent="0" algn="l">
              <a:lnSpc>
                <a:spcPct val="130000"/>
              </a:lnSpc>
              <a:buNone/>
            </a:pPr>
            <a:r>
              <a:rPr lang="en-US" sz="2700" i="1" dirty="0">
                <a:solidFill>
                  <a:srgbClr val="FBF2E6">
                    <a:alpha val="85000"/>
                  </a:srgbClr>
                </a:solidFill>
                <a:latin typeface="Source Serif 4" pitchFamily="34" charset="0"/>
                <a:ea typeface="Source Serif 4" pitchFamily="34" charset="-122"/>
                <a:cs typeface="Source Serif 4" pitchFamily="34" charset="-120"/>
              </a:rPr>
              <a:t>For all documents, everywhere, for all machines.</a:t>
            </a:r>
            <a:endParaRPr lang="en-US" sz="2700" dirty="0"/>
          </a:p>
        </p:txBody>
      </p:sp>
      <p:sp>
        <p:nvSpPr>
          <p:cNvPr id="6" name="Shape 4"/>
          <p:cNvSpPr/>
          <p:nvPr/>
        </p:nvSpPr>
        <p:spPr>
          <a:xfrm>
            <a:off x="1238250" y="5687399"/>
            <a:ext cx="6286500" cy="9525"/>
          </a:xfrm>
          <a:prstGeom prst="rect">
            <a:avLst/>
          </a:prstGeom>
          <a:solidFill>
            <a:srgbClr val="FBF2E6">
              <a:alpha val="40000"/>
            </a:srgbClr>
          </a:solidFill>
          <a:ln/>
        </p:spPr>
        <p:txBody>
          <a:bodyPr/>
          <a:lstStyle/>
          <a:p>
            <a:endParaRPr lang="en-US"/>
          </a:p>
        </p:txBody>
      </p:sp>
      <p:sp>
        <p:nvSpPr>
          <p:cNvPr id="7" name="Text 5"/>
          <p:cNvSpPr/>
          <p:nvPr/>
        </p:nvSpPr>
        <p:spPr>
          <a:xfrm>
            <a:off x="1238250" y="5905567"/>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REGISTRY</a:t>
            </a:r>
            <a:endParaRPr lang="en-US" sz="1200" dirty="0"/>
          </a:p>
        </p:txBody>
      </p:sp>
      <p:sp>
        <p:nvSpPr>
          <p:cNvPr id="8" name="Text 6"/>
          <p:cNvSpPr/>
          <p:nvPr/>
        </p:nvSpPr>
        <p:spPr>
          <a:xfrm>
            <a:off x="1238250" y="6195106"/>
            <a:ext cx="6475095" cy="624821"/>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reginald.allabout.network</a:t>
            </a:r>
            <a:endParaRPr lang="en-US" sz="3300" dirty="0"/>
          </a:p>
        </p:txBody>
      </p:sp>
      <p:sp>
        <p:nvSpPr>
          <p:cNvPr id="9" name="Shape 7"/>
          <p:cNvSpPr/>
          <p:nvPr/>
        </p:nvSpPr>
        <p:spPr>
          <a:xfrm>
            <a:off x="8286749" y="5687399"/>
            <a:ext cx="6286500" cy="9525"/>
          </a:xfrm>
          <a:prstGeom prst="rect">
            <a:avLst/>
          </a:prstGeom>
          <a:solidFill>
            <a:srgbClr val="FBF2E6">
              <a:alpha val="40000"/>
            </a:srgbClr>
          </a:solidFill>
          <a:ln/>
        </p:spPr>
        <p:txBody>
          <a:bodyPr/>
          <a:lstStyle/>
          <a:p>
            <a:endParaRPr lang="en-US"/>
          </a:p>
        </p:txBody>
      </p:sp>
      <p:sp>
        <p:nvSpPr>
          <p:cNvPr id="10" name="Text 8"/>
          <p:cNvSpPr/>
          <p:nvPr/>
        </p:nvSpPr>
        <p:spPr>
          <a:xfrm>
            <a:off x="8286749" y="5905567"/>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STANDARDS</a:t>
            </a:r>
            <a:endParaRPr lang="en-US" sz="1200" dirty="0"/>
          </a:p>
        </p:txBody>
      </p:sp>
      <p:sp>
        <p:nvSpPr>
          <p:cNvPr id="11" name="Text 9"/>
          <p:cNvSpPr/>
          <p:nvPr/>
        </p:nvSpPr>
        <p:spPr>
          <a:xfrm>
            <a:off x="8286749" y="6195106"/>
            <a:ext cx="6475095" cy="624821"/>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tg.community</a:t>
            </a:r>
            <a:endParaRPr lang="en-US" sz="3300" dirty="0"/>
          </a:p>
        </p:txBody>
      </p:sp>
      <p:sp>
        <p:nvSpPr>
          <p:cNvPr id="12" name="Shape 10"/>
          <p:cNvSpPr/>
          <p:nvPr/>
        </p:nvSpPr>
        <p:spPr>
          <a:xfrm>
            <a:off x="1238250" y="7086586"/>
            <a:ext cx="6286500" cy="9525"/>
          </a:xfrm>
          <a:prstGeom prst="rect">
            <a:avLst/>
          </a:prstGeom>
          <a:solidFill>
            <a:srgbClr val="FBF2E6">
              <a:alpha val="40000"/>
            </a:srgbClr>
          </a:solidFill>
          <a:ln/>
        </p:spPr>
        <p:txBody>
          <a:bodyPr/>
          <a:lstStyle/>
          <a:p>
            <a:endParaRPr lang="en-US"/>
          </a:p>
        </p:txBody>
      </p:sp>
      <p:sp>
        <p:nvSpPr>
          <p:cNvPr id="13" name="Text 11"/>
          <p:cNvSpPr/>
          <p:nvPr/>
        </p:nvSpPr>
        <p:spPr>
          <a:xfrm>
            <a:off x="1238250" y="7304755"/>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WEB</a:t>
            </a:r>
            <a:endParaRPr lang="en-US" sz="1200" dirty="0"/>
          </a:p>
        </p:txBody>
      </p:sp>
      <p:sp>
        <p:nvSpPr>
          <p:cNvPr id="14" name="Text 12"/>
          <p:cNvSpPr/>
          <p:nvPr/>
        </p:nvSpPr>
        <p:spPr>
          <a:xfrm>
            <a:off x="1238250" y="7594293"/>
            <a:ext cx="6475095" cy="624821"/>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allabout.network</a:t>
            </a:r>
            <a:endParaRPr lang="en-US" sz="3300" dirty="0"/>
          </a:p>
        </p:txBody>
      </p:sp>
      <p:sp>
        <p:nvSpPr>
          <p:cNvPr id="15" name="Shape 13"/>
          <p:cNvSpPr/>
          <p:nvPr/>
        </p:nvSpPr>
        <p:spPr>
          <a:xfrm>
            <a:off x="8286749" y="7086586"/>
            <a:ext cx="6286500" cy="9525"/>
          </a:xfrm>
          <a:prstGeom prst="rect">
            <a:avLst/>
          </a:prstGeom>
          <a:solidFill>
            <a:srgbClr val="FBF2E6">
              <a:alpha val="40000"/>
            </a:srgbClr>
          </a:solidFill>
          <a:ln/>
        </p:spPr>
        <p:txBody>
          <a:bodyPr/>
          <a:lstStyle/>
          <a:p>
            <a:endParaRPr lang="en-US"/>
          </a:p>
        </p:txBody>
      </p:sp>
      <p:sp>
        <p:nvSpPr>
          <p:cNvPr id="16" name="Text 14"/>
          <p:cNvSpPr/>
          <p:nvPr/>
        </p:nvSpPr>
        <p:spPr>
          <a:xfrm>
            <a:off x="8286749" y="7304755"/>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CONTACT</a:t>
            </a:r>
            <a:endParaRPr lang="en-US" sz="1200" dirty="0"/>
          </a:p>
        </p:txBody>
      </p:sp>
      <p:sp>
        <p:nvSpPr>
          <p:cNvPr id="17" name="Text 15"/>
          <p:cNvSpPr/>
          <p:nvPr/>
        </p:nvSpPr>
        <p:spPr>
          <a:xfrm>
            <a:off x="8286749" y="7594293"/>
            <a:ext cx="6475095" cy="1211542"/>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info@cognovamx.com </a:t>
            </a:r>
            <a:r>
              <a:rPr lang="en-US" sz="2100" kern="0" spc="-16" dirty="0">
                <a:solidFill>
                  <a:srgbClr val="FBF2E6">
                    <a:alpha val="70000"/>
                  </a:srgbClr>
                </a:solidFill>
                <a:latin typeface="Source Serif 4" pitchFamily="34" charset="0"/>
                <a:ea typeface="Source Serif 4" pitchFamily="34" charset="-122"/>
                <a:cs typeface="Source Serif 4" pitchFamily="34" charset="-120"/>
              </a:rPr>
              <a:t>Tom Cranstoun</a:t>
            </a:r>
            <a:endParaRPr lang="en-US" sz="3300" dirty="0"/>
          </a:p>
        </p:txBody>
      </p:sp>
      <p:sp>
        <p:nvSpPr>
          <p:cNvPr id="18" name="Text 16"/>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55000"/>
                  </a:srgbClr>
                </a:solidFill>
                <a:latin typeface="JetBrains Mono" pitchFamily="34" charset="0"/>
                <a:ea typeface="JetBrains Mono" pitchFamily="34" charset="-122"/>
                <a:cs typeface="JetBrains Mono" pitchFamily="34" charset="-120"/>
              </a:rPr>
              <a:t>Tom Cranstoun</a:t>
            </a:r>
            <a:endParaRPr lang="en-US" sz="1800" dirty="0"/>
          </a:p>
        </p:txBody>
      </p:sp>
      <p:sp>
        <p:nvSpPr>
          <p:cNvPr id="19" name="Text 17"/>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18000"/>
                  </a:srgbClr>
                </a:solidFill>
                <a:latin typeface="JetBrains Mono" pitchFamily="34" charset="0"/>
                <a:ea typeface="JetBrains Mono" pitchFamily="34" charset="-122"/>
                <a:cs typeface="JetBrains Mono" pitchFamily="34" charset="-120"/>
              </a:rPr>
              <a:t>·</a:t>
            </a:r>
            <a:endParaRPr lang="en-US" sz="1800" dirty="0"/>
          </a:p>
        </p:txBody>
      </p:sp>
      <p:sp>
        <p:nvSpPr>
          <p:cNvPr id="20" name="Text 18"/>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55000"/>
                  </a:srgbClr>
                </a:solidFill>
                <a:latin typeface="JetBrains Mono" pitchFamily="34" charset="0"/>
                <a:ea typeface="JetBrains Mono" pitchFamily="34" charset="-122"/>
                <a:cs typeface="JetBrains Mono" pitchFamily="34" charset="-120"/>
              </a:rPr>
              <a:t>info@cognovamx.com</a:t>
            </a:r>
            <a:endParaRPr lang="en-US" sz="1800" dirty="0"/>
          </a:p>
        </p:txBody>
      </p:sp>
      <p:sp>
        <p:nvSpPr>
          <p:cNvPr id="21" name="Text 19"/>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55000"/>
                  </a:srgbClr>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3135</Words>
  <Application>Microsoft Macintosh PowerPoint</Application>
  <PresentationFormat>Custom</PresentationFormat>
  <Paragraphs>367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Inter</vt:lpstr>
      <vt:lpstr>JetBrains Mono</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tom cranstoun</cp:lastModifiedBy>
  <cp:revision>5</cp:revision>
  <dcterms:created xsi:type="dcterms:W3CDTF">2026-05-06T18:22:45Z</dcterms:created>
  <dcterms:modified xsi:type="dcterms:W3CDTF">2026-05-07T21:46:59Z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x:title">
    <vt:lpwstr>Design Master</vt:lpwstr>
  </property>
  <property fmtid="{D5CDD505-2E9C-101B-9397-08002B2CF9AE}" pid="3" name="mx:description">
    <vt:lpwstr>TODO: describe design_master.pptx (auto-skeleton; enrich before publishing).</vt:lpwstr>
  </property>
  <property fmtid="{D5CDD505-2E9C-101B-9397-08002B2CF9AE}" pid="4" name="mx:author">
    <vt:lpwstr>MX Graph Builder</vt:lpwstr>
  </property>
  <property fmtid="{D5CDD505-2E9C-101B-9397-08002B2CF9AE}" pid="5" name="mx:version">
    <vt:lpwstr>1.0</vt:lpwstr>
  </property>
  <property fmtid="{D5CDD505-2E9C-101B-9397-08002B2CF9AE}" pid="6" name="mx:created">
    <vt:lpwstr>2026-05-08</vt:lpwstr>
  </property>
  <property fmtid="{D5CDD505-2E9C-101B-9397-08002B2CF9AE}" pid="7" name="mx:modified">
    <vt:lpwstr>2026-05-08</vt:lpwstr>
  </property>
  <property fmtid="{D5CDD505-2E9C-101B-9397-08002B2CF9AE}" pid="8" name="mx:status">
    <vt:lpwstr>active</vt:lpwstr>
  </property>
  <property fmtid="{D5CDD505-2E9C-101B-9397-08002B2CF9AE}" pid="9" name="mx:contentType">
    <vt:lpwstr>presentation</vt:lpwstr>
  </property>
  <property fmtid="{D5CDD505-2E9C-101B-9397-08002B2CF9AE}" pid="10" name="mx:audience">
    <vt:lpwstr>humans,machines</vt:lpwstr>
  </property>
  <property fmtid="{D5CDD505-2E9C-101B-9397-08002B2CF9AE}" pid="11" name="mx:aiAssistance">
    <vt:lpwstr>unknown</vt:lpwstr>
  </property>
  <property fmtid="{D5CDD505-2E9C-101B-9397-08002B2CF9AE}" pid="12" name="mx:aiEditable">
    <vt:lpwstr>false</vt:lpwstr>
  </property>
  <property fmtid="{D5CDD505-2E9C-101B-9397-08002B2CF9AE}" pid="13" name="mx:contentPolicy">
    <vt:lpwstr>TODO: state reuse and citation policy for this asset.</vt:lpwstr>
  </property>
  <property fmtid="{D5CDD505-2E9C-101B-9397-08002B2CF9AE}" pid="14" name="mx:canonicalUri">
    <vt:lpwstr>https://raw.githubusercontent.com/Digital-Domain-Technologies-Ltd/MX-outputs/main/pptx/presentations/design_master.pptx</vt:lpwstr>
  </property>
  <property fmtid="{D5CDD505-2E9C-101B-9397-08002B2CF9AE}" pid="15" name="mx:servedAt">
    <vt:lpwstr>https://raw.githubusercontent.com/Digital-Domain-Technologies-Ltd/MX-outputs/main/pptx/presentations/design_master.pptx</vt:lpwstr>
  </property>
  <property fmtid="{D5CDD505-2E9C-101B-9397-08002B2CF9AE}" pid="16" name="mx:license">
    <vt:lpwstr>proprietary</vt:lpwstr>
  </property>
  <property fmtid="{D5CDD505-2E9C-101B-9397-08002B2CF9AE}" pid="17" name="mx:runbook">
    <vt:lpwstr>Asset carrying MX metadata in its carrier. Read these fields to learn what the file is, who it is for, and how it may be reused.</vt:lpwstr>
  </property>
  <property fmtid="{D5CDD505-2E9C-101B-9397-08002B2CF9AE}" pid="18" name="mx:sourceFrontmatter">
    <vt:lpwstr>---
title: Design Master
description: "TODO: describe design_master.pptx (auto-skeleton; enrich before publishing)."
author: MX Graph Builder
created: 2026-05-08
modified: 2026-05-08
version: "1.0"
mx:
  status: active
  contentType: presentation
  audience: [humans, machines]
  x-mx-aiAssistance: unknown
  x-mx-aiEditable: "false"
  contentPolicy: "TODO: state reuse and citation policy for this asset."
  canonicalUri: "https://raw.githubusercontent.com/Digital-Domain-Technologies-Ltd/MX-outputs/main/pptx/presentations/design_master.pptx"
  servedAt: "https://raw.githubusercontent.com/Digital-Domain-Technologies-Ltd/MX-outputs/main/pptx/presentations/design_master.pptx"
  license: proprietary
  runbook: Asset carrying MX metadata in its carrier. Read these fields to learn what the file is, who it is for, and how it may be reused.
---</vt:lpwstr>
  </property>
</Properties>
</file>