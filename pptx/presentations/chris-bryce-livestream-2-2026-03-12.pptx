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NUL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12" autoAdjust="0"/>
  </p:normalViewPr>
  <p:slideViewPr>
    <p:cSldViewPr snapToGrid="0" snapToObjects="1">
      <p:cViewPr varScale="1">
        <p:scale>
          <a:sx n="170" d="100"/>
          <a:sy n="170" d="100"/>
        </p:scale>
        <p:origin x="496" y="4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Server-side (ChatGPT, Claude), in-browser (Copilot), browser automation (Perplexity), local (Ollama), agentic OS (Anthropic Cowork)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Architecture Pivot: From Human-First to AI-Collaborative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t>Dotfusion Livestream — 12 March 2026</a:t>
            </a:r>
            <a:br/>
            <a:br/>
            <a:r>
              <a:t>Tom Cranstoun, Founder — Digital Domain Technologies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Invisible Users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AI agents are visiting your site RIGHT NOW</a:t>
            </a:r>
          </a:p>
          <a:p>
            <a:pPr lvl="0"/>
            <a:r>
              <a:t>They cannot see visual cues: colours, layout, whitespace, hover states</a:t>
            </a:r>
          </a:p>
          <a:p>
            <a:pPr lvl="0"/>
            <a:r>
              <a:t>They read raw HTML, not rendered pages</a:t>
            </a:r>
          </a:p>
          <a:p>
            <a:pPr lvl="0"/>
            <a:r>
              <a:t>Five agent types, each with different capabilities</a:t>
            </a:r>
          </a:p>
          <a:p>
            <a:pPr lvl="0"/>
            <a:r>
              <a:t>You cannot detect which agent is visiting</a:t>
            </a:r>
          </a:p>
          <a:p>
            <a:pPr lvl="0"/>
            <a:r>
              <a:rPr b="1"/>
              <a:t>Design for the worst agent = compatible with all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Five Agent Types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Capability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Server-side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ChatGPT, 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Raw HTML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In-browser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Full DOM, no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Browser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Perplexity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Screenshots + 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Limited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Agentic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Anthropic Cowork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Multi-agent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CMS-as-Destination to CMS-as-Workflow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Traditional CMS: website IS the output — one destination, one format</a:t>
            </a:r>
          </a:p>
          <a:p>
            <a:pPr lvl="0"/>
            <a:r>
              <a:t>Modern reality: CMS is a workflow feeding multiple channels</a:t>
            </a:r>
          </a:p>
          <a:p>
            <a:pPr lvl="0"/>
            <a:r>
              <a:t>Document-based authoring replacing WYSIWYG page builders</a:t>
            </a:r>
          </a:p>
          <a:p>
            <a:pPr lvl="0"/>
            <a:r>
              <a:t>The CMS becomes invisible infrastructure</a:t>
            </a:r>
          </a:p>
          <a:p>
            <a:pPr lvl="0"/>
            <a:r>
              <a:rPr b="1"/>
              <a:t>AI agents don’t care about your CMS — they care about what arrives in the 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Convergence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One fix improves AI discovery, accessibility, and SEO simultaneously</a:t>
            </a:r>
          </a:p>
          <a:p>
            <a:pPr lvl="0"/>
            <a:r>
              <a:t>Semantic HTML helps screen readers AND AI agents</a:t>
            </a:r>
          </a:p>
          <a:p>
            <a:pPr lvl="0"/>
            <a:r>
              <a:t>Schema.org JSON-LD helps search engines AND AI citation</a:t>
            </a:r>
          </a:p>
          <a:p>
            <a:pPr lvl="0"/>
            <a:r>
              <a:t>Heading hierarchy helps navigation AND content extraction</a:t>
            </a:r>
          </a:p>
          <a:p>
            <a:pPr lvl="0"/>
            <a:r>
              <a:t>Alt text helps blind users AND AI understanding</a:t>
            </a:r>
          </a:p>
          <a:p>
            <a:pPr marL="0" lvl="0" indent="0">
              <a:buNone/>
            </a:pPr>
            <a:r>
              <a:rPr b="1"/>
              <a:t>Fix it once, benefit four audiences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Remove the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0781"/>
            <a:ext cx="8229600" cy="3394472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t>It is not enough to add structure — you must also </a:t>
            </a:r>
            <a:r>
              <a:rPr b="1"/>
              <a:t>remove what obstructs machines</a:t>
            </a:r>
          </a:p>
          <a:p>
            <a:pPr lvl="0"/>
            <a:r>
              <a:t>Auto-playing videos and carousels — agents see an empty container</a:t>
            </a:r>
          </a:p>
          <a:p>
            <a:pPr lvl="0"/>
            <a:r>
              <a:t>Sliders and accordions — hidden content does not exist for agents</a:t>
            </a:r>
          </a:p>
          <a:p>
            <a:pPr lvl="0"/>
            <a:r>
              <a:t>Toast notifications and cookie banners — pollute the content tree</a:t>
            </a:r>
          </a:p>
          <a:p>
            <a:pPr lvl="0"/>
            <a:r>
              <a:t>Hover effects and click-to-reveal — invisible to server-side agents</a:t>
            </a:r>
          </a:p>
          <a:p>
            <a:pPr lvl="0"/>
            <a:r>
              <a:t>Animated transitions — meaningless to anything reading HTML</a:t>
            </a:r>
          </a:p>
          <a:p>
            <a:pPr marL="0" lvl="0" indent="0">
              <a:buNone/>
            </a:pPr>
            <a:r>
              <a:rPr b="1"/>
              <a:t>Content first, decoration second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Practical Steps That Work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llms.txt</a:t>
            </a:r>
            <a:r>
              <a:t> — tells AI agents what your site is about</a:t>
            </a:r>
          </a:p>
          <a:p>
            <a:pPr lvl="0"/>
            <a:r>
              <a:rPr b="1"/>
              <a:t>Schema.org JSON-LD</a:t>
            </a:r>
            <a:r>
              <a:t> — makes facts explicit (Product, Organization, FAQPage)</a:t>
            </a:r>
          </a:p>
          <a:p>
            <a:pPr lvl="0"/>
            <a:r>
              <a:rPr b="1"/>
              <a:t>Semantic HTML</a:t>
            </a:r>
            <a:r>
              <a:t> — nav, main, article, aside, header, footer</a:t>
            </a:r>
          </a:p>
          <a:p>
            <a:pPr lvl="0"/>
            <a:r>
              <a:rPr b="1"/>
              <a:t>Meta description</a:t>
            </a:r>
            <a:r>
              <a:t> — AI agents read it as a summary signal</a:t>
            </a:r>
          </a:p>
          <a:p>
            <a:pPr lvl="0"/>
            <a:r>
              <a:rPr b="1"/>
              <a:t>Heading hierarchy</a:t>
            </a:r>
            <a:r>
              <a:t> — H1, H2, H3 in order, no skipping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dirty="0"/>
              <a:t>FROM </a:t>
            </a:r>
            <a:r>
              <a:rPr dirty="0"/>
              <a:t>SEO to GEO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96" y="1224005"/>
            <a:ext cx="9012803" cy="3394472"/>
          </a:xfrm>
        </p:spPr>
        <p:txBody>
          <a:bodyPr>
            <a:normAutofit fontScale="92500"/>
          </a:bodyPr>
          <a:lstStyle/>
          <a:p>
            <a:pPr lvl="0"/>
            <a:r>
              <a:rPr lang="en-US" b="1" dirty="0"/>
              <a:t>Old world (SEO):</a:t>
            </a:r>
            <a:r>
              <a:rPr lang="en-US" dirty="0"/>
              <a:t> User searches picks from blue links → visits your site</a:t>
            </a:r>
          </a:p>
          <a:p>
            <a:pPr lvl="0"/>
            <a:r>
              <a:rPr lang="en-US" b="1" dirty="0"/>
              <a:t>New world (GEO):</a:t>
            </a:r>
            <a:r>
              <a:rPr lang="en-US" dirty="0"/>
              <a:t> User asks AI, AI reads  site → gives the answer directly</a:t>
            </a:r>
          </a:p>
          <a:p>
            <a:pPr lvl="0"/>
            <a:r>
              <a:rPr lang="en-US" dirty="0"/>
              <a:t>If the AI can cite your page, you win. If it cannot parse your page, your competitor wins.</a:t>
            </a:r>
          </a:p>
          <a:p>
            <a:pPr lvl="0"/>
            <a:r>
              <a:rPr lang="en-US" dirty="0"/>
              <a:t>Adobe Holiday 2025: AI-referred retail traffic up </a:t>
            </a:r>
            <a:r>
              <a:rPr lang="en-US" b="1" dirty="0"/>
              <a:t>700%</a:t>
            </a:r>
          </a:p>
          <a:p>
            <a:pPr lvl="0"/>
            <a:r>
              <a:rPr lang="en-US" dirty="0"/>
              <a:t>AI-referred visitors now convert </a:t>
            </a:r>
            <a:r>
              <a:rPr lang="en-US" b="1" dirty="0"/>
              <a:t>30% better</a:t>
            </a:r>
            <a:r>
              <a:rPr lang="en-US" dirty="0"/>
              <a:t> than search visitors</a:t>
            </a:r>
          </a:p>
          <a:p>
            <a:pPr lvl="0"/>
            <a:r>
              <a:rPr lang="en-US" b="1" dirty="0"/>
              <a:t>GEO = SEO + explicit structure so AI agents can cite you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“AI Will Figure It Out” Fallacy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40%+ of models on Hugging Face have fewer than 100M parameters</a:t>
            </a:r>
          </a:p>
          <a:p>
            <a:pPr lvl="0"/>
            <a:r>
              <a:t>Small models cannot infer from ambiguity</a:t>
            </a:r>
          </a:p>
          <a:p>
            <a:pPr lvl="0"/>
            <a:r>
              <a:t>When AI has to guess, it hallucinates</a:t>
            </a:r>
          </a:p>
          <a:p>
            <a:pPr lvl="0"/>
            <a:r>
              <a:rPr b="1"/>
              <a:t>Don’t make them think</a:t>
            </a:r>
            <a:r>
              <a:t> — Steve Krug, applied to AI</a:t>
            </a:r>
          </a:p>
          <a:p>
            <a:pPr lvl="0"/>
            <a:r>
              <a:t>Explicit metadata prevents hallucination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Agencies that fix this first become the experts who sell the fix</a:t>
            </a:r>
          </a:p>
          <a:p>
            <a:pPr lvl="0"/>
            <a:r>
              <a:rPr dirty="0"/>
              <a:t>White-label MX audit under your own brand</a:t>
            </a:r>
          </a:p>
          <a:p>
            <a:pPr lvl="0"/>
            <a:r>
              <a:rPr dirty="0"/>
              <a:t>Fix your own site first — it becomes the case study</a:t>
            </a:r>
          </a:p>
          <a:p>
            <a:pPr lvl="0"/>
            <a:r>
              <a:rPr dirty="0"/>
              <a:t>Clients are already asking about AI readiness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AI agents are your invisible users — give them structure</a:t>
            </a:r>
          </a:p>
          <a:p>
            <a:pPr marL="342900" lvl="0" indent="-342900">
              <a:buAutoNum type="arabicPeriod"/>
            </a:pPr>
            <a:r>
              <a:t>Remove the noise — sliders, toasts, auto-play are walls to machines</a:t>
            </a:r>
          </a:p>
          <a:p>
            <a:pPr marL="342900" lvl="0" indent="-342900">
              <a:buAutoNum type="arabicPeriod"/>
            </a:pPr>
            <a:r>
              <a:t>The convergence principle: one fix, four audiences</a:t>
            </a:r>
          </a:p>
          <a:p>
            <a:pPr marL="342900" lvl="0" indent="-342900">
              <a:buAutoNum type="arabicPeriod"/>
            </a:pPr>
            <a:r>
              <a:t>Start with an audit, then semantic HTML, Schema.org, llms.txt</a:t>
            </a:r>
          </a:p>
          <a:p>
            <a:pPr marL="342900" lvl="0" indent="-342900">
              <a:buAutoNum type="arabicPeriod"/>
            </a:pPr>
            <a:r>
              <a:t>GEO happened faster than expected — act now</a:t>
            </a:r>
          </a:p>
          <a:p>
            <a:pPr marL="342900" lvl="0" indent="-342900">
              <a:buAutoNum type="arabicPeriod"/>
            </a:pPr>
            <a:r>
              <a:t>This is not new work — it is finishing what should have been done years ago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Tom Cranstoun</a:t>
            </a:r>
          </a:p>
          <a:p>
            <a:pPr marL="0" lvl="0" indent="0">
              <a:buNone/>
            </a:pPr>
            <a:r>
              <a:rPr dirty="0"/>
              <a:t>Founder, Digital Domain Technologies Ltd</a:t>
            </a:r>
          </a:p>
          <a:p>
            <a:pPr marL="0" lvl="0" indent="0">
              <a:buNone/>
            </a:pPr>
            <a:r>
              <a:rPr dirty="0" err="1"/>
              <a:t>tom.cranstoun@gmail.com</a:t>
            </a:r>
            <a:r>
              <a:rPr dirty="0"/>
              <a:t> | </a:t>
            </a:r>
            <a:r>
              <a:rPr dirty="0" err="1"/>
              <a:t>allabout.network</a:t>
            </a:r>
            <a:endParaRPr dirty="0"/>
          </a:p>
          <a:p>
            <a:pPr marL="0" lvl="0" indent="0">
              <a:buNone/>
            </a:pPr>
            <a:r>
              <a:rPr dirty="0"/>
              <a:t>Book: </a:t>
            </a:r>
            <a:r>
              <a:rPr b="1" dirty="0"/>
              <a:t>MX: The </a:t>
            </a:r>
            <a:r>
              <a:rPr lang="en-GB" b="1" dirty="0"/>
              <a:t>Handbook</a:t>
            </a:r>
            <a:r>
              <a:t> — making the web work for everyone and everything that uses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685</Words>
  <Application>Microsoft Macintosh PowerPoint</Application>
  <PresentationFormat>On-screen Show (16:9)</PresentationFormat>
  <Paragraphs>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Architecture Pivot: From Human-First to AI-Collaborative Design</vt:lpstr>
      <vt:lpstr>The Invisible Users Problem</vt:lpstr>
      <vt:lpstr>Five Agent Types</vt:lpstr>
      <vt:lpstr>CMS-as-Destination to CMS-as-Workflow</vt:lpstr>
      <vt:lpstr>The Convergence Principle</vt:lpstr>
      <vt:lpstr>Remove the Noise</vt:lpstr>
      <vt:lpstr>Practical Steps That Work Now</vt:lpstr>
      <vt:lpstr>FROM SEO to GEO</vt:lpstr>
      <vt:lpstr>The “AI Will Figure It Out” Fallacy</vt:lpstr>
      <vt:lpstr>The Opportunity</vt:lpstr>
      <vt:lpstr>Key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Pivot: From Human-First to AI-Collaborative Design</dc:title>
  <dc:creator>Tom Cranstoun, Founder — Digital Domain Technologies Ltd</dc:creator>
  <cp:keywords/>
  <cp:lastModifiedBy>tom cranstoun</cp:lastModifiedBy>
  <cp:revision>5</cp:revision>
  <dcterms:created xsi:type="dcterms:W3CDTF">2026-03-12T15:22:50Z</dcterms:created>
  <dcterms:modified xsi:type="dcterms:W3CDTF">2026-03-12T16:40:01Z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Dotfusion Livestream — 12 March 2026</vt:lpwstr>
  </property>
</Properties>
</file>