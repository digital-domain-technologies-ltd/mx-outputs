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65760"/>
            <a:ext cx="11091672" cy="365760"/>
          </a:xfrm>
          <a:prstGeom prst="rect">
            <a:avLst/>
          </a:prstGeom>
          <a:noFill/>
        </p:spPr>
        <p:txBody>
          <a:bodyPr wrap="square" anchor="t">
            <a:spAutoFit/>
          </a:bodyPr>
          <a:lstStyle/>
          <a:p>
            <a:pPr algn="r"/>
            <a:r>
              <a:rPr sz="1000" b="0" i="0">
                <a:solidFill>
                  <a:srgbClr val="555555"/>
                </a:solidFill>
                <a:latin typeface="JetBrains Mono"/>
              </a:rPr>
              <a:t>01 / 21</a:t>
            </a:r>
          </a:p>
        </p:txBody>
      </p:sp>
      <p:sp>
        <p:nvSpPr>
          <p:cNvPr id="3" name="TextBox 2"/>
          <p:cNvSpPr txBox="1"/>
          <p:nvPr/>
        </p:nvSpPr>
        <p:spPr>
          <a:xfrm>
            <a:off x="548640" y="2194560"/>
            <a:ext cx="11091672" cy="1463040"/>
          </a:xfrm>
          <a:prstGeom prst="rect">
            <a:avLst/>
          </a:prstGeom>
          <a:noFill/>
        </p:spPr>
        <p:txBody>
          <a:bodyPr wrap="square" anchor="ctr">
            <a:spAutoFit/>
          </a:bodyPr>
          <a:lstStyle/>
          <a:p>
            <a:pPr algn="l"/>
            <a:r>
              <a:rPr sz="4600" b="0" i="0">
                <a:solidFill>
                  <a:srgbClr val="1A1A1A"/>
                </a:solidFill>
                <a:latin typeface="Source Serif 4"/>
              </a:rPr>
              <a:t>Machine Experience</a:t>
            </a:r>
          </a:p>
        </p:txBody>
      </p:sp>
      <p:sp>
        <p:nvSpPr>
          <p:cNvPr id="4" name="TextBox 3"/>
          <p:cNvSpPr txBox="1"/>
          <p:nvPr/>
        </p:nvSpPr>
        <p:spPr>
          <a:xfrm>
            <a:off x="548640" y="3749039"/>
            <a:ext cx="11091672" cy="640080"/>
          </a:xfrm>
          <a:prstGeom prst="rect">
            <a:avLst/>
          </a:prstGeom>
          <a:noFill/>
        </p:spPr>
        <p:txBody>
          <a:bodyPr wrap="square" anchor="t">
            <a:spAutoFit/>
          </a:bodyPr>
          <a:lstStyle/>
          <a:p>
            <a:pPr algn="l"/>
            <a:r>
              <a:rPr sz="2000" b="0" i="1">
                <a:solidFill>
                  <a:srgbClr val="2A2A28"/>
                </a:solidFill>
                <a:latin typeface="Source Serif 4"/>
              </a:rPr>
              <a:t>Tom Cranstoun · Founder, Machine Experience community
Digital Domain Technologies Ltd · trading as CogNovaMX</a:t>
            </a:r>
          </a:p>
        </p:txBody>
      </p:sp>
      <p:sp>
        <p:nvSpPr>
          <p:cNvPr id="5" name="TextBox 4"/>
          <p:cNvSpPr txBox="1"/>
          <p:nvPr/>
        </p:nvSpPr>
        <p:spPr>
          <a:xfrm>
            <a:off x="548640" y="4572000"/>
            <a:ext cx="11091672" cy="457200"/>
          </a:xfrm>
          <a:prstGeom prst="rect">
            <a:avLst/>
          </a:prstGeom>
          <a:noFill/>
        </p:spPr>
        <p:txBody>
          <a:bodyPr wrap="square" anchor="t">
            <a:spAutoFit/>
          </a:bodyPr>
          <a:lstStyle/>
          <a:p>
            <a:pPr algn="l"/>
            <a:r>
              <a:rPr sz="1400" b="0" i="0">
                <a:solidFill>
                  <a:srgbClr val="555555"/>
                </a:solidFill>
                <a:latin typeface="Inter"/>
              </a:rPr>
              <a:t>CMS Summit Frankfurt · 12 May 2026</a:t>
            </a:r>
          </a:p>
        </p:txBody>
      </p:sp>
      <p:sp>
        <p:nvSpPr>
          <p:cNvPr id="6" name="TextBox 5"/>
          <p:cNvSpPr txBox="1"/>
          <p:nvPr/>
        </p:nvSpPr>
        <p:spPr>
          <a:xfrm>
            <a:off x="548640" y="6400800"/>
            <a:ext cx="11091672" cy="365760"/>
          </a:xfrm>
          <a:prstGeom prst="rect">
            <a:avLst/>
          </a:prstGeom>
          <a:noFill/>
        </p:spPr>
        <p:txBody>
          <a:bodyPr wrap="square" anchor="t">
            <a:spAutoFit/>
          </a:bodyPr>
          <a:lstStyle/>
          <a:p>
            <a:pPr algn="l"/>
            <a:r>
              <a:rPr sz="900" b="0" i="0">
                <a:solidFill>
                  <a:srgbClr val="555555"/>
                </a:solidFill>
                <a:latin typeface="JetBrains Mono"/>
              </a:rPr>
              <a:t>TOM CRANSTOUN · CMS SUMMIT FRANKFURT 2026</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65760"/>
            <a:ext cx="11091672" cy="365760"/>
          </a:xfrm>
          <a:prstGeom prst="rect">
            <a:avLst/>
          </a:prstGeom>
          <a:noFill/>
        </p:spPr>
        <p:txBody>
          <a:bodyPr wrap="square" anchor="t">
            <a:spAutoFit/>
          </a:bodyPr>
          <a:lstStyle/>
          <a:p>
            <a:pPr algn="r"/>
            <a:r>
              <a:rPr sz="1000" b="0" i="0">
                <a:solidFill>
                  <a:srgbClr val="555555"/>
                </a:solidFill>
                <a:latin typeface="JetBrains Mono"/>
              </a:rPr>
              <a:t>02 / 21</a:t>
            </a:r>
          </a:p>
        </p:txBody>
      </p:sp>
      <p:sp>
        <p:nvSpPr>
          <p:cNvPr id="3" name="TextBox 2"/>
          <p:cNvSpPr txBox="1"/>
          <p:nvPr/>
        </p:nvSpPr>
        <p:spPr>
          <a:xfrm>
            <a:off x="548640" y="548640"/>
            <a:ext cx="11091672" cy="822960"/>
          </a:xfrm>
          <a:prstGeom prst="rect">
            <a:avLst/>
          </a:prstGeom>
          <a:noFill/>
        </p:spPr>
        <p:txBody>
          <a:bodyPr wrap="square" anchor="t">
            <a:spAutoFit/>
          </a:bodyPr>
          <a:lstStyle/>
          <a:p>
            <a:pPr algn="l"/>
            <a:r>
              <a:rPr sz="2800" b="0" i="0">
                <a:solidFill>
                  <a:srgbClr val="1A1A1A"/>
                </a:solidFill>
                <a:latin typeface="Source Serif 4"/>
              </a:rPr>
              <a:t>The reader is increasingly not a person</a:t>
            </a:r>
          </a:p>
        </p:txBody>
      </p:sp>
      <p:sp>
        <p:nvSpPr>
          <p:cNvPr id="4" name="TextBox 3"/>
          <p:cNvSpPr txBox="1"/>
          <p:nvPr/>
        </p:nvSpPr>
        <p:spPr>
          <a:xfrm>
            <a:off x="548640" y="1554480"/>
            <a:ext cx="11091672" cy="640080"/>
          </a:xfrm>
          <a:prstGeom prst="rect">
            <a:avLst/>
          </a:prstGeom>
          <a:noFill/>
        </p:spPr>
        <p:txBody>
          <a:bodyPr wrap="square" anchor="t">
            <a:spAutoFit/>
          </a:bodyPr>
          <a:lstStyle/>
          <a:p>
            <a:pPr algn="l"/>
            <a:r>
              <a:rPr sz="1600" b="0" i="0">
                <a:solidFill>
                  <a:srgbClr val="2A2A28"/>
                </a:solidFill>
                <a:latin typeface="Inter"/>
              </a:rPr>
              <a:t>Much of that content now reaches readers through machines  -  LLM search, agent retrieval, embedded answer surfaces, and an expanding universe of systems that consume what you publish without a human in the loop.</a:t>
            </a:r>
          </a:p>
        </p:txBody>
      </p:sp>
      <p:sp>
        <p:nvSpPr>
          <p:cNvPr id="5" name="TextBox 4"/>
          <p:cNvSpPr txBox="1"/>
          <p:nvPr/>
        </p:nvSpPr>
        <p:spPr>
          <a:xfrm>
            <a:off x="548640" y="2286000"/>
            <a:ext cx="11091672" cy="3657600"/>
          </a:xfrm>
          <a:prstGeom prst="rect">
            <a:avLst/>
          </a:prstGeom>
          <a:noFill/>
        </p:spPr>
        <p:txBody>
          <a:bodyPr wrap="square" anchor="t">
            <a:spAutoFit/>
          </a:bodyPr>
          <a:lstStyle/>
          <a:p>
            <a:pPr algn="l"/>
            <a:r>
              <a:rPr sz="1500" b="0" i="0">
                <a:solidFill>
                  <a:srgbClr val="1A1A1A"/>
                </a:solidFill>
                <a:latin typeface="Inter"/>
              </a:rPr>
              <a:t>This is the current state for any content-driven site. It is not a prediction.</a:t>
            </a:r>
          </a:p>
        </p:txBody>
      </p:sp>
      <p:sp>
        <p:nvSpPr>
          <p:cNvPr id="6" name="TextBox 5"/>
          <p:cNvSpPr txBox="1"/>
          <p:nvPr/>
        </p:nvSpPr>
        <p:spPr>
          <a:xfrm>
            <a:off x="548640" y="5943600"/>
            <a:ext cx="11091672" cy="365760"/>
          </a:xfrm>
          <a:prstGeom prst="rect">
            <a:avLst/>
          </a:prstGeom>
          <a:noFill/>
        </p:spPr>
        <p:txBody>
          <a:bodyPr wrap="square" anchor="t">
            <a:spAutoFit/>
          </a:bodyPr>
          <a:lstStyle/>
          <a:p>
            <a:pPr algn="l"/>
            <a:r>
              <a:rPr sz="1500" b="1" i="0">
                <a:solidFill>
                  <a:srgbClr val="C8482B"/>
                </a:solidFill>
                <a:latin typeface="Inter"/>
              </a:rPr>
              <a:t>The proportion is small today and growing. The trajectory is the point.</a:t>
            </a:r>
          </a:p>
        </p:txBody>
      </p:sp>
      <p:sp>
        <p:nvSpPr>
          <p:cNvPr id="7" name="TextBox 6"/>
          <p:cNvSpPr txBox="1"/>
          <p:nvPr/>
        </p:nvSpPr>
        <p:spPr>
          <a:xfrm>
            <a:off x="548640" y="6400800"/>
            <a:ext cx="11091672" cy="365760"/>
          </a:xfrm>
          <a:prstGeom prst="rect">
            <a:avLst/>
          </a:prstGeom>
          <a:noFill/>
        </p:spPr>
        <p:txBody>
          <a:bodyPr wrap="square" anchor="t">
            <a:spAutoFit/>
          </a:bodyPr>
          <a:lstStyle/>
          <a:p>
            <a:pPr algn="l"/>
            <a:r>
              <a:rPr sz="900" b="0" i="0">
                <a:solidFill>
                  <a:srgbClr val="555555"/>
                </a:solidFill>
                <a:latin typeface="JetBrains Mono"/>
              </a:rPr>
              <a:t>TOM CRANSTOUN · CMS SUMMIT FRANKFURT 2026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65760"/>
            <a:ext cx="11091672" cy="365760"/>
          </a:xfrm>
          <a:prstGeom prst="rect">
            <a:avLst/>
          </a:prstGeom>
          <a:noFill/>
        </p:spPr>
        <p:txBody>
          <a:bodyPr wrap="square" anchor="t">
            <a:spAutoFit/>
          </a:bodyPr>
          <a:lstStyle/>
          <a:p>
            <a:pPr algn="r"/>
            <a:r>
              <a:rPr sz="1000" b="0" i="0">
                <a:solidFill>
                  <a:srgbClr val="555555"/>
                </a:solidFill>
                <a:latin typeface="JetBrains Mono"/>
              </a:rPr>
              <a:t>03 / 21</a:t>
            </a:r>
          </a:p>
        </p:txBody>
      </p:sp>
      <p:sp>
        <p:nvSpPr>
          <p:cNvPr id="3" name="TextBox 2"/>
          <p:cNvSpPr txBox="1"/>
          <p:nvPr/>
        </p:nvSpPr>
        <p:spPr>
          <a:xfrm>
            <a:off x="548640" y="548640"/>
            <a:ext cx="11091672" cy="822960"/>
          </a:xfrm>
          <a:prstGeom prst="rect">
            <a:avLst/>
          </a:prstGeom>
          <a:noFill/>
        </p:spPr>
        <p:txBody>
          <a:bodyPr wrap="square" anchor="t">
            <a:spAutoFit/>
          </a:bodyPr>
          <a:lstStyle/>
          <a:p>
            <a:pPr algn="l"/>
            <a:r>
              <a:rPr sz="2800" b="0" i="0">
                <a:solidFill>
                  <a:srgbClr val="1A1A1A"/>
                </a:solidFill>
                <a:latin typeface="Source Serif 4"/>
              </a:rPr>
              <a:t>Three platforms. Seven days. January 2026</a:t>
            </a:r>
          </a:p>
        </p:txBody>
      </p:sp>
      <p:sp>
        <p:nvSpPr>
          <p:cNvPr id="4" name="TextBox 3"/>
          <p:cNvSpPr txBox="1"/>
          <p:nvPr/>
        </p:nvSpPr>
        <p:spPr>
          <a:xfrm>
            <a:off x="548640" y="1554480"/>
            <a:ext cx="11091672" cy="640080"/>
          </a:xfrm>
          <a:prstGeom prst="rect">
            <a:avLst/>
          </a:prstGeom>
          <a:noFill/>
        </p:spPr>
        <p:txBody>
          <a:bodyPr wrap="square" anchor="t">
            <a:spAutoFit/>
          </a:bodyPr>
          <a:lstStyle/>
          <a:p>
            <a:pPr algn="l"/>
            <a:r>
              <a:rPr sz="1600" b="0" i="0">
                <a:solidFill>
                  <a:srgbClr val="2A2A28"/>
                </a:solidFill>
                <a:latin typeface="Inter"/>
              </a:rPr>
              <a:t>Amazon, Microsoft, and Google each shipped production machine commerce systems in the same week.</a:t>
            </a:r>
          </a:p>
        </p:txBody>
      </p:sp>
      <p:sp>
        <p:nvSpPr>
          <p:cNvPr id="5" name="TextBox 4"/>
          <p:cNvSpPr txBox="1"/>
          <p:nvPr/>
        </p:nvSpPr>
        <p:spPr>
          <a:xfrm>
            <a:off x="548640" y="2286000"/>
            <a:ext cx="11091672" cy="3657600"/>
          </a:xfrm>
          <a:prstGeom prst="rect">
            <a:avLst/>
          </a:prstGeom>
          <a:noFill/>
        </p:spPr>
        <p:txBody>
          <a:bodyPr wrap="square" anchor="t">
            <a:spAutoFit/>
          </a:bodyPr>
          <a:lstStyle/>
          <a:p>
            <a:pPr algn="l"/>
            <a:r>
              <a:rPr sz="1500" b="0" i="0">
                <a:solidFill>
                  <a:srgbClr val="1A1A1A"/>
                </a:solidFill>
                <a:latin typeface="Inter"/>
              </a:rPr>
              <a:t>•  Not experiments  -  live infrastructure available to consumers and merchants.
•  Open protocols (MCP, A2A) mean any site can be a machine-commerce endpoint.
•  The window is shorter than it looks.</a:t>
            </a:r>
          </a:p>
        </p:txBody>
      </p:sp>
      <p:sp>
        <p:nvSpPr>
          <p:cNvPr id="6" name="TextBox 5"/>
          <p:cNvSpPr txBox="1"/>
          <p:nvPr/>
        </p:nvSpPr>
        <p:spPr>
          <a:xfrm>
            <a:off x="548640" y="5943600"/>
            <a:ext cx="11091672" cy="365760"/>
          </a:xfrm>
          <a:prstGeom prst="rect">
            <a:avLst/>
          </a:prstGeom>
          <a:noFill/>
        </p:spPr>
        <p:txBody>
          <a:bodyPr wrap="square" anchor="t">
            <a:spAutoFit/>
          </a:bodyPr>
          <a:lstStyle/>
          <a:p>
            <a:pPr algn="l"/>
            <a:r>
              <a:rPr sz="1500" b="1" i="0">
                <a:solidFill>
                  <a:srgbClr val="C8482B"/>
                </a:solidFill>
                <a:latin typeface="Inter"/>
              </a:rPr>
              <a:t>That is why this discipline exists now and not in three years.</a:t>
            </a:r>
          </a:p>
        </p:txBody>
      </p:sp>
      <p:sp>
        <p:nvSpPr>
          <p:cNvPr id="7" name="TextBox 6"/>
          <p:cNvSpPr txBox="1"/>
          <p:nvPr/>
        </p:nvSpPr>
        <p:spPr>
          <a:xfrm>
            <a:off x="548640" y="6400800"/>
            <a:ext cx="11091672" cy="365760"/>
          </a:xfrm>
          <a:prstGeom prst="rect">
            <a:avLst/>
          </a:prstGeom>
          <a:noFill/>
        </p:spPr>
        <p:txBody>
          <a:bodyPr wrap="square" anchor="t">
            <a:spAutoFit/>
          </a:bodyPr>
          <a:lstStyle/>
          <a:p>
            <a:pPr algn="l"/>
            <a:r>
              <a:rPr sz="900" b="0" i="0">
                <a:solidFill>
                  <a:srgbClr val="555555"/>
                </a:solidFill>
                <a:latin typeface="JetBrains Mono"/>
              </a:rPr>
              <a:t>TOM CRANSTOUN · CMS SUMMIT FRANKFURT 2026</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65760"/>
            <a:ext cx="11091672" cy="365760"/>
          </a:xfrm>
          <a:prstGeom prst="rect">
            <a:avLst/>
          </a:prstGeom>
          <a:noFill/>
        </p:spPr>
        <p:txBody>
          <a:bodyPr wrap="square" anchor="t">
            <a:spAutoFit/>
          </a:bodyPr>
          <a:lstStyle/>
          <a:p>
            <a:pPr algn="r"/>
            <a:r>
              <a:rPr sz="1000" b="0" i="0">
                <a:solidFill>
                  <a:srgbClr val="555555"/>
                </a:solidFill>
                <a:latin typeface="JetBrains Mono"/>
              </a:rPr>
              <a:t>04 / 21</a:t>
            </a:r>
          </a:p>
        </p:txBody>
      </p:sp>
      <p:sp>
        <p:nvSpPr>
          <p:cNvPr id="3" name="TextBox 2"/>
          <p:cNvSpPr txBox="1"/>
          <p:nvPr/>
        </p:nvSpPr>
        <p:spPr>
          <a:xfrm>
            <a:off x="548640" y="548640"/>
            <a:ext cx="11091672" cy="822960"/>
          </a:xfrm>
          <a:prstGeom prst="rect">
            <a:avLst/>
          </a:prstGeom>
          <a:noFill/>
        </p:spPr>
        <p:txBody>
          <a:bodyPr wrap="square" anchor="t">
            <a:spAutoFit/>
          </a:bodyPr>
          <a:lstStyle/>
          <a:p>
            <a:pPr algn="l"/>
            <a:r>
              <a:rPr sz="2800" b="0" i="0">
                <a:solidFill>
                  <a:srgbClr val="1A1A1A"/>
                </a:solidFill>
                <a:latin typeface="Source Serif 4"/>
              </a:rPr>
              <a:t>The web is already hostile to machines</a:t>
            </a:r>
          </a:p>
        </p:txBody>
      </p:sp>
      <p:sp>
        <p:nvSpPr>
          <p:cNvPr id="4" name="TextBox 3"/>
          <p:cNvSpPr txBox="1"/>
          <p:nvPr/>
        </p:nvSpPr>
        <p:spPr>
          <a:xfrm>
            <a:off x="548640" y="1554480"/>
            <a:ext cx="11091672" cy="640080"/>
          </a:xfrm>
          <a:prstGeom prst="rect">
            <a:avLst/>
          </a:prstGeom>
          <a:noFill/>
        </p:spPr>
        <p:txBody>
          <a:bodyPr wrap="square" anchor="t">
            <a:spAutoFit/>
          </a:bodyPr>
          <a:lstStyle/>
          <a:p>
            <a:pPr algn="l"/>
            <a:r>
              <a:rPr sz="1600" b="0" i="0">
                <a:solidFill>
                  <a:srgbClr val="2A2A28"/>
                </a:solidFill>
                <a:latin typeface="Inter"/>
              </a:rPr>
              <a:t>Content hidden behind interaction that machines cannot perform:</a:t>
            </a:r>
          </a:p>
        </p:txBody>
      </p:sp>
      <p:sp>
        <p:nvSpPr>
          <p:cNvPr id="5" name="TextBox 4"/>
          <p:cNvSpPr txBox="1"/>
          <p:nvPr/>
        </p:nvSpPr>
        <p:spPr>
          <a:xfrm>
            <a:off x="548640" y="2286000"/>
            <a:ext cx="11091672" cy="3657600"/>
          </a:xfrm>
          <a:prstGeom prst="rect">
            <a:avLst/>
          </a:prstGeom>
          <a:noFill/>
        </p:spPr>
        <p:txBody>
          <a:bodyPr wrap="square" anchor="t">
            <a:spAutoFit/>
          </a:bodyPr>
          <a:lstStyle/>
          <a:p>
            <a:pPr algn="l"/>
            <a:r>
              <a:rPr sz="1500" b="0" i="0">
                <a:solidFill>
                  <a:srgbClr val="1A1A1A"/>
                </a:solidFill>
                <a:latin typeface="Inter"/>
              </a:rPr>
              <a:t>•  Tabs  -  only the active tab's content is in the DOM. The machine fetches before any click.
•  Accordions and "show more"  -  collapsed at first render. The machine reads what it gets.
•  Toasts  -  fire once, vanish in seconds. The machine was never there.
•  JavaScript-rendered prices and availability  -  loaded after the initial HTML. The machine gets the skeleton, not the page.
•  Fees revealed by hover or form step  -  invisible to any non-human reader.
MX means making every machine-relevant fact present in the DOM at fetch time. No gestures, no interaction, no timing.</a:t>
            </a:r>
          </a:p>
        </p:txBody>
      </p:sp>
      <p:sp>
        <p:nvSpPr>
          <p:cNvPr id="6" name="TextBox 5"/>
          <p:cNvSpPr txBox="1"/>
          <p:nvPr/>
        </p:nvSpPr>
        <p:spPr>
          <a:xfrm>
            <a:off x="548640" y="5943600"/>
            <a:ext cx="11091672" cy="365760"/>
          </a:xfrm>
          <a:prstGeom prst="rect">
            <a:avLst/>
          </a:prstGeom>
          <a:noFill/>
        </p:spPr>
        <p:txBody>
          <a:bodyPr wrap="square" anchor="t">
            <a:spAutoFit/>
          </a:bodyPr>
          <a:lstStyle/>
          <a:p>
            <a:pPr algn="l"/>
            <a:r>
              <a:rPr sz="1500" b="1" i="0">
                <a:solidFill>
                  <a:srgbClr val="C8482B"/>
                </a:solidFill>
                <a:latin typeface="Inter"/>
              </a:rPr>
              <a:t/>
            </a:r>
          </a:p>
        </p:txBody>
      </p:sp>
      <p:sp>
        <p:nvSpPr>
          <p:cNvPr id="7" name="TextBox 6"/>
          <p:cNvSpPr txBox="1"/>
          <p:nvPr/>
        </p:nvSpPr>
        <p:spPr>
          <a:xfrm>
            <a:off x="548640" y="6400800"/>
            <a:ext cx="11091672" cy="365760"/>
          </a:xfrm>
          <a:prstGeom prst="rect">
            <a:avLst/>
          </a:prstGeom>
          <a:noFill/>
        </p:spPr>
        <p:txBody>
          <a:bodyPr wrap="square" anchor="t">
            <a:spAutoFit/>
          </a:bodyPr>
          <a:lstStyle/>
          <a:p>
            <a:pPr algn="l"/>
            <a:r>
              <a:rPr sz="900" b="0" i="0">
                <a:solidFill>
                  <a:srgbClr val="555555"/>
                </a:solidFill>
                <a:latin typeface="JetBrains Mono"/>
              </a:rPr>
              <a:t>TOM CRANSTOUN · CMS SUMMIT FRANKFURT 2026</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65760"/>
            <a:ext cx="11091672" cy="365760"/>
          </a:xfrm>
          <a:prstGeom prst="rect">
            <a:avLst/>
          </a:prstGeom>
          <a:noFill/>
        </p:spPr>
        <p:txBody>
          <a:bodyPr wrap="square" anchor="t">
            <a:spAutoFit/>
          </a:bodyPr>
          <a:lstStyle/>
          <a:p>
            <a:pPr algn="r"/>
            <a:r>
              <a:rPr sz="1000" b="0" i="0">
                <a:solidFill>
                  <a:srgbClr val="555555"/>
                </a:solidFill>
                <a:latin typeface="JetBrains Mono"/>
              </a:rPr>
              <a:t>05 / 21</a:t>
            </a:r>
          </a:p>
        </p:txBody>
      </p:sp>
      <p:sp>
        <p:nvSpPr>
          <p:cNvPr id="3" name="TextBox 2"/>
          <p:cNvSpPr txBox="1"/>
          <p:nvPr/>
        </p:nvSpPr>
        <p:spPr>
          <a:xfrm>
            <a:off x="548640" y="548640"/>
            <a:ext cx="11091672" cy="822960"/>
          </a:xfrm>
          <a:prstGeom prst="rect">
            <a:avLst/>
          </a:prstGeom>
          <a:noFill/>
        </p:spPr>
        <p:txBody>
          <a:bodyPr wrap="square" anchor="t">
            <a:spAutoFit/>
          </a:bodyPr>
          <a:lstStyle/>
          <a:p>
            <a:pPr algn="l"/>
            <a:r>
              <a:rPr sz="2800" b="0" i="0">
                <a:solidFill>
                  <a:srgbClr val="1A1A1A"/>
                </a:solidFill>
                <a:latin typeface="Source Serif 4"/>
              </a:rPr>
              <a:t>Machines fail silently</a:t>
            </a:r>
          </a:p>
        </p:txBody>
      </p:sp>
      <p:sp>
        <p:nvSpPr>
          <p:cNvPr id="4" name="TextBox 3"/>
          <p:cNvSpPr txBox="1"/>
          <p:nvPr/>
        </p:nvSpPr>
        <p:spPr>
          <a:xfrm>
            <a:off x="548640" y="1554480"/>
            <a:ext cx="11091672" cy="640080"/>
          </a:xfrm>
          <a:prstGeom prst="rect">
            <a:avLst/>
          </a:prstGeom>
          <a:noFill/>
        </p:spPr>
        <p:txBody>
          <a:bodyPr wrap="square" anchor="t">
            <a:spAutoFit/>
          </a:bodyPr>
          <a:lstStyle/>
          <a:p>
            <a:pPr algn="l"/>
            <a:r>
              <a:rPr sz="1600" b="0" i="0">
                <a:solidFill>
                  <a:srgbClr val="2A2A28"/>
                </a:solidFill>
                <a:latin typeface="Inter"/>
              </a:rPr>
              <a:t>A machine that cannot read your page does not file a support ticket.</a:t>
            </a:r>
          </a:p>
        </p:txBody>
      </p:sp>
      <p:sp>
        <p:nvSpPr>
          <p:cNvPr id="5" name="TextBox 4"/>
          <p:cNvSpPr txBox="1"/>
          <p:nvPr/>
        </p:nvSpPr>
        <p:spPr>
          <a:xfrm>
            <a:off x="548640" y="2286000"/>
            <a:ext cx="11091672" cy="3657600"/>
          </a:xfrm>
          <a:prstGeom prst="rect">
            <a:avLst/>
          </a:prstGeom>
          <a:noFill/>
        </p:spPr>
        <p:txBody>
          <a:bodyPr wrap="square" anchor="t">
            <a:spAutoFit/>
          </a:bodyPr>
          <a:lstStyle/>
          <a:p>
            <a:pPr algn="l"/>
            <a:r>
              <a:rPr sz="1500" b="0" i="0">
                <a:solidFill>
                  <a:srgbClr val="1A1A1A"/>
                </a:solidFill>
                <a:latin typeface="Inter"/>
              </a:rPr>
              <a:t>•  It does not abandon a visible cart. It does not generate a bounce in analytics.
•  It simply stops  -  and the revenue never existed in your reports.
•  CAPTCHAs that vanish before a machine can read them. Forms that appear to submit whilst silently failing. State changes shown only as colour changes that carry no semantic meaning.</a:t>
            </a:r>
          </a:p>
        </p:txBody>
      </p:sp>
      <p:sp>
        <p:nvSpPr>
          <p:cNvPr id="6" name="TextBox 5"/>
          <p:cNvSpPr txBox="1"/>
          <p:nvPr/>
        </p:nvSpPr>
        <p:spPr>
          <a:xfrm>
            <a:off x="548640" y="5943600"/>
            <a:ext cx="11091672" cy="365760"/>
          </a:xfrm>
          <a:prstGeom prst="rect">
            <a:avLst/>
          </a:prstGeom>
          <a:noFill/>
        </p:spPr>
        <p:txBody>
          <a:bodyPr wrap="square" anchor="t">
            <a:spAutoFit/>
          </a:bodyPr>
          <a:lstStyle/>
          <a:p>
            <a:pPr algn="l"/>
            <a:r>
              <a:rPr sz="1500" b="1" i="0">
                <a:solidFill>
                  <a:srgbClr val="C8482B"/>
                </a:solidFill>
                <a:latin typeface="Inter"/>
              </a:rPr>
              <a:t>You cannot measure what you cannot see. The losses are real; the reporting is blind.</a:t>
            </a:r>
          </a:p>
        </p:txBody>
      </p:sp>
      <p:sp>
        <p:nvSpPr>
          <p:cNvPr id="7" name="TextBox 6"/>
          <p:cNvSpPr txBox="1"/>
          <p:nvPr/>
        </p:nvSpPr>
        <p:spPr>
          <a:xfrm>
            <a:off x="548640" y="6400800"/>
            <a:ext cx="11091672" cy="365760"/>
          </a:xfrm>
          <a:prstGeom prst="rect">
            <a:avLst/>
          </a:prstGeom>
          <a:noFill/>
        </p:spPr>
        <p:txBody>
          <a:bodyPr wrap="square" anchor="t">
            <a:spAutoFit/>
          </a:bodyPr>
          <a:lstStyle/>
          <a:p>
            <a:pPr algn="l"/>
            <a:r>
              <a:rPr sz="900" b="0" i="0">
                <a:solidFill>
                  <a:srgbClr val="555555"/>
                </a:solidFill>
                <a:latin typeface="JetBrains Mono"/>
              </a:rPr>
              <a:t>TOM CRANSTOUN · CMS SUMMIT FRANKFURT 2026</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65760"/>
            <a:ext cx="11091672" cy="365760"/>
          </a:xfrm>
          <a:prstGeom prst="rect">
            <a:avLst/>
          </a:prstGeom>
          <a:noFill/>
        </p:spPr>
        <p:txBody>
          <a:bodyPr wrap="square" anchor="t">
            <a:spAutoFit/>
          </a:bodyPr>
          <a:lstStyle/>
          <a:p>
            <a:pPr algn="r"/>
            <a:r>
              <a:rPr sz="1000" b="0" i="0">
                <a:solidFill>
                  <a:srgbClr val="555555"/>
                </a:solidFill>
                <a:latin typeface="JetBrains Mono"/>
              </a:rPr>
              <a:t>06 / 21</a:t>
            </a:r>
          </a:p>
        </p:txBody>
      </p:sp>
      <p:sp>
        <p:nvSpPr>
          <p:cNvPr id="3" name="TextBox 2"/>
          <p:cNvSpPr txBox="1"/>
          <p:nvPr/>
        </p:nvSpPr>
        <p:spPr>
          <a:xfrm>
            <a:off x="548640" y="548640"/>
            <a:ext cx="11091672" cy="822960"/>
          </a:xfrm>
          <a:prstGeom prst="rect">
            <a:avLst/>
          </a:prstGeom>
          <a:noFill/>
        </p:spPr>
        <p:txBody>
          <a:bodyPr wrap="square" anchor="t">
            <a:spAutoFit/>
          </a:bodyPr>
          <a:lstStyle/>
          <a:p>
            <a:pPr algn="l"/>
            <a:r>
              <a:rPr sz="2800" b="0" i="0">
                <a:solidFill>
                  <a:srgbClr val="1A1A1A"/>
                </a:solidFill>
                <a:latin typeface="Source Serif 4"/>
              </a:rPr>
              <a:t>Machine Experience is the discipline for designing systems that machines consume correctly</a:t>
            </a:r>
          </a:p>
        </p:txBody>
      </p:sp>
      <p:sp>
        <p:nvSpPr>
          <p:cNvPr id="4" name="TextBox 3"/>
          <p:cNvSpPr txBox="1"/>
          <p:nvPr/>
        </p:nvSpPr>
        <p:spPr>
          <a:xfrm>
            <a:off x="548640" y="1554480"/>
            <a:ext cx="11091672" cy="640080"/>
          </a:xfrm>
          <a:prstGeom prst="rect">
            <a:avLst/>
          </a:prstGeom>
          <a:noFill/>
        </p:spPr>
        <p:txBody>
          <a:bodyPr wrap="square" anchor="t">
            <a:spAutoFit/>
          </a:bodyPr>
          <a:lstStyle/>
          <a:p>
            <a:pPr algn="l"/>
            <a:r>
              <a:rPr sz="1600" b="0" i="0">
                <a:solidFill>
                  <a:srgbClr val="2A2A28"/>
                </a:solidFill>
                <a:latin typeface="Inter"/>
              </a:rPr>
              <a:t>Same surface as UX. Different consumer.</a:t>
            </a:r>
          </a:p>
        </p:txBody>
      </p:sp>
      <p:sp>
        <p:nvSpPr>
          <p:cNvPr id="5" name="TextBox 4"/>
          <p:cNvSpPr txBox="1"/>
          <p:nvPr/>
        </p:nvSpPr>
        <p:spPr>
          <a:xfrm>
            <a:off x="548640" y="2286000"/>
            <a:ext cx="11091672" cy="3657600"/>
          </a:xfrm>
          <a:prstGeom prst="rect">
            <a:avLst/>
          </a:prstGeom>
          <a:noFill/>
        </p:spPr>
        <p:txBody>
          <a:bodyPr wrap="square" anchor="t">
            <a:spAutoFit/>
          </a:bodyPr>
          <a:lstStyle/>
          <a:p>
            <a:pPr algn="l"/>
            <a:r>
              <a:rPr sz="1500" b="0" i="0">
                <a:solidFill>
                  <a:srgbClr val="1A1A1A"/>
                </a:solidFill>
                <a:latin typeface="Inter"/>
              </a:rPr>
              <a:t>•  A site that works well for a human can be illegible to a machine.
•  A site structured for a machine can still confuse a person.</a:t>
            </a:r>
          </a:p>
        </p:txBody>
      </p:sp>
      <p:sp>
        <p:nvSpPr>
          <p:cNvPr id="6" name="TextBox 5"/>
          <p:cNvSpPr txBox="1"/>
          <p:nvPr/>
        </p:nvSpPr>
        <p:spPr>
          <a:xfrm>
            <a:off x="548640" y="5943600"/>
            <a:ext cx="11091672" cy="365760"/>
          </a:xfrm>
          <a:prstGeom prst="rect">
            <a:avLst/>
          </a:prstGeom>
          <a:noFill/>
        </p:spPr>
        <p:txBody>
          <a:bodyPr wrap="square" anchor="t">
            <a:spAutoFit/>
          </a:bodyPr>
          <a:lstStyle/>
          <a:p>
            <a:pPr algn="l"/>
            <a:r>
              <a:rPr sz="1500" b="1" i="0">
                <a:solidFill>
                  <a:srgbClr val="C8482B"/>
                </a:solidFill>
                <a:latin typeface="Inter"/>
              </a:rPr>
              <a:t>These are not the same problem. MX sits alongside UX  -  not under it.</a:t>
            </a:r>
          </a:p>
        </p:txBody>
      </p:sp>
      <p:sp>
        <p:nvSpPr>
          <p:cNvPr id="7" name="TextBox 6"/>
          <p:cNvSpPr txBox="1"/>
          <p:nvPr/>
        </p:nvSpPr>
        <p:spPr>
          <a:xfrm>
            <a:off x="548640" y="6400800"/>
            <a:ext cx="11091672" cy="365760"/>
          </a:xfrm>
          <a:prstGeom prst="rect">
            <a:avLst/>
          </a:prstGeom>
          <a:noFill/>
        </p:spPr>
        <p:txBody>
          <a:bodyPr wrap="square" anchor="t">
            <a:spAutoFit/>
          </a:bodyPr>
          <a:lstStyle/>
          <a:p>
            <a:pPr algn="l"/>
            <a:r>
              <a:rPr sz="900" b="0" i="0">
                <a:solidFill>
                  <a:srgbClr val="555555"/>
                </a:solidFill>
                <a:latin typeface="JetBrains Mono"/>
              </a:rPr>
              <a:t>TOM CRANSTOUN · CMS SUMMIT FRANKFURT 2026</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65760"/>
            <a:ext cx="11091672" cy="365760"/>
          </a:xfrm>
          <a:prstGeom prst="rect">
            <a:avLst/>
          </a:prstGeom>
          <a:noFill/>
        </p:spPr>
        <p:txBody>
          <a:bodyPr wrap="square" anchor="t">
            <a:spAutoFit/>
          </a:bodyPr>
          <a:lstStyle/>
          <a:p>
            <a:pPr algn="r"/>
            <a:r>
              <a:rPr sz="1000" b="0" i="0">
                <a:solidFill>
                  <a:srgbClr val="555555"/>
                </a:solidFill>
                <a:latin typeface="JetBrains Mono"/>
              </a:rPr>
              <a:t>07 / 21</a:t>
            </a:r>
          </a:p>
        </p:txBody>
      </p:sp>
      <p:sp>
        <p:nvSpPr>
          <p:cNvPr id="3" name="TextBox 2"/>
          <p:cNvSpPr txBox="1"/>
          <p:nvPr/>
        </p:nvSpPr>
        <p:spPr>
          <a:xfrm>
            <a:off x="548640" y="548640"/>
            <a:ext cx="11091672" cy="822960"/>
          </a:xfrm>
          <a:prstGeom prst="rect">
            <a:avLst/>
          </a:prstGeom>
          <a:noFill/>
        </p:spPr>
        <p:txBody>
          <a:bodyPr wrap="square" anchor="t">
            <a:spAutoFit/>
          </a:bodyPr>
          <a:lstStyle/>
          <a:p>
            <a:pPr algn="l"/>
            <a:r>
              <a:rPr sz="2800" b="0" i="0">
                <a:solidFill>
                  <a:srgbClr val="1A1A1A"/>
                </a:solidFill>
                <a:latin typeface="Source Serif 4"/>
              </a:rPr>
              <a:t>Four working principles</a:t>
            </a:r>
          </a:p>
        </p:txBody>
      </p:sp>
      <p:sp>
        <p:nvSpPr>
          <p:cNvPr id="4" name="TextBox 3"/>
          <p:cNvSpPr txBox="1"/>
          <p:nvPr/>
        </p:nvSpPr>
        <p:spPr>
          <a:xfrm>
            <a:off x="548640" y="1554480"/>
            <a:ext cx="11091672" cy="640080"/>
          </a:xfrm>
          <a:prstGeom prst="rect">
            <a:avLst/>
          </a:prstGeom>
          <a:noFill/>
        </p:spPr>
        <p:txBody>
          <a:bodyPr wrap="square" anchor="t">
            <a:spAutoFit/>
          </a:bodyPr>
          <a:lstStyle/>
          <a:p>
            <a:pPr algn="l"/>
            <a:r>
              <a:rPr sz="1600" b="0" i="0">
                <a:solidFill>
                  <a:srgbClr val="2A2A28"/>
                </a:solidFill>
                <a:latin typeface="Inter"/>
              </a:rPr>
              <a:t>Design for the most constrained machine and every machine benefits.</a:t>
            </a:r>
          </a:p>
        </p:txBody>
      </p:sp>
      <p:sp>
        <p:nvSpPr>
          <p:cNvPr id="5" name="TextBox 4"/>
          <p:cNvSpPr txBox="1"/>
          <p:nvPr/>
        </p:nvSpPr>
        <p:spPr>
          <a:xfrm>
            <a:off x="548640" y="2286000"/>
            <a:ext cx="11091672" cy="3657600"/>
          </a:xfrm>
          <a:prstGeom prst="rect">
            <a:avLst/>
          </a:prstGeom>
          <a:noFill/>
        </p:spPr>
        <p:txBody>
          <a:bodyPr wrap="square" anchor="t">
            <a:spAutoFit/>
          </a:bodyPr>
          <a:lstStyle/>
          <a:p>
            <a:pPr algn="l"/>
            <a:r>
              <a:rPr sz="1500" b="0" i="0">
                <a:solidFill>
                  <a:srgbClr val="1A1A1A"/>
                </a:solidFill>
                <a:latin typeface="Inter"/>
              </a:rPr>
              <a:t>The objection: "AI will get better." Foundation models will. But the machine universe is also expanding: SMOL models are coming to every phone, robots are reading maintenance manuals, autonomous vehicles are parsing safety procedures, industrial systems are consuming manufacturing specs in real time. The trend runs toward more machine classes reading what you publish, not fewer.</a:t>
            </a:r>
          </a:p>
        </p:txBody>
      </p:sp>
      <p:sp>
        <p:nvSpPr>
          <p:cNvPr id="6" name="TextBox 5"/>
          <p:cNvSpPr txBox="1"/>
          <p:nvPr/>
        </p:nvSpPr>
        <p:spPr>
          <a:xfrm>
            <a:off x="548640" y="5943600"/>
            <a:ext cx="11091672" cy="365760"/>
          </a:xfrm>
          <a:prstGeom prst="rect">
            <a:avLst/>
          </a:prstGeom>
          <a:noFill/>
        </p:spPr>
        <p:txBody>
          <a:bodyPr wrap="square" anchor="t">
            <a:spAutoFit/>
          </a:bodyPr>
          <a:lstStyle/>
          <a:p>
            <a:pPr algn="l"/>
            <a:r>
              <a:rPr sz="1500" b="1" i="0">
                <a:solidFill>
                  <a:srgbClr val="C8482B"/>
                </a:solidFill>
                <a:latin typeface="Inter"/>
              </a:rPr>
              <a:t/>
            </a:r>
          </a:p>
        </p:txBody>
      </p:sp>
      <p:sp>
        <p:nvSpPr>
          <p:cNvPr id="7" name="TextBox 6"/>
          <p:cNvSpPr txBox="1"/>
          <p:nvPr/>
        </p:nvSpPr>
        <p:spPr>
          <a:xfrm>
            <a:off x="548640" y="6400800"/>
            <a:ext cx="11091672" cy="365760"/>
          </a:xfrm>
          <a:prstGeom prst="rect">
            <a:avLst/>
          </a:prstGeom>
          <a:noFill/>
        </p:spPr>
        <p:txBody>
          <a:bodyPr wrap="square" anchor="t">
            <a:spAutoFit/>
          </a:bodyPr>
          <a:lstStyle/>
          <a:p>
            <a:pPr algn="l"/>
            <a:r>
              <a:rPr sz="900" b="0" i="0">
                <a:solidFill>
                  <a:srgbClr val="555555"/>
                </a:solidFill>
                <a:latin typeface="JetBrains Mono"/>
              </a:rPr>
              <a:t>TOM CRANSTOUN · CMS SUMMIT FRANKFURT 2026</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65760"/>
            <a:ext cx="11091672" cy="365760"/>
          </a:xfrm>
          <a:prstGeom prst="rect">
            <a:avLst/>
          </a:prstGeom>
          <a:noFill/>
        </p:spPr>
        <p:txBody>
          <a:bodyPr wrap="square" anchor="t">
            <a:spAutoFit/>
          </a:bodyPr>
          <a:lstStyle/>
          <a:p>
            <a:pPr algn="r"/>
            <a:r>
              <a:rPr sz="1000" b="0" i="0">
                <a:solidFill>
                  <a:srgbClr val="555555"/>
                </a:solidFill>
                <a:latin typeface="JetBrains Mono"/>
              </a:rPr>
              <a:t>08 / 21</a:t>
            </a:r>
          </a:p>
        </p:txBody>
      </p:sp>
      <p:sp>
        <p:nvSpPr>
          <p:cNvPr id="3" name="TextBox 2"/>
          <p:cNvSpPr txBox="1"/>
          <p:nvPr/>
        </p:nvSpPr>
        <p:spPr>
          <a:xfrm>
            <a:off x="548640" y="548640"/>
            <a:ext cx="11091672" cy="822960"/>
          </a:xfrm>
          <a:prstGeom prst="rect">
            <a:avLst/>
          </a:prstGeom>
          <a:noFill/>
        </p:spPr>
        <p:txBody>
          <a:bodyPr wrap="square" anchor="t">
            <a:spAutoFit/>
          </a:bodyPr>
          <a:lstStyle/>
          <a:p>
            <a:pPr algn="l"/>
            <a:r>
              <a:rPr sz="2800" b="0" i="0">
                <a:solidFill>
                  <a:srgbClr val="1A1A1A"/>
                </a:solidFill>
                <a:latin typeface="Source Serif 4"/>
              </a:rPr>
              <a:t>Three layers do most of the work</a:t>
            </a:r>
          </a:p>
        </p:txBody>
      </p:sp>
      <p:sp>
        <p:nvSpPr>
          <p:cNvPr id="4" name="TextBox 3"/>
          <p:cNvSpPr txBox="1"/>
          <p:nvPr/>
        </p:nvSpPr>
        <p:spPr>
          <a:xfrm>
            <a:off x="548640" y="1554480"/>
            <a:ext cx="11091672" cy="548640"/>
          </a:xfrm>
          <a:prstGeom prst="rect">
            <a:avLst/>
          </a:prstGeom>
          <a:noFill/>
        </p:spPr>
        <p:txBody>
          <a:bodyPr wrap="square" anchor="t">
            <a:spAutoFit/>
          </a:bodyPr>
          <a:lstStyle/>
          <a:p>
            <a:pPr algn="l"/>
            <a:r>
              <a:rPr sz="1600" b="0" i="0">
                <a:solidFill>
                  <a:srgbClr val="2A2A28"/>
                </a:solidFill>
                <a:latin typeface="Inter"/>
              </a:rPr>
              <a:t/>
            </a:r>
          </a:p>
        </p:txBody>
      </p:sp>
      <p:sp>
        <p:nvSpPr>
          <p:cNvPr id="5" name="TextBox 4"/>
          <p:cNvSpPr txBox="1"/>
          <p:nvPr/>
        </p:nvSpPr>
        <p:spPr>
          <a:xfrm>
            <a:off x="548640" y="2194560"/>
            <a:ext cx="11091672" cy="3657600"/>
          </a:xfrm>
          <a:prstGeom prst="rect">
            <a:avLst/>
          </a:prstGeom>
          <a:noFill/>
        </p:spPr>
        <p:txBody>
          <a:bodyPr wrap="square" anchor="t">
            <a:spAutoFit/>
          </a:bodyPr>
          <a:lstStyle/>
          <a:p>
            <a:pPr algn="l"/>
            <a:r>
              <a:rPr sz="1200" b="0" i="0">
                <a:solidFill>
                  <a:srgbClr val="1A1A1A"/>
                </a:solidFill>
                <a:latin typeface="JetBrains Mono"/>
              </a:rPr>
              <a:t>Layer      Vocabulary  Role                                                                                            
---------  ----------  ------------------------------------------------------------------------------------------------
Authoring  YAML        Typed metadata declared once. Feeds sitemap, JSON-LD, Open Graph, social cards.                 
Citation   JSON-LD     Schema.org in the page head. What aggregators and LLMs read at retrieval time.                  
Inline     Microdata   Structure on the HTML elements authors write. Where editorial content needs marking up directly.</a:t>
            </a:r>
          </a:p>
        </p:txBody>
      </p:sp>
      <p:sp>
        <p:nvSpPr>
          <p:cNvPr id="6" name="TextBox 5"/>
          <p:cNvSpPr txBox="1"/>
          <p:nvPr/>
        </p:nvSpPr>
        <p:spPr>
          <a:xfrm>
            <a:off x="548640" y="5943600"/>
            <a:ext cx="11091672" cy="365760"/>
          </a:xfrm>
          <a:prstGeom prst="rect">
            <a:avLst/>
          </a:prstGeom>
          <a:noFill/>
        </p:spPr>
        <p:txBody>
          <a:bodyPr wrap="square" anchor="t">
            <a:spAutoFit/>
          </a:bodyPr>
          <a:lstStyle/>
          <a:p>
            <a:pPr algn="l"/>
            <a:r>
              <a:rPr sz="1400" b="1" i="0">
                <a:solidFill>
                  <a:srgbClr val="C8482B"/>
                </a:solidFill>
                <a:latin typeface="Inter"/>
              </a:rPr>
              <a:t/>
            </a:r>
          </a:p>
        </p:txBody>
      </p:sp>
      <p:sp>
        <p:nvSpPr>
          <p:cNvPr id="7" name="TextBox 6"/>
          <p:cNvSpPr txBox="1"/>
          <p:nvPr/>
        </p:nvSpPr>
        <p:spPr>
          <a:xfrm>
            <a:off x="548640" y="6400800"/>
            <a:ext cx="11091672" cy="365760"/>
          </a:xfrm>
          <a:prstGeom prst="rect">
            <a:avLst/>
          </a:prstGeom>
          <a:noFill/>
        </p:spPr>
        <p:txBody>
          <a:bodyPr wrap="square" anchor="t">
            <a:spAutoFit/>
          </a:bodyPr>
          <a:lstStyle/>
          <a:p>
            <a:pPr algn="l"/>
            <a:r>
              <a:rPr sz="900" b="0" i="0">
                <a:solidFill>
                  <a:srgbClr val="555555"/>
                </a:solidFill>
                <a:latin typeface="JetBrains Mono"/>
              </a:rPr>
              <a:t>TOM CRANSTOUN · CMS SUMMIT FRANKFURT 2026</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65760"/>
            <a:ext cx="11091672" cy="365760"/>
          </a:xfrm>
          <a:prstGeom prst="rect">
            <a:avLst/>
          </a:prstGeom>
          <a:noFill/>
        </p:spPr>
        <p:txBody>
          <a:bodyPr wrap="square" anchor="t">
            <a:spAutoFit/>
          </a:bodyPr>
          <a:lstStyle/>
          <a:p>
            <a:pPr algn="r"/>
            <a:r>
              <a:rPr sz="1000" b="0" i="0">
                <a:solidFill>
                  <a:srgbClr val="555555"/>
                </a:solidFill>
                <a:latin typeface="JetBrains Mono"/>
              </a:rPr>
              <a:t>09 / 21</a:t>
            </a:r>
          </a:p>
        </p:txBody>
      </p:sp>
      <p:sp>
        <p:nvSpPr>
          <p:cNvPr id="3" name="TextBox 2"/>
          <p:cNvSpPr txBox="1"/>
          <p:nvPr/>
        </p:nvSpPr>
        <p:spPr>
          <a:xfrm>
            <a:off x="548640" y="548640"/>
            <a:ext cx="11091672" cy="822960"/>
          </a:xfrm>
          <a:prstGeom prst="rect">
            <a:avLst/>
          </a:prstGeom>
          <a:noFill/>
        </p:spPr>
        <p:txBody>
          <a:bodyPr wrap="square" anchor="t">
            <a:spAutoFit/>
          </a:bodyPr>
          <a:lstStyle/>
          <a:p>
            <a:pPr algn="l"/>
            <a:r>
              <a:rPr sz="2800" b="0" i="0">
                <a:solidFill>
                  <a:srgbClr val="1A1A1A"/>
                </a:solidFill>
                <a:latin typeface="Source Serif 4"/>
              </a:rPr>
              <a:t>A worked example  -  leica-microsystems.com</a:t>
            </a:r>
          </a:p>
        </p:txBody>
      </p:sp>
      <p:sp>
        <p:nvSpPr>
          <p:cNvPr id="4" name="TextBox 3"/>
          <p:cNvSpPr txBox="1"/>
          <p:nvPr/>
        </p:nvSpPr>
        <p:spPr>
          <a:xfrm>
            <a:off x="548640" y="1554480"/>
            <a:ext cx="11091672" cy="640080"/>
          </a:xfrm>
          <a:prstGeom prst="rect">
            <a:avLst/>
          </a:prstGeom>
          <a:noFill/>
        </p:spPr>
        <p:txBody>
          <a:bodyPr wrap="square" anchor="t">
            <a:spAutoFit/>
          </a:bodyPr>
          <a:lstStyle/>
          <a:p>
            <a:pPr algn="l"/>
            <a:r>
              <a:rPr sz="1600" b="0" i="0">
                <a:solidFill>
                  <a:srgbClr val="2A2A28"/>
                </a:solidFill>
                <a:latin typeface="Inter"/>
              </a:rPr>
              <a:t>A real TYPO3 site, one hour from here.</a:t>
            </a:r>
          </a:p>
        </p:txBody>
      </p:sp>
      <p:sp>
        <p:nvSpPr>
          <p:cNvPr id="5" name="TextBox 4"/>
          <p:cNvSpPr txBox="1"/>
          <p:nvPr/>
        </p:nvSpPr>
        <p:spPr>
          <a:xfrm>
            <a:off x="548640" y="2286000"/>
            <a:ext cx="11091672" cy="3657600"/>
          </a:xfrm>
          <a:prstGeom prst="rect">
            <a:avLst/>
          </a:prstGeom>
          <a:noFill/>
        </p:spPr>
        <p:txBody>
          <a:bodyPr wrap="square" anchor="t">
            <a:spAutoFit/>
          </a:bodyPr>
          <a:lstStyle/>
          <a:p>
            <a:pPr algn="l"/>
            <a:r>
              <a:rPr sz="1500" b="0" i="0">
                <a:solidFill>
                  <a:srgbClr val="1A1A1A"/>
                </a:solidFill>
                <a:latin typeface="Inter"/>
              </a:rPr>
              <a:t>•  Global scientific instruments company · Danaher subsidiary · HQ Wetzlar
•  Confirmed TYPO3 install · Ten locales
•  Long-form scientific education content written by application scientists
It is also the kind a machine can misread without structural binding.</a:t>
            </a:r>
          </a:p>
        </p:txBody>
      </p:sp>
      <p:sp>
        <p:nvSpPr>
          <p:cNvPr id="6" name="TextBox 5"/>
          <p:cNvSpPr txBox="1"/>
          <p:nvPr/>
        </p:nvSpPr>
        <p:spPr>
          <a:xfrm>
            <a:off x="548640" y="5943600"/>
            <a:ext cx="11091672" cy="365760"/>
          </a:xfrm>
          <a:prstGeom prst="rect">
            <a:avLst/>
          </a:prstGeom>
          <a:noFill/>
        </p:spPr>
        <p:txBody>
          <a:bodyPr wrap="square" anchor="t">
            <a:spAutoFit/>
          </a:bodyPr>
          <a:lstStyle/>
          <a:p>
            <a:pPr algn="l"/>
            <a:r>
              <a:rPr sz="1500" b="1" i="0">
                <a:solidFill>
                  <a:srgbClr val="C8482B"/>
                </a:solidFill>
                <a:latin typeface="Inter"/>
              </a:rPr>
              <a:t>This is the kind of content an AI assistant should cite.</a:t>
            </a:r>
          </a:p>
        </p:txBody>
      </p:sp>
      <p:sp>
        <p:nvSpPr>
          <p:cNvPr id="7" name="TextBox 6"/>
          <p:cNvSpPr txBox="1"/>
          <p:nvPr/>
        </p:nvSpPr>
        <p:spPr>
          <a:xfrm>
            <a:off x="548640" y="6400800"/>
            <a:ext cx="11091672" cy="365760"/>
          </a:xfrm>
          <a:prstGeom prst="rect">
            <a:avLst/>
          </a:prstGeom>
          <a:noFill/>
        </p:spPr>
        <p:txBody>
          <a:bodyPr wrap="square" anchor="t">
            <a:spAutoFit/>
          </a:bodyPr>
          <a:lstStyle/>
          <a:p>
            <a:pPr algn="l"/>
            <a:r>
              <a:rPr sz="900" b="0" i="0">
                <a:solidFill>
                  <a:srgbClr val="555555"/>
                </a:solidFill>
                <a:latin typeface="JetBrains Mono"/>
              </a:rPr>
              <a:t>TOM CRANSTOUN · CMS SUMMIT FRANKFURT 2026</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65760"/>
            <a:ext cx="11091672" cy="365760"/>
          </a:xfrm>
          <a:prstGeom prst="rect">
            <a:avLst/>
          </a:prstGeom>
          <a:noFill/>
        </p:spPr>
        <p:txBody>
          <a:bodyPr wrap="square" anchor="t">
            <a:spAutoFit/>
          </a:bodyPr>
          <a:lstStyle/>
          <a:p>
            <a:pPr algn="r"/>
            <a:r>
              <a:rPr sz="1000" b="0" i="0">
                <a:solidFill>
                  <a:srgbClr val="555555"/>
                </a:solidFill>
                <a:latin typeface="JetBrains Mono"/>
              </a:rPr>
              <a:t>10 / 21</a:t>
            </a:r>
          </a:p>
        </p:txBody>
      </p:sp>
      <p:sp>
        <p:nvSpPr>
          <p:cNvPr id="3" name="TextBox 2"/>
          <p:cNvSpPr txBox="1"/>
          <p:nvPr/>
        </p:nvSpPr>
        <p:spPr>
          <a:xfrm>
            <a:off x="548640" y="548640"/>
            <a:ext cx="11091672" cy="822960"/>
          </a:xfrm>
          <a:prstGeom prst="rect">
            <a:avLst/>
          </a:prstGeom>
          <a:noFill/>
        </p:spPr>
        <p:txBody>
          <a:bodyPr wrap="square" anchor="t">
            <a:spAutoFit/>
          </a:bodyPr>
          <a:lstStyle/>
          <a:p>
            <a:pPr algn="l"/>
            <a:r>
              <a:rPr sz="2800" b="0" i="0">
                <a:solidFill>
                  <a:srgbClr val="1A1A1A"/>
                </a:solidFill>
                <a:latin typeface="Source Serif 4"/>
              </a:rPr>
              <a:t>What the markup says</a:t>
            </a:r>
          </a:p>
        </p:txBody>
      </p:sp>
      <p:sp>
        <p:nvSpPr>
          <p:cNvPr id="4" name="TextBox 3"/>
          <p:cNvSpPr txBox="1"/>
          <p:nvPr/>
        </p:nvSpPr>
        <p:spPr>
          <a:xfrm>
            <a:off x="548640" y="1554480"/>
            <a:ext cx="11091672" cy="548640"/>
          </a:xfrm>
          <a:prstGeom prst="rect">
            <a:avLst/>
          </a:prstGeom>
          <a:noFill/>
        </p:spPr>
        <p:txBody>
          <a:bodyPr wrap="square" anchor="t">
            <a:spAutoFit/>
          </a:bodyPr>
          <a:lstStyle/>
          <a:p>
            <a:pPr algn="l"/>
            <a:r>
              <a:rPr sz="1600" b="0" i="0">
                <a:solidFill>
                  <a:srgbClr val="2A2A28"/>
                </a:solidFill>
                <a:latin typeface="Inter"/>
              </a:rPr>
              <a:t>That is all.</a:t>
            </a:r>
          </a:p>
        </p:txBody>
      </p:sp>
      <p:sp>
        <p:nvSpPr>
          <p:cNvPr id="5" name="TextBox 4"/>
          <p:cNvSpPr txBox="1"/>
          <p:nvPr/>
        </p:nvSpPr>
        <p:spPr>
          <a:xfrm>
            <a:off x="548640" y="2194560"/>
            <a:ext cx="11091672" cy="3657600"/>
          </a:xfrm>
          <a:prstGeom prst="rect">
            <a:avLst/>
          </a:prstGeom>
          <a:noFill/>
        </p:spPr>
        <p:txBody>
          <a:bodyPr wrap="square" anchor="t">
            <a:spAutoFit/>
          </a:bodyPr>
          <a:lstStyle/>
          <a:p>
            <a:pPr algn="l"/>
            <a:r>
              <a:rPr sz="1400" b="0" i="0">
                <a:solidFill>
                  <a:srgbClr val="1A1A1A"/>
                </a:solidFill>
                <a:latin typeface="JetBrains Mono"/>
              </a:rPr>
              <a:t>{
  "@type": "WebPage",
  "url": "https://www.leica-microsystems.com/..."
}</a:t>
            </a:r>
          </a:p>
        </p:txBody>
      </p:sp>
      <p:sp>
        <p:nvSpPr>
          <p:cNvPr id="6" name="TextBox 5"/>
          <p:cNvSpPr txBox="1"/>
          <p:nvPr/>
        </p:nvSpPr>
        <p:spPr>
          <a:xfrm>
            <a:off x="548640" y="5943600"/>
            <a:ext cx="11091672" cy="365760"/>
          </a:xfrm>
          <a:prstGeom prst="rect">
            <a:avLst/>
          </a:prstGeom>
          <a:noFill/>
        </p:spPr>
        <p:txBody>
          <a:bodyPr wrap="square" anchor="t">
            <a:spAutoFit/>
          </a:bodyPr>
          <a:lstStyle/>
          <a:p>
            <a:pPr algn="l"/>
            <a:r>
              <a:rPr sz="1400" b="1" i="0">
                <a:solidFill>
                  <a:srgbClr val="C8482B"/>
                </a:solidFill>
                <a:latin typeface="Inter"/>
              </a:rPr>
              <a:t>Everything the machine needs to cite this article is already in the CMS. None of it is in the markup.</a:t>
            </a:r>
          </a:p>
        </p:txBody>
      </p:sp>
      <p:sp>
        <p:nvSpPr>
          <p:cNvPr id="7" name="TextBox 6"/>
          <p:cNvSpPr txBox="1"/>
          <p:nvPr/>
        </p:nvSpPr>
        <p:spPr>
          <a:xfrm>
            <a:off x="548640" y="6400800"/>
            <a:ext cx="11091672" cy="365760"/>
          </a:xfrm>
          <a:prstGeom prst="rect">
            <a:avLst/>
          </a:prstGeom>
          <a:noFill/>
        </p:spPr>
        <p:txBody>
          <a:bodyPr wrap="square" anchor="t">
            <a:spAutoFit/>
          </a:bodyPr>
          <a:lstStyle/>
          <a:p>
            <a:pPr algn="l"/>
            <a:r>
              <a:rPr sz="900" b="0" i="0">
                <a:solidFill>
                  <a:srgbClr val="555555"/>
                </a:solidFill>
                <a:latin typeface="JetBrains Mono"/>
              </a:rPr>
              <a:t>TOM CRANSTOUN · CMS SUMMIT FRANKFURT 2026</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65760"/>
            <a:ext cx="11091672" cy="365760"/>
          </a:xfrm>
          <a:prstGeom prst="rect">
            <a:avLst/>
          </a:prstGeom>
          <a:noFill/>
        </p:spPr>
        <p:txBody>
          <a:bodyPr wrap="square" anchor="t">
            <a:spAutoFit/>
          </a:bodyPr>
          <a:lstStyle/>
          <a:p>
            <a:pPr algn="r"/>
            <a:r>
              <a:rPr sz="1000" b="0" i="0">
                <a:solidFill>
                  <a:srgbClr val="555555"/>
                </a:solidFill>
                <a:latin typeface="JetBrains Mono"/>
              </a:rPr>
              <a:t>11 / 21</a:t>
            </a:r>
          </a:p>
        </p:txBody>
      </p:sp>
      <p:sp>
        <p:nvSpPr>
          <p:cNvPr id="3" name="TextBox 2"/>
          <p:cNvSpPr txBox="1"/>
          <p:nvPr/>
        </p:nvSpPr>
        <p:spPr>
          <a:xfrm>
            <a:off x="548640" y="548640"/>
            <a:ext cx="11091672" cy="822960"/>
          </a:xfrm>
          <a:prstGeom prst="rect">
            <a:avLst/>
          </a:prstGeom>
          <a:noFill/>
        </p:spPr>
        <p:txBody>
          <a:bodyPr wrap="square" anchor="t">
            <a:spAutoFit/>
          </a:bodyPr>
          <a:lstStyle/>
          <a:p>
            <a:pPr algn="l"/>
            <a:r>
              <a:rPr sz="2800" b="0" i="0">
                <a:solidFill>
                  <a:srgbClr val="1A1A1A"/>
                </a:solidFill>
                <a:latin typeface="Source Serif 4"/>
              </a:rPr>
              <a:t>MX audit scores</a:t>
            </a:r>
          </a:p>
        </p:txBody>
      </p:sp>
      <p:sp>
        <p:nvSpPr>
          <p:cNvPr id="4" name="TextBox 3"/>
          <p:cNvSpPr txBox="1"/>
          <p:nvPr/>
        </p:nvSpPr>
        <p:spPr>
          <a:xfrm>
            <a:off x="548640" y="1554480"/>
            <a:ext cx="11091672" cy="548640"/>
          </a:xfrm>
          <a:prstGeom prst="rect">
            <a:avLst/>
          </a:prstGeom>
          <a:noFill/>
        </p:spPr>
        <p:txBody>
          <a:bodyPr wrap="square" anchor="t">
            <a:spAutoFit/>
          </a:bodyPr>
          <a:lstStyle/>
          <a:p>
            <a:pPr algn="l"/>
            <a:r>
              <a:rPr sz="1600" b="0" i="0">
                <a:solidFill>
                  <a:srgbClr val="2A2A28"/>
                </a:solidFill>
                <a:latin typeface="Inter"/>
              </a:rPr>
              <a:t>SEO is strong  -  TYPO3 handles technical SEO well. The MX layer is absent. The accessibility 0 comes from the same gap.</a:t>
            </a:r>
          </a:p>
        </p:txBody>
      </p:sp>
      <p:sp>
        <p:nvSpPr>
          <p:cNvPr id="5" name="TextBox 4"/>
          <p:cNvSpPr txBox="1"/>
          <p:nvPr/>
        </p:nvSpPr>
        <p:spPr>
          <a:xfrm>
            <a:off x="548640" y="2194560"/>
            <a:ext cx="11091672" cy="3657600"/>
          </a:xfrm>
          <a:prstGeom prst="rect">
            <a:avLst/>
          </a:prstGeom>
          <a:noFill/>
        </p:spPr>
        <p:txBody>
          <a:bodyPr wrap="square" anchor="t">
            <a:spAutoFit/>
          </a:bodyPr>
          <a:lstStyle/>
          <a:p>
            <a:pPr algn="l"/>
            <a:r>
              <a:rPr sz="1200" b="0" i="0">
                <a:solidFill>
                  <a:srgbClr val="1A1A1A"/>
                </a:solidFill>
                <a:latin typeface="JetBrains Mono"/>
              </a:rPr>
              <a:t>Metric                             Score        
---------------------------------  -------------
Discovery Readiness                25 / 100     
Structured Data Quality (SDQ)      40 / 100     
Metadata Stack Completeness (MSC)  50 / 100     
Semantic Ratio                     2–13 %       
SEO                                89–93 / 100 ✓
Accessibility                      0 / 100 ✗    </a:t>
            </a:r>
          </a:p>
        </p:txBody>
      </p:sp>
      <p:sp>
        <p:nvSpPr>
          <p:cNvPr id="6" name="TextBox 5"/>
          <p:cNvSpPr txBox="1"/>
          <p:nvPr/>
        </p:nvSpPr>
        <p:spPr>
          <a:xfrm>
            <a:off x="548640" y="5943600"/>
            <a:ext cx="11091672" cy="365760"/>
          </a:xfrm>
          <a:prstGeom prst="rect">
            <a:avLst/>
          </a:prstGeom>
          <a:noFill/>
        </p:spPr>
        <p:txBody>
          <a:bodyPr wrap="square" anchor="t">
            <a:spAutoFit/>
          </a:bodyPr>
          <a:lstStyle/>
          <a:p>
            <a:pPr algn="l"/>
            <a:r>
              <a:rPr sz="1400" b="1" i="0">
                <a:solidFill>
                  <a:srgbClr val="C8482B"/>
                </a:solidFill>
                <a:latin typeface="Inter"/>
              </a:rPr>
              <a:t/>
            </a:r>
          </a:p>
        </p:txBody>
      </p:sp>
      <p:sp>
        <p:nvSpPr>
          <p:cNvPr id="7" name="TextBox 6"/>
          <p:cNvSpPr txBox="1"/>
          <p:nvPr/>
        </p:nvSpPr>
        <p:spPr>
          <a:xfrm>
            <a:off x="548640" y="6400800"/>
            <a:ext cx="11091672" cy="365760"/>
          </a:xfrm>
          <a:prstGeom prst="rect">
            <a:avLst/>
          </a:prstGeom>
          <a:noFill/>
        </p:spPr>
        <p:txBody>
          <a:bodyPr wrap="square" anchor="t">
            <a:spAutoFit/>
          </a:bodyPr>
          <a:lstStyle/>
          <a:p>
            <a:pPr algn="l"/>
            <a:r>
              <a:rPr sz="900" b="0" i="0">
                <a:solidFill>
                  <a:srgbClr val="555555"/>
                </a:solidFill>
                <a:latin typeface="JetBrains Mono"/>
              </a:rPr>
              <a:t>TOM CRANSTOUN · CMS SUMMIT FRANKFURT 2026</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65760"/>
            <a:ext cx="11091672" cy="365760"/>
          </a:xfrm>
          <a:prstGeom prst="rect">
            <a:avLst/>
          </a:prstGeom>
          <a:noFill/>
        </p:spPr>
        <p:txBody>
          <a:bodyPr wrap="square" anchor="t">
            <a:spAutoFit/>
          </a:bodyPr>
          <a:lstStyle/>
          <a:p>
            <a:pPr algn="r"/>
            <a:r>
              <a:rPr sz="1000" b="0" i="0">
                <a:solidFill>
                  <a:srgbClr val="555555"/>
                </a:solidFill>
                <a:latin typeface="JetBrains Mono"/>
              </a:rPr>
              <a:t>12 / 21</a:t>
            </a:r>
          </a:p>
        </p:txBody>
      </p:sp>
      <p:sp>
        <p:nvSpPr>
          <p:cNvPr id="3" name="TextBox 2"/>
          <p:cNvSpPr txBox="1"/>
          <p:nvPr/>
        </p:nvSpPr>
        <p:spPr>
          <a:xfrm>
            <a:off x="548640" y="548640"/>
            <a:ext cx="11091672" cy="822960"/>
          </a:xfrm>
          <a:prstGeom prst="rect">
            <a:avLst/>
          </a:prstGeom>
          <a:noFill/>
        </p:spPr>
        <p:txBody>
          <a:bodyPr wrap="square" anchor="t">
            <a:spAutoFit/>
          </a:bodyPr>
          <a:lstStyle/>
          <a:p>
            <a:pPr algn="l"/>
            <a:r>
              <a:rPr sz="2800" b="0" i="0">
                <a:solidFill>
                  <a:srgbClr val="1A1A1A"/>
                </a:solidFill>
                <a:latin typeface="Source Serif 4"/>
              </a:rPr>
              <a:t>The MX Journey  -  Stage 2 is the bottleneck</a:t>
            </a:r>
          </a:p>
        </p:txBody>
      </p:sp>
      <p:sp>
        <p:nvSpPr>
          <p:cNvPr id="4" name="TextBox 3"/>
          <p:cNvSpPr txBox="1"/>
          <p:nvPr/>
        </p:nvSpPr>
        <p:spPr>
          <a:xfrm>
            <a:off x="548640" y="1554480"/>
            <a:ext cx="11091672" cy="548640"/>
          </a:xfrm>
          <a:prstGeom prst="rect">
            <a:avLst/>
          </a:prstGeom>
          <a:noFill/>
        </p:spPr>
        <p:txBody>
          <a:bodyPr wrap="square" anchor="t">
            <a:spAutoFit/>
          </a:bodyPr>
          <a:lstStyle/>
          <a:p>
            <a:pPr algn="l"/>
            <a:r>
              <a:rPr sz="1600" b="0" i="0">
                <a:solidFill>
                  <a:srgbClr val="2A2A28"/>
                </a:solidFill>
                <a:latin typeface="Inter"/>
              </a:rPr>
              <a:t>The site is discoverable. It cannot be cited properly.</a:t>
            </a:r>
          </a:p>
        </p:txBody>
      </p:sp>
      <p:sp>
        <p:nvSpPr>
          <p:cNvPr id="5" name="TextBox 4"/>
          <p:cNvSpPr txBox="1"/>
          <p:nvPr/>
        </p:nvSpPr>
        <p:spPr>
          <a:xfrm>
            <a:off x="548640" y="2194560"/>
            <a:ext cx="11091672" cy="3657600"/>
          </a:xfrm>
          <a:prstGeom prst="rect">
            <a:avLst/>
          </a:prstGeom>
          <a:noFill/>
        </p:spPr>
        <p:txBody>
          <a:bodyPr wrap="square" anchor="t">
            <a:spAutoFit/>
          </a:bodyPr>
          <a:lstStyle/>
          <a:p>
            <a:pPr algn="l"/>
            <a:r>
              <a:rPr sz="1200" b="0" i="0">
                <a:solidFill>
                  <a:srgbClr val="1A1A1A"/>
                </a:solidFill>
                <a:latin typeface="JetBrains Mono"/>
              </a:rPr>
              <a:t>Stage  Name                          Result            
-----  ----------------------------  ------------------
1      Discovery                     Pass · 89 / 100   
2      Citation                      Partial · 50 / 100
3–5    Compare · Price · Confidence  N/A               </a:t>
            </a:r>
          </a:p>
        </p:txBody>
      </p:sp>
      <p:sp>
        <p:nvSpPr>
          <p:cNvPr id="6" name="TextBox 5"/>
          <p:cNvSpPr txBox="1"/>
          <p:nvPr/>
        </p:nvSpPr>
        <p:spPr>
          <a:xfrm>
            <a:off x="548640" y="5943600"/>
            <a:ext cx="11091672" cy="365760"/>
          </a:xfrm>
          <a:prstGeom prst="rect">
            <a:avLst/>
          </a:prstGeom>
          <a:noFill/>
        </p:spPr>
        <p:txBody>
          <a:bodyPr wrap="square" anchor="t">
            <a:spAutoFit/>
          </a:bodyPr>
          <a:lstStyle/>
          <a:p>
            <a:pPr algn="l"/>
            <a:r>
              <a:rPr sz="1400" b="1" i="0">
                <a:solidFill>
                  <a:srgbClr val="C8482B"/>
                </a:solidFill>
                <a:latin typeface="Inter"/>
              </a:rPr>
              <a:t>Everything in Stage 2 is already in TCA. It is not in the markup.</a:t>
            </a:r>
          </a:p>
        </p:txBody>
      </p:sp>
      <p:sp>
        <p:nvSpPr>
          <p:cNvPr id="7" name="TextBox 6"/>
          <p:cNvSpPr txBox="1"/>
          <p:nvPr/>
        </p:nvSpPr>
        <p:spPr>
          <a:xfrm>
            <a:off x="548640" y="6400800"/>
            <a:ext cx="11091672" cy="365760"/>
          </a:xfrm>
          <a:prstGeom prst="rect">
            <a:avLst/>
          </a:prstGeom>
          <a:noFill/>
        </p:spPr>
        <p:txBody>
          <a:bodyPr wrap="square" anchor="t">
            <a:spAutoFit/>
          </a:bodyPr>
          <a:lstStyle/>
          <a:p>
            <a:pPr algn="l"/>
            <a:r>
              <a:rPr sz="900" b="0" i="0">
                <a:solidFill>
                  <a:srgbClr val="555555"/>
                </a:solidFill>
                <a:latin typeface="JetBrains Mono"/>
              </a:rPr>
              <a:t>TOM CRANSTOUN · CMS SUMMIT FRANKFURT 2026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65760"/>
            <a:ext cx="11091672" cy="365760"/>
          </a:xfrm>
          <a:prstGeom prst="rect">
            <a:avLst/>
          </a:prstGeom>
          <a:noFill/>
        </p:spPr>
        <p:txBody>
          <a:bodyPr wrap="square" anchor="t">
            <a:spAutoFit/>
          </a:bodyPr>
          <a:lstStyle/>
          <a:p>
            <a:pPr algn="r"/>
            <a:r>
              <a:rPr sz="1000" b="0" i="0">
                <a:solidFill>
                  <a:srgbClr val="555555"/>
                </a:solidFill>
                <a:latin typeface="JetBrains Mono"/>
              </a:rPr>
              <a:t>13 / 21</a:t>
            </a:r>
          </a:p>
        </p:txBody>
      </p:sp>
      <p:sp>
        <p:nvSpPr>
          <p:cNvPr id="3" name="TextBox 2"/>
          <p:cNvSpPr txBox="1"/>
          <p:nvPr/>
        </p:nvSpPr>
        <p:spPr>
          <a:xfrm>
            <a:off x="548640" y="548640"/>
            <a:ext cx="11091672" cy="822960"/>
          </a:xfrm>
          <a:prstGeom prst="rect">
            <a:avLst/>
          </a:prstGeom>
          <a:noFill/>
        </p:spPr>
        <p:txBody>
          <a:bodyPr wrap="square" anchor="t">
            <a:spAutoFit/>
          </a:bodyPr>
          <a:lstStyle/>
          <a:p>
            <a:pPr algn="l"/>
            <a:r>
              <a:rPr sz="2800" b="0" i="0">
                <a:solidFill>
                  <a:srgbClr val="1A1A1A"/>
                </a:solidFill>
                <a:latin typeface="Source Serif 4"/>
              </a:rPr>
              <a:t>The site has not declared a position</a:t>
            </a:r>
          </a:p>
        </p:txBody>
      </p:sp>
      <p:sp>
        <p:nvSpPr>
          <p:cNvPr id="4" name="TextBox 3"/>
          <p:cNvSpPr txBox="1"/>
          <p:nvPr/>
        </p:nvSpPr>
        <p:spPr>
          <a:xfrm>
            <a:off x="548640" y="1554480"/>
            <a:ext cx="11091672" cy="548640"/>
          </a:xfrm>
          <a:prstGeom prst="rect">
            <a:avLst/>
          </a:prstGeom>
          <a:noFill/>
        </p:spPr>
        <p:txBody>
          <a:bodyPr wrap="square" anchor="t">
            <a:spAutoFit/>
          </a:bodyPr>
          <a:lstStyle/>
          <a:p>
            <a:pPr algn="l"/>
            <a:r>
              <a:rPr sz="1600" b="0" i="0">
                <a:solidFill>
                  <a:srgbClr val="2A2A28"/>
                </a:solidFill>
                <a:latin typeface="Inter"/>
              </a:rPr>
              <a:t>robots.txt: found · standard · permissive  -  no entries for GPTBot, ClaudeBot, PerplexityBot, or Google-Extended.</a:t>
            </a:r>
          </a:p>
        </p:txBody>
      </p:sp>
      <p:sp>
        <p:nvSpPr>
          <p:cNvPr id="5" name="TextBox 4"/>
          <p:cNvSpPr txBox="1"/>
          <p:nvPr/>
        </p:nvSpPr>
        <p:spPr>
          <a:xfrm>
            <a:off x="548640" y="2194560"/>
            <a:ext cx="11091672" cy="3657600"/>
          </a:xfrm>
          <a:prstGeom prst="rect">
            <a:avLst/>
          </a:prstGeom>
          <a:noFill/>
        </p:spPr>
        <p:txBody>
          <a:bodyPr wrap="square" anchor="t">
            <a:spAutoFit/>
          </a:bodyPr>
          <a:lstStyle/>
          <a:p>
            <a:pPr algn="l"/>
            <a:r>
              <a:rPr sz="1200" b="0" i="0">
                <a:solidFill>
                  <a:srgbClr val="1A1A1A"/>
                </a:solidFill>
                <a:latin typeface="JetBrains Mono"/>
              </a:rPr>
              <a:t>File             Status
---------------  ------
llms.txt         404   
ai.txt           404   
agent-card.json  404   </a:t>
            </a:r>
          </a:p>
        </p:txBody>
      </p:sp>
      <p:sp>
        <p:nvSpPr>
          <p:cNvPr id="6" name="TextBox 5"/>
          <p:cNvSpPr txBox="1"/>
          <p:nvPr/>
        </p:nvSpPr>
        <p:spPr>
          <a:xfrm>
            <a:off x="548640" y="5943600"/>
            <a:ext cx="11091672" cy="365760"/>
          </a:xfrm>
          <a:prstGeom prst="rect">
            <a:avLst/>
          </a:prstGeom>
          <a:noFill/>
        </p:spPr>
        <p:txBody>
          <a:bodyPr wrap="square" anchor="t">
            <a:spAutoFit/>
          </a:bodyPr>
          <a:lstStyle/>
          <a:p>
            <a:pPr algn="l"/>
            <a:r>
              <a:rPr sz="1400" b="1" i="0">
                <a:solidFill>
                  <a:srgbClr val="C8482B"/>
                </a:solidFill>
                <a:latin typeface="Inter"/>
              </a:rPr>
              <a:t>Three text files would change this  -  and TYPO3 can generate all three from the existing page tree.</a:t>
            </a:r>
          </a:p>
        </p:txBody>
      </p:sp>
      <p:sp>
        <p:nvSpPr>
          <p:cNvPr id="7" name="TextBox 6"/>
          <p:cNvSpPr txBox="1"/>
          <p:nvPr/>
        </p:nvSpPr>
        <p:spPr>
          <a:xfrm>
            <a:off x="548640" y="6400800"/>
            <a:ext cx="11091672" cy="365760"/>
          </a:xfrm>
          <a:prstGeom prst="rect">
            <a:avLst/>
          </a:prstGeom>
          <a:noFill/>
        </p:spPr>
        <p:txBody>
          <a:bodyPr wrap="square" anchor="t">
            <a:spAutoFit/>
          </a:bodyPr>
          <a:lstStyle/>
          <a:p>
            <a:pPr algn="l"/>
            <a:r>
              <a:rPr sz="900" b="0" i="0">
                <a:solidFill>
                  <a:srgbClr val="555555"/>
                </a:solidFill>
                <a:latin typeface="JetBrains Mono"/>
              </a:rPr>
              <a:t>TOM CRANSTOUN · CMS SUMMIT FRANKFURT 2026</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65760"/>
            <a:ext cx="11091672" cy="365760"/>
          </a:xfrm>
          <a:prstGeom prst="rect">
            <a:avLst/>
          </a:prstGeom>
          <a:noFill/>
        </p:spPr>
        <p:txBody>
          <a:bodyPr wrap="square" anchor="t">
            <a:spAutoFit/>
          </a:bodyPr>
          <a:lstStyle/>
          <a:p>
            <a:pPr algn="r"/>
            <a:r>
              <a:rPr sz="1000" b="0" i="0">
                <a:solidFill>
                  <a:srgbClr val="555555"/>
                </a:solidFill>
                <a:latin typeface="JetBrains Mono"/>
              </a:rPr>
              <a:t>14 / 21</a:t>
            </a:r>
          </a:p>
        </p:txBody>
      </p:sp>
      <p:sp>
        <p:nvSpPr>
          <p:cNvPr id="3" name="TextBox 2"/>
          <p:cNvSpPr txBox="1"/>
          <p:nvPr/>
        </p:nvSpPr>
        <p:spPr>
          <a:xfrm>
            <a:off x="548640" y="548640"/>
            <a:ext cx="11091672" cy="822960"/>
          </a:xfrm>
          <a:prstGeom prst="rect">
            <a:avLst/>
          </a:prstGeom>
          <a:noFill/>
        </p:spPr>
        <p:txBody>
          <a:bodyPr wrap="square" anchor="t">
            <a:spAutoFit/>
          </a:bodyPr>
          <a:lstStyle/>
          <a:p>
            <a:pPr algn="l"/>
            <a:r>
              <a:rPr sz="2800" b="0" i="0">
                <a:solidFill>
                  <a:srgbClr val="1A1A1A"/>
                </a:solidFill>
                <a:latin typeface="Source Serif 4"/>
              </a:rPr>
              <a:t>Three template changes. No content migration</a:t>
            </a:r>
          </a:p>
        </p:txBody>
      </p:sp>
      <p:sp>
        <p:nvSpPr>
          <p:cNvPr id="4" name="TextBox 3"/>
          <p:cNvSpPr txBox="1"/>
          <p:nvPr/>
        </p:nvSpPr>
        <p:spPr>
          <a:xfrm>
            <a:off x="548640" y="1554480"/>
            <a:ext cx="11091672" cy="548640"/>
          </a:xfrm>
          <a:prstGeom prst="rect">
            <a:avLst/>
          </a:prstGeom>
          <a:noFill/>
        </p:spPr>
        <p:txBody>
          <a:bodyPr wrap="square" anchor="t">
            <a:spAutoFit/>
          </a:bodyPr>
          <a:lstStyle/>
          <a:p>
            <a:pPr algn="l"/>
            <a:r>
              <a:rPr sz="1600" b="0" i="0">
                <a:solidFill>
                  <a:srgbClr val="2A2A28"/>
                </a:solidFill>
                <a:latin typeface="Inter"/>
              </a:rPr>
              <a:t>One conditional block in the Fluid layout, keyed off page type. Values from TCA fields that already exist.</a:t>
            </a:r>
          </a:p>
        </p:txBody>
      </p:sp>
      <p:sp>
        <p:nvSpPr>
          <p:cNvPr id="5" name="TextBox 4"/>
          <p:cNvSpPr txBox="1"/>
          <p:nvPr/>
        </p:nvSpPr>
        <p:spPr>
          <a:xfrm>
            <a:off x="548640" y="2194560"/>
            <a:ext cx="11091672" cy="3657600"/>
          </a:xfrm>
          <a:prstGeom prst="rect">
            <a:avLst/>
          </a:prstGeom>
          <a:noFill/>
        </p:spPr>
        <p:txBody>
          <a:bodyPr wrap="square" anchor="t">
            <a:spAutoFit/>
          </a:bodyPr>
          <a:lstStyle/>
          <a:p>
            <a:pPr algn="l"/>
            <a:r>
              <a:rPr sz="1400" b="0" i="0">
                <a:solidFill>
                  <a:srgbClr val="1A1A1A"/>
                </a:solidFill>
                <a:latin typeface="JetBrains Mono"/>
              </a:rPr>
              <a:t>{ "@type": "WebPage", "url": "..." }</a:t>
            </a:r>
          </a:p>
        </p:txBody>
      </p:sp>
      <p:sp>
        <p:nvSpPr>
          <p:cNvPr id="6" name="TextBox 5"/>
          <p:cNvSpPr txBox="1"/>
          <p:nvPr/>
        </p:nvSpPr>
        <p:spPr>
          <a:xfrm>
            <a:off x="548640" y="5943600"/>
            <a:ext cx="11091672" cy="365760"/>
          </a:xfrm>
          <a:prstGeom prst="rect">
            <a:avLst/>
          </a:prstGeom>
          <a:noFill/>
        </p:spPr>
        <p:txBody>
          <a:bodyPr wrap="square" anchor="t">
            <a:spAutoFit/>
          </a:bodyPr>
          <a:lstStyle/>
          <a:p>
            <a:pPr algn="l"/>
            <a:r>
              <a:rPr sz="1400" b="1" i="0">
                <a:solidFill>
                  <a:srgbClr val="C8482B"/>
                </a:solidFill>
                <a:latin typeface="Inter"/>
              </a:rPr>
              <a:t>TYPO3 is ready for MX. It needs user attention: someone to write the declarations, someone to test the output.</a:t>
            </a:r>
          </a:p>
        </p:txBody>
      </p:sp>
      <p:sp>
        <p:nvSpPr>
          <p:cNvPr id="7" name="TextBox 6"/>
          <p:cNvSpPr txBox="1"/>
          <p:nvPr/>
        </p:nvSpPr>
        <p:spPr>
          <a:xfrm>
            <a:off x="548640" y="6400800"/>
            <a:ext cx="11091672" cy="365760"/>
          </a:xfrm>
          <a:prstGeom prst="rect">
            <a:avLst/>
          </a:prstGeom>
          <a:noFill/>
        </p:spPr>
        <p:txBody>
          <a:bodyPr wrap="square" anchor="t">
            <a:spAutoFit/>
          </a:bodyPr>
          <a:lstStyle/>
          <a:p>
            <a:pPr algn="l"/>
            <a:r>
              <a:rPr sz="900" b="0" i="0">
                <a:solidFill>
                  <a:srgbClr val="555555"/>
                </a:solidFill>
                <a:latin typeface="JetBrains Mono"/>
              </a:rPr>
              <a:t>TOM CRANSTOUN · CMS SUMMIT FRANKFURT 2026</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65760"/>
            <a:ext cx="11091672" cy="365760"/>
          </a:xfrm>
          <a:prstGeom prst="rect">
            <a:avLst/>
          </a:prstGeom>
          <a:noFill/>
        </p:spPr>
        <p:txBody>
          <a:bodyPr wrap="square" anchor="t">
            <a:spAutoFit/>
          </a:bodyPr>
          <a:lstStyle/>
          <a:p>
            <a:pPr algn="r"/>
            <a:r>
              <a:rPr sz="1000" b="0" i="0">
                <a:solidFill>
                  <a:srgbClr val="555555"/>
                </a:solidFill>
                <a:latin typeface="JetBrains Mono"/>
              </a:rPr>
              <a:t>15 / 21</a:t>
            </a:r>
          </a:p>
        </p:txBody>
      </p:sp>
      <p:sp>
        <p:nvSpPr>
          <p:cNvPr id="3" name="TextBox 2"/>
          <p:cNvSpPr txBox="1"/>
          <p:nvPr/>
        </p:nvSpPr>
        <p:spPr>
          <a:xfrm>
            <a:off x="548640" y="548640"/>
            <a:ext cx="11091672" cy="822960"/>
          </a:xfrm>
          <a:prstGeom prst="rect">
            <a:avLst/>
          </a:prstGeom>
          <a:noFill/>
        </p:spPr>
        <p:txBody>
          <a:bodyPr wrap="square" anchor="t">
            <a:spAutoFit/>
          </a:bodyPr>
          <a:lstStyle/>
          <a:p>
            <a:pPr algn="l"/>
            <a:r>
              <a:rPr sz="2800" b="0" i="0">
                <a:solidFill>
                  <a:srgbClr val="1A1A1A"/>
                </a:solidFill>
                <a:latin typeface="Source Serif 4"/>
              </a:rPr>
              <a:t>Same content. Different reading</a:t>
            </a:r>
          </a:p>
        </p:txBody>
      </p:sp>
      <p:sp>
        <p:nvSpPr>
          <p:cNvPr id="4" name="TextBox 3"/>
          <p:cNvSpPr txBox="1"/>
          <p:nvPr/>
        </p:nvSpPr>
        <p:spPr>
          <a:xfrm>
            <a:off x="548640" y="1554480"/>
            <a:ext cx="11091672" cy="640080"/>
          </a:xfrm>
          <a:prstGeom prst="rect">
            <a:avLst/>
          </a:prstGeom>
          <a:noFill/>
        </p:spPr>
        <p:txBody>
          <a:bodyPr wrap="square" anchor="t">
            <a:spAutoFit/>
          </a:bodyPr>
          <a:lstStyle/>
          <a:p>
            <a:pPr algn="l"/>
            <a:r>
              <a:rPr sz="1600" b="0" i="0">
                <a:solidFill>
                  <a:srgbClr val="2A2A28"/>
                </a:solidFill>
                <a:latin typeface="Inter"/>
              </a:rPr>
              <a:t>Before the fix:
A machine reads "a web page on leica-microsystems.com"</a:t>
            </a:r>
          </a:p>
        </p:txBody>
      </p:sp>
      <p:sp>
        <p:nvSpPr>
          <p:cNvPr id="5" name="TextBox 4"/>
          <p:cNvSpPr txBox="1"/>
          <p:nvPr/>
        </p:nvSpPr>
        <p:spPr>
          <a:xfrm>
            <a:off x="548640" y="2286000"/>
            <a:ext cx="11091672" cy="3657600"/>
          </a:xfrm>
          <a:prstGeom prst="rect">
            <a:avLst/>
          </a:prstGeom>
          <a:noFill/>
        </p:spPr>
        <p:txBody>
          <a:bodyPr wrap="square" anchor="t">
            <a:spAutoFit/>
          </a:bodyPr>
          <a:lstStyle/>
          <a:p>
            <a:pPr algn="l"/>
            <a:r>
              <a:rPr sz="1500" b="0" i="0">
                <a:solidFill>
                  <a:srgbClr val="1A1A1A"/>
                </a:solidFill>
                <a:latin typeface="Inter"/>
              </a:rPr>
              <a:t>After the fix:
A machine reads "a technical article about polarised light microscopy, published by Leica Microsystems on 15 March 2024"</a:t>
            </a:r>
          </a:p>
        </p:txBody>
      </p:sp>
      <p:sp>
        <p:nvSpPr>
          <p:cNvPr id="6" name="TextBox 5"/>
          <p:cNvSpPr txBox="1"/>
          <p:nvPr/>
        </p:nvSpPr>
        <p:spPr>
          <a:xfrm>
            <a:off x="548640" y="5943600"/>
            <a:ext cx="11091672" cy="365760"/>
          </a:xfrm>
          <a:prstGeom prst="rect">
            <a:avLst/>
          </a:prstGeom>
          <a:noFill/>
        </p:spPr>
        <p:txBody>
          <a:bodyPr wrap="square" anchor="t">
            <a:spAutoFit/>
          </a:bodyPr>
          <a:lstStyle/>
          <a:p>
            <a:pPr algn="l"/>
            <a:r>
              <a:rPr sz="1500" b="1" i="0">
                <a:solidFill>
                  <a:srgbClr val="C8482B"/>
                </a:solidFill>
                <a:latin typeface="Inter"/>
              </a:rPr>
              <a:t>The content is identical. The markup difference is the difference between cited and invisible.</a:t>
            </a:r>
          </a:p>
        </p:txBody>
      </p:sp>
      <p:sp>
        <p:nvSpPr>
          <p:cNvPr id="7" name="TextBox 6"/>
          <p:cNvSpPr txBox="1"/>
          <p:nvPr/>
        </p:nvSpPr>
        <p:spPr>
          <a:xfrm>
            <a:off x="548640" y="6400800"/>
            <a:ext cx="11091672" cy="365760"/>
          </a:xfrm>
          <a:prstGeom prst="rect">
            <a:avLst/>
          </a:prstGeom>
          <a:noFill/>
        </p:spPr>
        <p:txBody>
          <a:bodyPr wrap="square" anchor="t">
            <a:spAutoFit/>
          </a:bodyPr>
          <a:lstStyle/>
          <a:p>
            <a:pPr algn="l"/>
            <a:r>
              <a:rPr sz="900" b="0" i="0">
                <a:solidFill>
                  <a:srgbClr val="555555"/>
                </a:solidFill>
                <a:latin typeface="JetBrains Mono"/>
              </a:rPr>
              <a:t>TOM CRANSTOUN · CMS SUMMIT FRANKFURT 2026</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65760"/>
            <a:ext cx="11091672" cy="365760"/>
          </a:xfrm>
          <a:prstGeom prst="rect">
            <a:avLst/>
          </a:prstGeom>
          <a:noFill/>
        </p:spPr>
        <p:txBody>
          <a:bodyPr wrap="square" anchor="t">
            <a:spAutoFit/>
          </a:bodyPr>
          <a:lstStyle/>
          <a:p>
            <a:pPr algn="r"/>
            <a:r>
              <a:rPr sz="1000" b="0" i="0">
                <a:solidFill>
                  <a:srgbClr val="555555"/>
                </a:solidFill>
                <a:latin typeface="JetBrains Mono"/>
              </a:rPr>
              <a:t>16 / 21</a:t>
            </a:r>
          </a:p>
        </p:txBody>
      </p:sp>
      <p:sp>
        <p:nvSpPr>
          <p:cNvPr id="3" name="TextBox 2"/>
          <p:cNvSpPr txBox="1"/>
          <p:nvPr/>
        </p:nvSpPr>
        <p:spPr>
          <a:xfrm>
            <a:off x="548640" y="548640"/>
            <a:ext cx="11091672" cy="822960"/>
          </a:xfrm>
          <a:prstGeom prst="rect">
            <a:avLst/>
          </a:prstGeom>
          <a:noFill/>
        </p:spPr>
        <p:txBody>
          <a:bodyPr wrap="square" anchor="t">
            <a:spAutoFit/>
          </a:bodyPr>
          <a:lstStyle/>
          <a:p>
            <a:pPr algn="l"/>
            <a:r>
              <a:rPr sz="2800" b="0" i="0">
                <a:solidFill>
                  <a:srgbClr val="1A1A1A"/>
                </a:solidFill>
                <a:latin typeface="Source Serif 4"/>
              </a:rPr>
              <a:t>The Convergence Principle</a:t>
            </a:r>
          </a:p>
        </p:txBody>
      </p:sp>
      <p:sp>
        <p:nvSpPr>
          <p:cNvPr id="4" name="TextBox 3"/>
          <p:cNvSpPr txBox="1"/>
          <p:nvPr/>
        </p:nvSpPr>
        <p:spPr>
          <a:xfrm>
            <a:off x="548640" y="1554480"/>
            <a:ext cx="11091672" cy="548640"/>
          </a:xfrm>
          <a:prstGeom prst="rect">
            <a:avLst/>
          </a:prstGeom>
          <a:noFill/>
        </p:spPr>
        <p:txBody>
          <a:bodyPr wrap="square" anchor="t">
            <a:spAutoFit/>
          </a:bodyPr>
          <a:lstStyle/>
          <a:p>
            <a:pPr algn="l"/>
            <a:r>
              <a:rPr sz="1600" b="0" i="0">
                <a:solidFill>
                  <a:srgbClr val="2A2A28"/>
                </a:solidFill>
                <a:latin typeface="Inter"/>
              </a:rPr>
              <a:t>Every MX fix also helps a human.</a:t>
            </a:r>
          </a:p>
        </p:txBody>
      </p:sp>
      <p:sp>
        <p:nvSpPr>
          <p:cNvPr id="5" name="TextBox 4"/>
          <p:cNvSpPr txBox="1"/>
          <p:nvPr/>
        </p:nvSpPr>
        <p:spPr>
          <a:xfrm>
            <a:off x="548640" y="2194560"/>
            <a:ext cx="11091672" cy="3657600"/>
          </a:xfrm>
          <a:prstGeom prst="rect">
            <a:avLst/>
          </a:prstGeom>
          <a:noFill/>
        </p:spPr>
        <p:txBody>
          <a:bodyPr wrap="square" anchor="t">
            <a:spAutoFit/>
          </a:bodyPr>
          <a:lstStyle/>
          <a:p>
            <a:pPr algn="l"/>
            <a:r>
              <a:rPr sz="1200" b="0" i="0">
                <a:solidFill>
                  <a:srgbClr val="1A1A1A"/>
                </a:solidFill>
                <a:latin typeface="JetBrains Mono"/>
              </a:rPr>
              <a:t>Fix                 Machine benefit           Human benefit              
------------------  ------------------------  ---------------------------
Article schema      AI citation, attribution  Richer search snippets     
Author metadata     Attribution               Credibility, trust         
Figure captions     Figure understanding      Screen readers, low vision 
Semantic landmarks  Content classification    Keyboard navigation        
llms.txt            Governance declaration    Content policy transparency</a:t>
            </a:r>
          </a:p>
        </p:txBody>
      </p:sp>
      <p:sp>
        <p:nvSpPr>
          <p:cNvPr id="6" name="TextBox 5"/>
          <p:cNvSpPr txBox="1"/>
          <p:nvPr/>
        </p:nvSpPr>
        <p:spPr>
          <a:xfrm>
            <a:off x="548640" y="5943600"/>
            <a:ext cx="11091672" cy="365760"/>
          </a:xfrm>
          <a:prstGeom prst="rect">
            <a:avLst/>
          </a:prstGeom>
          <a:noFill/>
        </p:spPr>
        <p:txBody>
          <a:bodyPr wrap="square" anchor="t">
            <a:spAutoFit/>
          </a:bodyPr>
          <a:lstStyle/>
          <a:p>
            <a:pPr algn="l"/>
            <a:r>
              <a:rPr sz="1400" b="1" i="0">
                <a:solidFill>
                  <a:srgbClr val="C8482B"/>
                </a:solidFill>
                <a:latin typeface="Inter"/>
              </a:rPr>
              <a:t>The accessibility score rising from 0 is a by-product of fixing MX, not a separate project.</a:t>
            </a:r>
          </a:p>
        </p:txBody>
      </p:sp>
      <p:sp>
        <p:nvSpPr>
          <p:cNvPr id="7" name="TextBox 6"/>
          <p:cNvSpPr txBox="1"/>
          <p:nvPr/>
        </p:nvSpPr>
        <p:spPr>
          <a:xfrm>
            <a:off x="548640" y="6400800"/>
            <a:ext cx="11091672" cy="365760"/>
          </a:xfrm>
          <a:prstGeom prst="rect">
            <a:avLst/>
          </a:prstGeom>
          <a:noFill/>
        </p:spPr>
        <p:txBody>
          <a:bodyPr wrap="square" anchor="t">
            <a:spAutoFit/>
          </a:bodyPr>
          <a:lstStyle/>
          <a:p>
            <a:pPr algn="l"/>
            <a:r>
              <a:rPr sz="900" b="0" i="0">
                <a:solidFill>
                  <a:srgbClr val="555555"/>
                </a:solidFill>
                <a:latin typeface="JetBrains Mono"/>
              </a:rPr>
              <a:t>TOM CRANSTOUN · CMS SUMMIT FRANKFURT 2026</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65760"/>
            <a:ext cx="11091672" cy="365760"/>
          </a:xfrm>
          <a:prstGeom prst="rect">
            <a:avLst/>
          </a:prstGeom>
          <a:noFill/>
        </p:spPr>
        <p:txBody>
          <a:bodyPr wrap="square" anchor="t">
            <a:spAutoFit/>
          </a:bodyPr>
          <a:lstStyle/>
          <a:p>
            <a:pPr algn="r"/>
            <a:r>
              <a:rPr sz="1000" b="0" i="0">
                <a:solidFill>
                  <a:srgbClr val="555555"/>
                </a:solidFill>
                <a:latin typeface="JetBrains Mono"/>
              </a:rPr>
              <a:t>17 / 21</a:t>
            </a:r>
          </a:p>
        </p:txBody>
      </p:sp>
      <p:sp>
        <p:nvSpPr>
          <p:cNvPr id="3" name="TextBox 2"/>
          <p:cNvSpPr txBox="1"/>
          <p:nvPr/>
        </p:nvSpPr>
        <p:spPr>
          <a:xfrm>
            <a:off x="548640" y="548640"/>
            <a:ext cx="11091672" cy="822960"/>
          </a:xfrm>
          <a:prstGeom prst="rect">
            <a:avLst/>
          </a:prstGeom>
          <a:noFill/>
        </p:spPr>
        <p:txBody>
          <a:bodyPr wrap="square" anchor="t">
            <a:spAutoFit/>
          </a:bodyPr>
          <a:lstStyle/>
          <a:p>
            <a:pPr algn="l"/>
            <a:r>
              <a:rPr sz="2800" b="0" i="0">
                <a:solidFill>
                  <a:srgbClr val="1A1A1A"/>
                </a:solidFill>
                <a:latin typeface="Source Serif 4"/>
              </a:rPr>
              <a:t>It is still early days</a:t>
            </a:r>
          </a:p>
        </p:txBody>
      </p:sp>
      <p:sp>
        <p:nvSpPr>
          <p:cNvPr id="4" name="TextBox 3"/>
          <p:cNvSpPr txBox="1"/>
          <p:nvPr/>
        </p:nvSpPr>
        <p:spPr>
          <a:xfrm>
            <a:off x="548640" y="1554480"/>
            <a:ext cx="11091672" cy="640080"/>
          </a:xfrm>
          <a:prstGeom prst="rect">
            <a:avLst/>
          </a:prstGeom>
          <a:noFill/>
        </p:spPr>
        <p:txBody>
          <a:bodyPr wrap="square" anchor="t">
            <a:spAutoFit/>
          </a:bodyPr>
          <a:lstStyle/>
          <a:p>
            <a:pPr algn="l"/>
            <a:r>
              <a:rPr sz="1600" b="0" i="0">
                <a:solidFill>
                  <a:srgbClr val="2A2A28"/>
                </a:solidFill>
                <a:latin typeface="Inter"/>
              </a:rPr>
              <a:t>The platforms launched in January 2026. The discipline is months old.</a:t>
            </a:r>
          </a:p>
        </p:txBody>
      </p:sp>
      <p:sp>
        <p:nvSpPr>
          <p:cNvPr id="5" name="TextBox 4"/>
          <p:cNvSpPr txBox="1"/>
          <p:nvPr/>
        </p:nvSpPr>
        <p:spPr>
          <a:xfrm>
            <a:off x="548640" y="2286000"/>
            <a:ext cx="11091672" cy="3657600"/>
          </a:xfrm>
          <a:prstGeom prst="rect">
            <a:avLst/>
          </a:prstGeom>
          <a:noFill/>
        </p:spPr>
        <p:txBody>
          <a:bodyPr wrap="square" anchor="t">
            <a:spAutoFit/>
          </a:bodyPr>
          <a:lstStyle/>
          <a:p>
            <a:pPr algn="l"/>
            <a:r>
              <a:rPr sz="1500" b="0" i="0">
                <a:solidFill>
                  <a:srgbClr val="1A1A1A"/>
                </a:solidFill>
                <a:latin typeface="Inter"/>
              </a:rPr>
              <a:t>•  Most sites have not started. llms.txt is rare. Proper semantic HTML is rarer still.
•  That is not a failure story. It is a window.
•  Those who prepare now are in a better position for a future that is arriving  -  not one that might arrive.
•  The TYPO3 community has an advantage: the platform is ready. The work is writing and testing.</a:t>
            </a:r>
          </a:p>
        </p:txBody>
      </p:sp>
      <p:sp>
        <p:nvSpPr>
          <p:cNvPr id="6" name="TextBox 5"/>
          <p:cNvSpPr txBox="1"/>
          <p:nvPr/>
        </p:nvSpPr>
        <p:spPr>
          <a:xfrm>
            <a:off x="548640" y="5943600"/>
            <a:ext cx="11091672" cy="365760"/>
          </a:xfrm>
          <a:prstGeom prst="rect">
            <a:avLst/>
          </a:prstGeom>
          <a:noFill/>
        </p:spPr>
        <p:txBody>
          <a:bodyPr wrap="square" anchor="t">
            <a:spAutoFit/>
          </a:bodyPr>
          <a:lstStyle/>
          <a:p>
            <a:pPr algn="l"/>
            <a:r>
              <a:rPr sz="1500" b="1" i="0">
                <a:solidFill>
                  <a:srgbClr val="C8482B"/>
                </a:solidFill>
                <a:latin typeface="Inter"/>
              </a:rPr>
              <a:t>This is the moment to build the practice, not the moment to watch it develop.</a:t>
            </a:r>
          </a:p>
        </p:txBody>
      </p:sp>
      <p:sp>
        <p:nvSpPr>
          <p:cNvPr id="7" name="TextBox 6"/>
          <p:cNvSpPr txBox="1"/>
          <p:nvPr/>
        </p:nvSpPr>
        <p:spPr>
          <a:xfrm>
            <a:off x="548640" y="6400800"/>
            <a:ext cx="11091672" cy="365760"/>
          </a:xfrm>
          <a:prstGeom prst="rect">
            <a:avLst/>
          </a:prstGeom>
          <a:noFill/>
        </p:spPr>
        <p:txBody>
          <a:bodyPr wrap="square" anchor="t">
            <a:spAutoFit/>
          </a:bodyPr>
          <a:lstStyle/>
          <a:p>
            <a:pPr algn="l"/>
            <a:r>
              <a:rPr sz="900" b="0" i="0">
                <a:solidFill>
                  <a:srgbClr val="555555"/>
                </a:solidFill>
                <a:latin typeface="JetBrains Mono"/>
              </a:rPr>
              <a:t>TOM CRANSTOUN · CMS SUMMIT FRANKFURT 2026</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65760"/>
            <a:ext cx="11091672" cy="365760"/>
          </a:xfrm>
          <a:prstGeom prst="rect">
            <a:avLst/>
          </a:prstGeom>
          <a:noFill/>
        </p:spPr>
        <p:txBody>
          <a:bodyPr wrap="square" anchor="t">
            <a:spAutoFit/>
          </a:bodyPr>
          <a:lstStyle/>
          <a:p>
            <a:pPr algn="r"/>
            <a:r>
              <a:rPr sz="1000" b="0" i="0">
                <a:solidFill>
                  <a:srgbClr val="555555"/>
                </a:solidFill>
                <a:latin typeface="JetBrains Mono"/>
              </a:rPr>
              <a:t>18 / 21</a:t>
            </a:r>
          </a:p>
        </p:txBody>
      </p:sp>
      <p:sp>
        <p:nvSpPr>
          <p:cNvPr id="3" name="TextBox 2"/>
          <p:cNvSpPr txBox="1"/>
          <p:nvPr/>
        </p:nvSpPr>
        <p:spPr>
          <a:xfrm>
            <a:off x="548640" y="548640"/>
            <a:ext cx="11091672" cy="822960"/>
          </a:xfrm>
          <a:prstGeom prst="rect">
            <a:avLst/>
          </a:prstGeom>
          <a:noFill/>
        </p:spPr>
        <p:txBody>
          <a:bodyPr wrap="square" anchor="t">
            <a:spAutoFit/>
          </a:bodyPr>
          <a:lstStyle/>
          <a:p>
            <a:pPr algn="l"/>
            <a:r>
              <a:rPr sz="2800" b="0" i="0">
                <a:solidFill>
                  <a:srgbClr val="1A1A1A"/>
                </a:solidFill>
                <a:latin typeface="Source Serif 4"/>
              </a:rPr>
              <a:t>Three ways to engage</a:t>
            </a:r>
          </a:p>
        </p:txBody>
      </p:sp>
      <p:sp>
        <p:nvSpPr>
          <p:cNvPr id="4" name="TextBox 3"/>
          <p:cNvSpPr txBox="1"/>
          <p:nvPr/>
        </p:nvSpPr>
        <p:spPr>
          <a:xfrm>
            <a:off x="548640" y="1554480"/>
            <a:ext cx="11091672" cy="640080"/>
          </a:xfrm>
          <a:prstGeom prst="rect">
            <a:avLst/>
          </a:prstGeom>
          <a:noFill/>
        </p:spPr>
        <p:txBody>
          <a:bodyPr wrap="square" anchor="t">
            <a:spAutoFit/>
          </a:bodyPr>
          <a:lstStyle/>
          <a:p>
            <a:pPr algn="l"/>
            <a:r>
              <a:rPr sz="1600" b="0" i="0">
                <a:solidFill>
                  <a:srgbClr val="2A2A28"/>
                </a:solidFill>
                <a:latin typeface="Inter"/>
              </a:rPr>
              <a:t>Consulting  -  apply MX to existing systems. Machines read the content correctly; the human-facing site stays the same.
→ 10-minute conversation, in person or remote</a:t>
            </a:r>
          </a:p>
        </p:txBody>
      </p:sp>
      <p:sp>
        <p:nvSpPr>
          <p:cNvPr id="5" name="TextBox 4"/>
          <p:cNvSpPr txBox="1"/>
          <p:nvPr/>
        </p:nvSpPr>
        <p:spPr>
          <a:xfrm>
            <a:off x="548640" y="2286000"/>
            <a:ext cx="11091672" cy="3657600"/>
          </a:xfrm>
          <a:prstGeom prst="rect">
            <a:avLst/>
          </a:prstGeom>
          <a:noFill/>
        </p:spPr>
        <p:txBody>
          <a:bodyPr wrap="square" anchor="t">
            <a:spAutoFit/>
          </a:bodyPr>
          <a:lstStyle/>
          <a:p>
            <a:pPr algn="l"/>
            <a:r>
              <a:rPr sz="1500" b="0" i="0">
                <a:solidFill>
                  <a:srgbClr val="1A1A1A"/>
                </a:solidFill>
                <a:latin typeface="Inter"/>
              </a:rPr>
              <a:t>Certification  -  through The Gathering, the practitioner community for MX. Structured around the conformance work.
→ https://tg.community</a:t>
            </a:r>
          </a:p>
        </p:txBody>
      </p:sp>
      <p:sp>
        <p:nvSpPr>
          <p:cNvPr id="6" name="TextBox 5"/>
          <p:cNvSpPr txBox="1"/>
          <p:nvPr/>
        </p:nvSpPr>
        <p:spPr>
          <a:xfrm>
            <a:off x="548640" y="5943600"/>
            <a:ext cx="11091672" cy="365760"/>
          </a:xfrm>
          <a:prstGeom prst="rect">
            <a:avLst/>
          </a:prstGeom>
          <a:noFill/>
        </p:spPr>
        <p:txBody>
          <a:bodyPr wrap="square" anchor="t">
            <a:spAutoFit/>
          </a:bodyPr>
          <a:lstStyle/>
          <a:p>
            <a:pPr algn="l"/>
            <a:r>
              <a:rPr sz="1500" b="1" i="0">
                <a:solidFill>
                  <a:srgbClr val="C8482B"/>
                </a:solidFill>
                <a:latin typeface="Inter"/>
              </a:rPr>
              <a:t/>
            </a:r>
          </a:p>
        </p:txBody>
      </p:sp>
      <p:sp>
        <p:nvSpPr>
          <p:cNvPr id="7" name="TextBox 6"/>
          <p:cNvSpPr txBox="1"/>
          <p:nvPr/>
        </p:nvSpPr>
        <p:spPr>
          <a:xfrm>
            <a:off x="548640" y="6400800"/>
            <a:ext cx="11091672" cy="365760"/>
          </a:xfrm>
          <a:prstGeom prst="rect">
            <a:avLst/>
          </a:prstGeom>
          <a:noFill/>
        </p:spPr>
        <p:txBody>
          <a:bodyPr wrap="square" anchor="t">
            <a:spAutoFit/>
          </a:bodyPr>
          <a:lstStyle/>
          <a:p>
            <a:pPr algn="l"/>
            <a:r>
              <a:rPr sz="900" b="0" i="0">
                <a:solidFill>
                  <a:srgbClr val="555555"/>
                </a:solidFill>
                <a:latin typeface="JetBrains Mono"/>
              </a:rPr>
              <a:t>TOM CRANSTOUN · CMS SUMMIT FRANKFURT 2026</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65760"/>
            <a:ext cx="11091672" cy="365760"/>
          </a:xfrm>
          <a:prstGeom prst="rect">
            <a:avLst/>
          </a:prstGeom>
          <a:noFill/>
        </p:spPr>
        <p:txBody>
          <a:bodyPr wrap="square" anchor="t">
            <a:spAutoFit/>
          </a:bodyPr>
          <a:lstStyle/>
          <a:p>
            <a:pPr algn="r"/>
            <a:r>
              <a:rPr sz="1000" b="0" i="0">
                <a:solidFill>
                  <a:srgbClr val="555555"/>
                </a:solidFill>
                <a:latin typeface="JetBrains Mono"/>
              </a:rPr>
              <a:t>19 / 21</a:t>
            </a:r>
          </a:p>
        </p:txBody>
      </p:sp>
      <p:sp>
        <p:nvSpPr>
          <p:cNvPr id="3" name="TextBox 2"/>
          <p:cNvSpPr txBox="1"/>
          <p:nvPr/>
        </p:nvSpPr>
        <p:spPr>
          <a:xfrm>
            <a:off x="548640" y="2194560"/>
            <a:ext cx="11091672" cy="1463040"/>
          </a:xfrm>
          <a:prstGeom prst="rect">
            <a:avLst/>
          </a:prstGeom>
          <a:noFill/>
        </p:spPr>
        <p:txBody>
          <a:bodyPr wrap="square" anchor="ctr">
            <a:spAutoFit/>
          </a:bodyPr>
          <a:lstStyle/>
          <a:p>
            <a:pPr algn="l"/>
            <a:r>
              <a:rPr sz="4600" b="0" i="0">
                <a:solidFill>
                  <a:srgbClr val="1A1A1A"/>
                </a:solidFill>
                <a:latin typeface="Source Serif 4"/>
              </a:rPr>
              <a:t>MX is buildable now</a:t>
            </a:r>
          </a:p>
        </p:txBody>
      </p:sp>
      <p:sp>
        <p:nvSpPr>
          <p:cNvPr id="4" name="TextBox 3"/>
          <p:cNvSpPr txBox="1"/>
          <p:nvPr/>
        </p:nvSpPr>
        <p:spPr>
          <a:xfrm>
            <a:off x="548640" y="3749039"/>
            <a:ext cx="11091672" cy="640080"/>
          </a:xfrm>
          <a:prstGeom prst="rect">
            <a:avLst/>
          </a:prstGeom>
          <a:noFill/>
        </p:spPr>
        <p:txBody>
          <a:bodyPr wrap="square" anchor="t">
            <a:spAutoFit/>
          </a:bodyPr>
          <a:lstStyle/>
          <a:p>
            <a:pPr algn="l"/>
            <a:r>
              <a:rPr sz="2000" b="0" i="1">
                <a:solidFill>
                  <a:srgbClr val="2A2A28"/>
                </a:solidFill>
                <a:latin typeface="Source Serif 4"/>
              </a:rPr>
              <a:t>The three vocabularies are already in use across the web. MX is the discipline that stops them from misreading your content.</a:t>
            </a:r>
          </a:p>
        </p:txBody>
      </p:sp>
      <p:sp>
        <p:nvSpPr>
          <p:cNvPr id="5" name="TextBox 4"/>
          <p:cNvSpPr txBox="1"/>
          <p:nvPr/>
        </p:nvSpPr>
        <p:spPr>
          <a:xfrm>
            <a:off x="548640" y="4572000"/>
            <a:ext cx="11091672" cy="457200"/>
          </a:xfrm>
          <a:prstGeom prst="rect">
            <a:avLst/>
          </a:prstGeom>
          <a:noFill/>
        </p:spPr>
        <p:txBody>
          <a:bodyPr wrap="square" anchor="t">
            <a:spAutoFit/>
          </a:bodyPr>
          <a:lstStyle/>
          <a:p>
            <a:pPr algn="l"/>
            <a:r>
              <a:rPr sz="1400" b="0" i="0">
                <a:solidFill>
                  <a:srgbClr val="555555"/>
                </a:solidFill>
                <a:latin typeface="Inter"/>
              </a:rPr>
              <a:t>TYPO3 is ready. It needs user attention and a little MX work: writing, testing.</a:t>
            </a:r>
          </a:p>
        </p:txBody>
      </p:sp>
      <p:sp>
        <p:nvSpPr>
          <p:cNvPr id="6" name="TextBox 5"/>
          <p:cNvSpPr txBox="1"/>
          <p:nvPr/>
        </p:nvSpPr>
        <p:spPr>
          <a:xfrm>
            <a:off x="548640" y="6400800"/>
            <a:ext cx="11091672" cy="365760"/>
          </a:xfrm>
          <a:prstGeom prst="rect">
            <a:avLst/>
          </a:prstGeom>
          <a:noFill/>
        </p:spPr>
        <p:txBody>
          <a:bodyPr wrap="square" anchor="t">
            <a:spAutoFit/>
          </a:bodyPr>
          <a:lstStyle/>
          <a:p>
            <a:pPr algn="l"/>
            <a:r>
              <a:rPr sz="900" b="0" i="0">
                <a:solidFill>
                  <a:srgbClr val="555555"/>
                </a:solidFill>
                <a:latin typeface="JetBrains Mono"/>
              </a:rPr>
              <a:t>TOM CRANSTOUN · CMS SUMMIT FRANKFURT 2026</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65760"/>
            <a:ext cx="11091672" cy="365760"/>
          </a:xfrm>
          <a:prstGeom prst="rect">
            <a:avLst/>
          </a:prstGeom>
          <a:noFill/>
        </p:spPr>
        <p:txBody>
          <a:bodyPr wrap="square" anchor="t">
            <a:spAutoFit/>
          </a:bodyPr>
          <a:lstStyle/>
          <a:p>
            <a:pPr algn="r"/>
            <a:r>
              <a:rPr sz="1000" b="0" i="0">
                <a:solidFill>
                  <a:srgbClr val="555555"/>
                </a:solidFill>
                <a:latin typeface="JetBrains Mono"/>
              </a:rPr>
              <a:t>20 / 21</a:t>
            </a:r>
          </a:p>
        </p:txBody>
      </p:sp>
      <p:sp>
        <p:nvSpPr>
          <p:cNvPr id="3" name="TextBox 2"/>
          <p:cNvSpPr txBox="1"/>
          <p:nvPr/>
        </p:nvSpPr>
        <p:spPr>
          <a:xfrm>
            <a:off x="548640" y="2194560"/>
            <a:ext cx="11091672" cy="1463040"/>
          </a:xfrm>
          <a:prstGeom prst="rect">
            <a:avLst/>
          </a:prstGeom>
          <a:noFill/>
        </p:spPr>
        <p:txBody>
          <a:bodyPr wrap="square" anchor="ctr">
            <a:spAutoFit/>
          </a:bodyPr>
          <a:lstStyle/>
          <a:p>
            <a:pPr algn="l"/>
            <a:r>
              <a:rPr sz="4600" b="0" i="0">
                <a:solidFill>
                  <a:srgbClr val="1A1A1A"/>
                </a:solidFill>
                <a:latin typeface="Source Serif 4"/>
              </a:rPr>
              <a:t>Are you prepared?</a:t>
            </a:r>
          </a:p>
        </p:txBody>
      </p:sp>
      <p:sp>
        <p:nvSpPr>
          <p:cNvPr id="4" name="TextBox 3"/>
          <p:cNvSpPr txBox="1"/>
          <p:nvPr/>
        </p:nvSpPr>
        <p:spPr>
          <a:xfrm>
            <a:off x="548640" y="3749039"/>
            <a:ext cx="11091672" cy="640080"/>
          </a:xfrm>
          <a:prstGeom prst="rect">
            <a:avLst/>
          </a:prstGeom>
          <a:noFill/>
        </p:spPr>
        <p:txBody>
          <a:bodyPr wrap="square" anchor="t">
            <a:spAutoFit/>
          </a:bodyPr>
          <a:lstStyle/>
          <a:p>
            <a:pPr algn="l"/>
            <a:r>
              <a:rPr sz="2000" b="0" i="1">
                <a:solidFill>
                  <a:srgbClr val="2A2A28"/>
                </a:solidFill>
                <a:latin typeface="Source Serif 4"/>
              </a:rPr>
              <a:t>Is your CMS ready?</a:t>
            </a:r>
          </a:p>
        </p:txBody>
      </p:sp>
      <p:sp>
        <p:nvSpPr>
          <p:cNvPr id="5" name="TextBox 4"/>
          <p:cNvSpPr txBox="1"/>
          <p:nvPr/>
        </p:nvSpPr>
        <p:spPr>
          <a:xfrm>
            <a:off x="548640" y="4572000"/>
            <a:ext cx="11091672" cy="457200"/>
          </a:xfrm>
          <a:prstGeom prst="rect">
            <a:avLst/>
          </a:prstGeom>
          <a:noFill/>
        </p:spPr>
        <p:txBody>
          <a:bodyPr wrap="square" anchor="t">
            <a:spAutoFit/>
          </a:bodyPr>
          <a:lstStyle/>
          <a:p>
            <a:pPr algn="l"/>
            <a:r>
              <a:rPr sz="1400" b="0" i="0">
                <a:solidFill>
                  <a:srgbClr val="555555"/>
                </a:solidFill>
                <a:latin typeface="Inter"/>
              </a:rPr>
              <a:t/>
            </a:r>
          </a:p>
        </p:txBody>
      </p:sp>
      <p:sp>
        <p:nvSpPr>
          <p:cNvPr id="6" name="TextBox 5"/>
          <p:cNvSpPr txBox="1"/>
          <p:nvPr/>
        </p:nvSpPr>
        <p:spPr>
          <a:xfrm>
            <a:off x="548640" y="6400800"/>
            <a:ext cx="11091672" cy="365760"/>
          </a:xfrm>
          <a:prstGeom prst="rect">
            <a:avLst/>
          </a:prstGeom>
          <a:noFill/>
        </p:spPr>
        <p:txBody>
          <a:bodyPr wrap="square" anchor="t">
            <a:spAutoFit/>
          </a:bodyPr>
          <a:lstStyle/>
          <a:p>
            <a:pPr algn="l"/>
            <a:r>
              <a:rPr sz="900" b="0" i="0">
                <a:solidFill>
                  <a:srgbClr val="555555"/>
                </a:solidFill>
                <a:latin typeface="JetBrains Mono"/>
              </a:rPr>
              <a:t>TOM CRANSTOUN · CMS SUMMIT FRANKFURT 2026</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65760"/>
            <a:ext cx="11091672" cy="365760"/>
          </a:xfrm>
          <a:prstGeom prst="rect">
            <a:avLst/>
          </a:prstGeom>
          <a:noFill/>
        </p:spPr>
        <p:txBody>
          <a:bodyPr wrap="square" anchor="t">
            <a:spAutoFit/>
          </a:bodyPr>
          <a:lstStyle/>
          <a:p>
            <a:pPr algn="r"/>
            <a:r>
              <a:rPr sz="1000" b="0" i="0">
                <a:solidFill>
                  <a:srgbClr val="555555"/>
                </a:solidFill>
                <a:latin typeface="JetBrains Mono"/>
              </a:rPr>
              <a:t>21 / 21</a:t>
            </a:r>
          </a:p>
        </p:txBody>
      </p:sp>
      <p:sp>
        <p:nvSpPr>
          <p:cNvPr id="3" name="TextBox 2"/>
          <p:cNvSpPr txBox="1"/>
          <p:nvPr/>
        </p:nvSpPr>
        <p:spPr>
          <a:xfrm>
            <a:off x="548640" y="2194560"/>
            <a:ext cx="11091672" cy="1463040"/>
          </a:xfrm>
          <a:prstGeom prst="rect">
            <a:avLst/>
          </a:prstGeom>
          <a:noFill/>
        </p:spPr>
        <p:txBody>
          <a:bodyPr wrap="square" anchor="ctr">
            <a:spAutoFit/>
          </a:bodyPr>
          <a:lstStyle/>
          <a:p>
            <a:pPr algn="l"/>
            <a:r>
              <a:rPr sz="4600" b="0" i="0">
                <a:solidFill>
                  <a:srgbClr val="1A1A1A"/>
                </a:solidFill>
                <a:latin typeface="Source Serif 4"/>
              </a:rPr>
              <a:t>Connect</a:t>
            </a:r>
          </a:p>
        </p:txBody>
      </p:sp>
      <p:sp>
        <p:nvSpPr>
          <p:cNvPr id="4" name="TextBox 3"/>
          <p:cNvSpPr txBox="1"/>
          <p:nvPr/>
        </p:nvSpPr>
        <p:spPr>
          <a:xfrm>
            <a:off x="548640" y="3749039"/>
            <a:ext cx="11091672" cy="640080"/>
          </a:xfrm>
          <a:prstGeom prst="rect">
            <a:avLst/>
          </a:prstGeom>
          <a:noFill/>
        </p:spPr>
        <p:txBody>
          <a:bodyPr wrap="square" anchor="t">
            <a:spAutoFit/>
          </a:bodyPr>
          <a:lstStyle/>
          <a:p>
            <a:pPr algn="l"/>
            <a:r>
              <a:rPr sz="2000" b="0" i="1">
                <a:solidFill>
                  <a:srgbClr val="2A2A28"/>
                </a:solidFill>
                <a:latin typeface="Source Serif 4"/>
              </a:rPr>
              <a:t>The Gathering: https://tg.community · CMS Summit Frankfurt 2026</a:t>
            </a:r>
          </a:p>
        </p:txBody>
      </p:sp>
      <p:sp>
        <p:nvSpPr>
          <p:cNvPr id="5" name="TextBox 4"/>
          <p:cNvSpPr txBox="1"/>
          <p:nvPr/>
        </p:nvSpPr>
        <p:spPr>
          <a:xfrm>
            <a:off x="548640" y="4572000"/>
            <a:ext cx="11091672" cy="457200"/>
          </a:xfrm>
          <a:prstGeom prst="rect">
            <a:avLst/>
          </a:prstGeom>
          <a:noFill/>
        </p:spPr>
        <p:txBody>
          <a:bodyPr wrap="square" anchor="t">
            <a:spAutoFit/>
          </a:bodyPr>
          <a:lstStyle/>
          <a:p>
            <a:pPr algn="l"/>
            <a:r>
              <a:rPr sz="1400" b="0" i="0">
                <a:solidFill>
                  <a:srgbClr val="555555"/>
                </a:solidFill>
                <a:latin typeface="Inter"/>
              </a:rPr>
              <a:t/>
            </a:r>
          </a:p>
        </p:txBody>
      </p:sp>
      <p:sp>
        <p:nvSpPr>
          <p:cNvPr id="6" name="TextBox 5"/>
          <p:cNvSpPr txBox="1"/>
          <p:nvPr/>
        </p:nvSpPr>
        <p:spPr>
          <a:xfrm>
            <a:off x="548640" y="6400800"/>
            <a:ext cx="11091672" cy="365760"/>
          </a:xfrm>
          <a:prstGeom prst="rect">
            <a:avLst/>
          </a:prstGeom>
          <a:noFill/>
        </p:spPr>
        <p:txBody>
          <a:bodyPr wrap="square" anchor="t">
            <a:spAutoFit/>
          </a:bodyPr>
          <a:lstStyle/>
          <a:p>
            <a:pPr algn="l"/>
            <a:r>
              <a:rPr sz="900" b="0" i="0">
                <a:solidFill>
                  <a:srgbClr val="555555"/>
                </a:solidFill>
                <a:latin typeface="JetBrains Mono"/>
              </a:rPr>
              <a:t>TOM CRANSTOUN · CMS SUMMIT FRANKFURT 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