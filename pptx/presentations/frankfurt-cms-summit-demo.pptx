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~3 min · Open live site in browser: science-lab landing page first, then navigate to the Polarised Light Microscopy article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~4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~5 min total for Act 4 (this slide + Fluid template + result slides)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~4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TYPO3 and Machine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worked audit — CMS Summit Frankfurt, May 2026</a:t>
            </a:r>
            <a:br/>
            <a:br/>
            <a:r>
              <a:rPr/>
              <a:t>Tom Cranstoun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TYPO3 and Machine Experience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CMS Summit Frankfurt · May 2026</a:t>
            </a:r>
          </a:p>
          <a:p>
            <a:pPr lvl="0" indent="0" marL="0">
              <a:buNone/>
            </a:pPr>
            <a:r>
              <a:rPr/>
              <a:t>Tom Cranstoun · Machine Experience community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 1: The site as a human sees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leica-microsystems.com</a:t>
            </a:r>
          </a:p>
          <a:p>
            <a:pPr lvl="0"/>
            <a:r>
              <a:rPr/>
              <a:t>Global scientific instruments company</a:t>
            </a:r>
          </a:p>
          <a:p>
            <a:pPr lvl="0"/>
            <a:r>
              <a:rPr/>
              <a:t>Danaher subsidiary, HQ Wetzlar — one hour from here</a:t>
            </a:r>
          </a:p>
          <a:p>
            <a:pPr lvl="0"/>
            <a:r>
              <a:rPr/>
              <a:t>Confirmed TYPO3 install</a:t>
            </a:r>
          </a:p>
          <a:p>
            <a:pPr lvl="0"/>
            <a:r>
              <a:rPr/>
              <a:t>Ten locales · Long-form scientific education content</a:t>
            </a:r>
          </a:p>
          <a:p>
            <a:pPr lvl="0"/>
            <a:r>
              <a:rPr/>
              <a:t>Professional · Authoritative · Well-organised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site TYPO3 was built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kind of content an AI assistant should cite:</a:t>
            </a:r>
          </a:p>
          <a:p>
            <a:pPr lvl="0" indent="0" marL="1270000">
              <a:buNone/>
            </a:pPr>
            <a:r>
              <a:rPr sz="2000" i="1"/>
              <a:t>“A Guide to Polarised Light Microscopy”</a:t>
            </a:r>
            <a:r>
              <a:rPr sz="2000"/>
              <a:t> — detailed, authoritative, long-form — written by Leica application scientists — the article a researcher would want to find</a:t>
            </a:r>
          </a:p>
          <a:p>
            <a:pPr lvl="0" indent="0" marL="0">
              <a:buNone/>
            </a:pPr>
            <a:r>
              <a:rPr b="1"/>
              <a:t>The question:</a:t>
            </a:r>
            <a:r>
              <a:rPr/>
              <a:t> does the site make it easy for an AI to find, understand, and attribute this content?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 2: The same site — as MaXinE sees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markup says: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"@type"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"WebPage"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"url"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"https://www.leica-microsystems.com/..."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That is all. One JSON-LD block. Type: </a:t>
            </a:r>
            <a:r>
              <a:rPr>
                <a:latin typeface="Courier"/>
              </a:rPr>
              <a:t>WebPage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Not in the markup:</a:t>
            </a:r>
          </a:p>
          <a:p>
            <a:pPr lvl="0"/>
            <a:r>
              <a:rPr/>
              <a:t>Article type (TechArticle / LearningResource)</a:t>
            </a:r>
          </a:p>
          <a:p>
            <a:pPr lvl="0"/>
            <a:r>
              <a:rPr/>
              <a:t>Page </a:t>
            </a:r>
            <a:r>
              <a:rPr>
                <a:latin typeface="Courier"/>
              </a:rPr>
              <a:t>name</a:t>
            </a:r>
            <a:r>
              <a:rPr/>
              <a:t> — the required Schema.org property for WebPage (scores 0/25 on required coverage)</a:t>
            </a:r>
          </a:p>
          <a:p>
            <a:pPr lvl="0"/>
            <a:r>
              <a:rPr/>
              <a:t>Author name</a:t>
            </a:r>
          </a:p>
          <a:p>
            <a:pPr lvl="0"/>
            <a:r>
              <a:rPr/>
              <a:t>Publication date</a:t>
            </a:r>
          </a:p>
          <a:p>
            <a:pPr lvl="0"/>
            <a:r>
              <a:rPr/>
              <a:t>What 10 of 14 figures show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MX audit scores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Automated audit · 24 April 2026 · 5 pages · science-lab tree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Discovery Readiness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 / 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Structured Data Quality (SDQ)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 / 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Metadata Stack Completeness (MSC)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/ 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2–13%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89–93 / 100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/ 100 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 3: The MX Journey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 / 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/ 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 · Price · 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bottleneck is Stage 2.</a:t>
            </a:r>
          </a:p>
          <a:p>
            <a:pPr lvl="0" indent="0" marL="0">
              <a:buNone/>
            </a:pPr>
            <a:r>
              <a:rPr/>
              <a:t>The site is discoverable. It cannot be cited — not properly. Everything the citation needs is in the CMS. None of it is in the markup.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already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Worth saying on stage:</a:t>
            </a:r>
          </a:p>
          <a:p>
            <a:pPr lvl="0"/>
            <a:r>
              <a:rPr/>
              <a:t>Full </a:t>
            </a:r>
            <a:r>
              <a:rPr>
                <a:latin typeface="Courier"/>
              </a:rPr>
              <a:t>hreflang</a:t>
            </a:r>
            <a:r>
              <a:rPr/>
              <a:t> across ten locales ✓</a:t>
            </a:r>
          </a:p>
          <a:p>
            <a:pPr lvl="0"/>
            <a:r>
              <a:rPr/>
              <a:t>BreadcrumbList JSON-LD — correctly implemented ✓</a:t>
            </a:r>
          </a:p>
          <a:p>
            <a:pPr lvl="0"/>
            <a:r>
              <a:rPr/>
              <a:t>sitemap.xml for each locale ✓</a:t>
            </a:r>
          </a:p>
          <a:p>
            <a:pPr lvl="0"/>
            <a:r>
              <a:rPr/>
              <a:t>Proper HTTP 404 custom error page ✓</a:t>
            </a:r>
          </a:p>
          <a:p>
            <a:pPr lvl="0"/>
            <a:r>
              <a:rPr/>
              <a:t>Fast article pages (550–720 ms) ✓</a:t>
            </a:r>
          </a:p>
          <a:p>
            <a:pPr lvl="0" indent="0" marL="0">
              <a:buNone/>
            </a:pPr>
            <a:r>
              <a:rPr b="1"/>
              <a:t>The TYPO3 foundation is sound.</a:t>
            </a:r>
            <a:br/>
            <a:r>
              <a:rPr/>
              <a:t>The MX layer above it has not yet been built.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governance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robots.txt:</a:t>
            </a:r>
            <a:r>
              <a:rPr/>
              <a:t> found · standard · permissive</a:t>
            </a:r>
          </a:p>
          <a:p>
            <a:pPr lvl="0" indent="0" marL="0">
              <a:buNone/>
            </a:pPr>
            <a:r>
              <a:rPr/>
              <a:t>No entries for any named AI crawler:</a:t>
            </a:r>
          </a:p>
          <a:p>
            <a:pPr lvl="0"/>
            <a:r>
              <a:rPr/>
              <a:t>No </a:t>
            </a:r>
            <a:r>
              <a:rPr>
                <a:latin typeface="Courier"/>
              </a:rPr>
              <a:t>GPTBot</a:t>
            </a:r>
          </a:p>
          <a:p>
            <a:pPr lvl="0"/>
            <a:r>
              <a:rPr/>
              <a:t>No </a:t>
            </a:r>
            <a:r>
              <a:rPr>
                <a:latin typeface="Courier"/>
              </a:rPr>
              <a:t>ClaudeBot</a:t>
            </a:r>
          </a:p>
          <a:p>
            <a:pPr lvl="0"/>
            <a:r>
              <a:rPr/>
              <a:t>No </a:t>
            </a:r>
            <a:r>
              <a:rPr>
                <a:latin typeface="Courier"/>
              </a:rPr>
              <a:t>PerplexityBot</a:t>
            </a:r>
          </a:p>
          <a:p>
            <a:pPr lvl="0"/>
            <a:r>
              <a:rPr/>
              <a:t>No </a:t>
            </a:r>
            <a:r>
              <a:rPr>
                <a:latin typeface="Courier"/>
              </a:rPr>
              <a:t>Google-Extended</a:t>
            </a:r>
          </a:p>
          <a:p>
            <a:pPr lvl="0" indent="0" marL="0">
              <a:buNone/>
            </a:pPr>
            <a:r>
              <a:rPr b="1"/>
              <a:t>llms.txt:</a:t>
            </a:r>
            <a:r>
              <a:rPr/>
              <a:t> 404</a:t>
            </a:r>
            <a:br/>
            <a:r>
              <a:rPr b="1"/>
              <a:t>ai.txt:</a:t>
            </a:r>
            <a:r>
              <a:rPr/>
              <a:t> 404</a:t>
            </a:r>
            <a:br/>
            <a:r>
              <a:rPr b="1"/>
              <a:t>agent-card.json:</a:t>
            </a:r>
            <a:r>
              <a:rPr/>
              <a:t> 404</a:t>
            </a:r>
          </a:p>
          <a:p>
            <a:pPr lvl="0" indent="0" marL="0">
              <a:buNone/>
            </a:pPr>
            <a:r>
              <a:rPr/>
              <a:t>The site has not declared a position.</a:t>
            </a:r>
            <a:br/>
            <a:r>
              <a:rPr/>
              <a:t>It is open to all agents and silent about its preferences.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schema gap —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@type: "WebPage"</a:t>
            </a:r>
            <a:r>
              <a:rPr/>
              <a:t> vs </a:t>
            </a:r>
            <a:r>
              <a:rPr>
                <a:latin typeface="Courier"/>
              </a:rPr>
              <a:t>@type: "TechArticle"</a:t>
            </a:r>
          </a:p>
          <a:p>
            <a:pPr lvl="0" indent="0" marL="0">
              <a:buNone/>
            </a:pPr>
            <a:r>
              <a:rPr/>
              <a:t>This is not cosmetic. It changes:</a:t>
            </a:r>
          </a:p>
          <a:p>
            <a:pPr lvl="0"/>
            <a:r>
              <a:rPr b="1"/>
              <a:t>How AI assistants rank the content</a:t>
            </a:r>
            <a:r>
              <a:rPr/>
              <a:t> when deciding what to cite</a:t>
            </a:r>
          </a:p>
          <a:p>
            <a:pPr lvl="0"/>
            <a:r>
              <a:rPr b="1"/>
              <a:t>Whether an author is attributed</a:t>
            </a:r>
            <a:r>
              <a:rPr/>
              <a:t> — TechArticle has </a:t>
            </a:r>
            <a:r>
              <a:rPr>
                <a:latin typeface="Courier"/>
              </a:rPr>
              <a:t>author</a:t>
            </a:r>
            <a:r>
              <a:rPr/>
              <a:t>; WebPage does not</a:t>
            </a:r>
          </a:p>
          <a:p>
            <a:pPr lvl="0"/>
            <a:r>
              <a:rPr b="1"/>
              <a:t>Whether the date is trusted</a:t>
            </a:r>
            <a:r>
              <a:rPr/>
              <a:t> — datePublished signals freshness</a:t>
            </a:r>
          </a:p>
          <a:p>
            <a:pPr lvl="0"/>
            <a:r>
              <a:rPr b="1"/>
              <a:t>Whether it is eligible for AI Overview citations</a:t>
            </a:r>
            <a:r>
              <a:rPr/>
              <a:t> — content type is a ranking signal</a:t>
            </a:r>
          </a:p>
          <a:p>
            <a:pPr lvl="0" indent="0" marL="0">
              <a:buNone/>
            </a:pPr>
            <a:r>
              <a:rPr/>
              <a:t>Everything Leica needs is already in TCA: title, author, date, body. It is not in the markup.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 4: The TYPO3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template changes. No content migration.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llms.txt — Site Set</a:t>
            </a:r>
          </a:p>
          <a:p>
            <a:pPr lvl="0" indent="0">
              <a:buNone/>
            </a:pPr>
            <a:r>
              <a:rPr>
                <a:latin typeface="Courier"/>
              </a:rPr>
              <a:t># /llms.txt — generated from page tree
# Leica Microsystems · Machine Experience layer
## Science Lab
- URL: /science-lab/
- Content-Type: LearningResource
- Language: en
...</a:t>
            </a:r>
          </a:p>
          <a:p>
            <a:pPr lvl="0" indent="0" marL="0">
              <a:buNone/>
            </a:pPr>
            <a:r>
              <a:rPr/>
              <a:t>Reads from the same page tree as the XML sitemap.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Fluid template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"@type"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"WebPage"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"url"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"..."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After: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"@type"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"TechArticle"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"url"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 Guide to Polarised Light Microscopy"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"author"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"@type"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"Organization"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"Leica Microsystems"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"datePublished"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"2024-03-15"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"about"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"Polarised light microscopy"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One conditional block in the Fluid layout, keyed off page type.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the fix:</a:t>
            </a:r>
            <a:r>
              <a:rPr/>
              <a:t> A machine reads “a web page on leica-microsystems.com”</a:t>
            </a:r>
          </a:p>
          <a:p>
            <a:pPr lvl="0" indent="0" marL="0">
              <a:buNone/>
            </a:pPr>
            <a:r>
              <a:rPr b="1"/>
              <a:t>After the fix:</a:t>
            </a:r>
            <a:r>
              <a:rPr/>
              <a:t> A machine reads “a technical article about polarised light microscopy, published by Leica Microsystems on 15 March 2024, last updated April 2026”</a:t>
            </a:r>
          </a:p>
          <a:p>
            <a:pPr lvl="0" indent="0" marL="0">
              <a:buNone/>
            </a:pPr>
            <a:r>
              <a:rPr/>
              <a:t>The content is identical. The markup difference is the difference between cited and invisible.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Convergence Principle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fix that helps a machine also helps a human: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Machine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benefit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Article schema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citation, attribution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Richer search snippets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 metadata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Credibility, trust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Figure captions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Figure understanding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Screen readers, low vision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landmarks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 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Keyboard navigation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llms.txt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 declaration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 policy transparency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MX and accessibility converge.</a:t>
            </a:r>
            <a:r>
              <a:rPr/>
              <a:t> The accessibility score rising from 0 is a by-product of fixing MX, not a separate project.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 5: The closing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TYPO3 was built for this.</a:t>
            </a:r>
          </a:p>
          <a:p>
            <a:pPr lvl="0"/>
            <a:r>
              <a:rPr/>
              <a:t>TCA: fields for author, date, abstract, content type — already there</a:t>
            </a:r>
          </a:p>
          <a:p>
            <a:pPr lvl="0"/>
            <a:r>
              <a:rPr/>
              <a:t>TypoScript: conditional output by page type — already there</a:t>
            </a:r>
          </a:p>
          <a:p>
            <a:pPr lvl="0"/>
            <a:r>
              <a:rPr/>
              <a:t>Fluid: template logic for rich JSON-LD — already there</a:t>
            </a:r>
          </a:p>
          <a:p>
            <a:pPr lvl="0"/>
            <a:r>
              <a:rPr/>
              <a:t>Site Sets: site-level governance files — the right home for </a:t>
            </a:r>
            <a:r>
              <a:rPr>
                <a:latin typeface="Courier"/>
              </a:rPr>
              <a:t>llms.txt</a:t>
            </a:r>
          </a:p>
          <a:p>
            <a:pPr lvl="0" indent="0" marL="0">
              <a:buNone/>
            </a:pPr>
            <a:r>
              <a:rPr/>
              <a:t>TYPO3 does not need to become something else to be MX-ready.</a:t>
            </a:r>
            <a:br/>
            <a:r>
              <a:rPr/>
              <a:t>It needs an MX layer — and the DACH enterprise community is well placed to build it.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Leica Microsystems is representative, not exceptional.</a:t>
            </a:r>
          </a:p>
          <a:p>
            <a:pPr lvl="0" indent="0" marL="0">
              <a:buNone/>
            </a:pPr>
            <a:r>
              <a:rPr/>
              <a:t>Every TYPO3 site built before MX existed as a discipline looks like this. The gap is not a failure; it is an opportunity.</a:t>
            </a:r>
          </a:p>
          <a:p>
            <a:pPr lvl="0" indent="0" marL="0">
              <a:buNone/>
            </a:pPr>
            <a:r>
              <a:rPr b="1"/>
              <a:t>For TYPO3:</a:t>
            </a:r>
            <a:r>
              <a:rPr/>
              <a:t> a community-led MX extension. One package that adds the governance layer to any TYPO3 site — llms.txt generation, TechArticle/LearningResource schema, figure caption enforcement, AI bot policy in robots.txt.</a:t>
            </a:r>
          </a:p>
          <a:p>
            <a:pPr lvl="0" indent="0" marL="0">
              <a:buNone/>
            </a:pPr>
            <a:r>
              <a:rPr b="1"/>
              <a:t>For the DACH enterprise market:</a:t>
            </a:r>
            <a:r>
              <a:rPr/>
              <a:t> TYPO3’s strengths — multilingual, multi-site, TCA-driven, declarative — are exactly what MX needs at enterprise scale.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Tom Cranstoun</a:t>
            </a:r>
            <a:br/>
            <a:r>
              <a:rPr/>
              <a:t>Machine Experience community</a:t>
            </a:r>
            <a:br/>
            <a:r>
              <a:rPr/>
              <a:t>MX: The Handbook — April 2026</a:t>
            </a:r>
          </a:p>
          <a:p>
            <a:pPr lvl="0" indent="0" marL="0">
              <a:buNone/>
            </a:pPr>
            <a:r>
              <a:rPr i="1"/>
              <a:t>MX is not SEO for AI. It is the practice of adding metadata and instructions to internet assets so AI agents do not have to think.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TYPO3 and Machine Experience</dc:title>
  <dc:creator>Tom Cranstoun</dc:creator>
  <cp:keywords/>
  <dc:description>Stage presentation slides for the MX demonstration at CMS Summit Frankfurt, May 2026 — covering the Leica Microsystems audit, MX Journey scores, and TYPO3-native remediation.</dc:description>
  <dcterms:created xsi:type="dcterms:W3CDTF">2026-04-24T12:57:52Z</dcterms:created>
  <dcterms:modified xsi:type="dcterms:W3CDTF">2026-04-24T12:57:52Z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lpwstr>2026-04-24</vt:lpwstr>
  </property>
  <property fmtid="{D5CDD505-2E9C-101B-9397-08002B2CF9AE}" pid="3" name="event">
    <vt:lpwstr>CMS Summit Frankfurt, May 2026</vt:lpwstr>
  </property>
  <property fmtid="{D5CDD505-2E9C-101B-9397-08002B2CF9AE}" pid="4" name="modified">
    <vt:lpwstr>2026-04-24</vt:lpwstr>
  </property>
  <property fmtid="{D5CDD505-2E9C-101B-9397-08002B2CF9AE}" pid="5" name="mx">
    <vt:lpwstr/>
  </property>
  <property fmtid="{D5CDD505-2E9C-101B-9397-08002B2CF9AE}" pid="6" name="subtitle">
    <vt:lpwstr>A worked audit — CMS Summit Frankfurt, May 2026</vt:lpwstr>
  </property>
  <property fmtid="{D5CDD505-2E9C-101B-9397-08002B2CF9AE}" pid="7" name="version">
    <vt:lpwstr>1.1</vt:lpwstr>
  </property>
</Properties>
</file>