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JetBrains Mono"/>
              </a:rPr>
              <a:t>01 /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109167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600" b="0" i="0">
                <a:solidFill>
                  <a:srgbClr val="1A1A1A"/>
                </a:solidFill>
                <a:latin typeface="Source Serif 4"/>
              </a:rPr>
              <a:t>Title goes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10916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2A2A28"/>
                </a:solidFill>
                <a:latin typeface="Source Serif 4"/>
              </a:rPr>
              <a:t>Subtitle / lead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Inter"/>
              </a:rPr>
              <a:t>Tagline / supporting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JetBrains Mono"/>
              </a:rPr>
              <a:t>TOM CRANSTOUN · CMS SUMMIT FRANKFURT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JetBrains Mono"/>
              </a:rPr>
              <a:t>02 /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i="0">
                <a:solidFill>
                  <a:srgbClr val="1A1A1A"/>
                </a:solidFill>
                <a:latin typeface="Source Serif 4"/>
              </a:rPr>
              <a:t>Slide title goes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16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A2A28"/>
                </a:solidFill>
                <a:latin typeface="Inter"/>
              </a:rPr>
              <a:t>Optional intro paragraph that frames the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1091672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</a:rPr>
              <a:t>Body content — paragraphs, bullets, or both.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8482B"/>
                </a:solidFill>
                <a:latin typeface="Inter"/>
              </a:rPr>
              <a:t>Takeaway line — accented.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JetBrains Mono"/>
              </a:rPr>
              <a:t>TOM CRANSTOUN · CMS SUMMIT FRANKFURT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JetBrains Mono"/>
              </a:rPr>
              <a:t>03 /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i="0">
                <a:solidFill>
                  <a:srgbClr val="1A1A1A"/>
                </a:solidFill>
                <a:latin typeface="Source Serif 4"/>
              </a:rPr>
              <a:t>Table 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16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A2A28"/>
                </a:solidFill>
                <a:latin typeface="Inter"/>
              </a:rPr>
              <a:t>Optional intro paragraph.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1091672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JetBrains Mono"/>
              </a:rPr>
              <a:t>Header A | Header B | Header C</a:t>
            </a:r>
          </a:p>
          <a:p>
            <a:r>
              <a:t>Row 1 col A | Row 1 col B | Row 1 col C</a:t>
            </a:r>
          </a:p>
          <a:p>
            <a:r>
              <a:t>Row 2 col A | Row 2 col B | Row 2 col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82B"/>
                </a:solidFill>
                <a:latin typeface="Inter"/>
              </a:rPr>
              <a:t>Takeaway / closing observation.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JetBrains Mono"/>
              </a:rPr>
              <a:t>TOM CRANSTOUN · CMS SUMMIT FRANKFURT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JetBrains Mono"/>
              </a:rPr>
              <a:t>04 /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 i="0">
                <a:solidFill>
                  <a:srgbClr val="1A1A1A"/>
                </a:solidFill>
                <a:latin typeface="Source Serif 4"/>
              </a:rPr>
              <a:t>Code 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16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A2A28"/>
                </a:solidFill>
                <a:latin typeface="Inter"/>
              </a:rPr>
              <a:t>Optional framing paragraph.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1091672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JetBrains Mono"/>
              </a:rPr>
              <a:t>{</a:t>
            </a:r>
          </a:p>
          <a:p>
            <a:r>
              <a:t>  "@type": "TechArticle",</a:t>
            </a:r>
          </a:p>
          <a:p>
            <a:r>
              <a:t>  "name": "...",</a:t>
            </a:r>
          </a:p>
          <a:p>
            <a:r>
              <a:t>  "datePublished": "..."</a:t>
            </a:r>
          </a:p>
          <a:p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8482B"/>
                </a:solidFill>
                <a:latin typeface="Inter"/>
              </a:rPr>
              <a:t>Caption / takeaway.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JetBrains Mono"/>
              </a:rPr>
              <a:t>TOM CRANSTOUN · CMS SUMMIT FRANKFURT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