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11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38250" y="952500"/>
            <a:ext cx="810919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96" dirty="0">
                <a:solidFill>
                  <a:srgbClr val="FBF2E6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MX OS · PRE-SERIES A · Investor Deck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681951" y="952500"/>
            <a:ext cx="1443998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i="1" kern="0" spc="-21" dirty="0" err="1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CogNova</a:t>
            </a:r>
            <a:r>
              <a:rPr lang="en-US" sz="2100" kern="0" spc="-21" dirty="0" err="1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MX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38250" y="1686020"/>
            <a:ext cx="16285845" cy="3547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4700" kern="0" spc="-441" dirty="0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MX: The machine layer for meaning.</a:t>
            </a:r>
            <a:endParaRPr lang="en-US" sz="14700" dirty="0"/>
          </a:p>
        </p:txBody>
      </p:sp>
      <p:sp>
        <p:nvSpPr>
          <p:cNvPr id="5" name="Text 3"/>
          <p:cNvSpPr/>
          <p:nvPr/>
        </p:nvSpPr>
        <p:spPr>
          <a:xfrm>
            <a:off x="1238250" y="5729139"/>
            <a:ext cx="12753975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450" dirty="0">
                <a:solidFill>
                  <a:srgbClr val="FBF2E6">
                    <a:alpha val="9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universal file runtime. Built on open standards. Operational at alpha.</a:t>
            </a:r>
          </a:p>
        </p:txBody>
      </p:sp>
      <p:sp>
        <p:nvSpPr>
          <p:cNvPr id="6" name="Shape 4"/>
          <p:cNvSpPr/>
          <p:nvPr/>
        </p:nvSpPr>
        <p:spPr>
          <a:xfrm>
            <a:off x="1238250" y="8003909"/>
            <a:ext cx="15811500" cy="9525"/>
          </a:xfrm>
          <a:prstGeom prst="rect">
            <a:avLst/>
          </a:prstGeom>
          <a:solidFill>
            <a:srgbClr val="FBF2E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8250" y="8690683"/>
            <a:ext cx="459147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FBF2E6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 · FOUNDER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43917" y="8279241"/>
            <a:ext cx="3305832" cy="76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kern="0" spc="324" dirty="0">
                <a:solidFill>
                  <a:srgbClr val="FBF2E6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 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1" y="1577240"/>
            <a:ext cx="13033562" cy="154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kern="0" spc="-10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Machines cannot reliably act on the things you publish — videos, podcasts, PDFs, images, web pages — when they are designed for human eyes alone.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238250" y="3997320"/>
            <a:ext cx="5440456" cy="1200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3000" kern="0" spc="-15" dirty="0">
                <a:solidFill>
                  <a:srgbClr val="2A2A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enterprise AI deployment hits the same four failures: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38250" y="5353551"/>
            <a:ext cx="7063740" cy="20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2A2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not a web problem. It's a file problem. Contracts, policies, manufacturing specs, government archives, scientific papers — the substrate of every enterprise.</a:t>
            </a:r>
          </a:p>
        </p:txBody>
      </p:sp>
      <p:sp>
        <p:nvSpPr>
          <p:cNvPr id="7" name="Shape 5"/>
          <p:cNvSpPr/>
          <p:nvPr/>
        </p:nvSpPr>
        <p:spPr>
          <a:xfrm>
            <a:off x="9973987" y="4903142"/>
            <a:ext cx="7075762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73987" y="3672604"/>
            <a:ext cx="838200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15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926487" y="3616320"/>
            <a:ext cx="6306960" cy="43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kern="0" spc="-1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Wasted inference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926487" y="4076402"/>
            <a:ext cx="6199462" cy="731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recompute meaning that should already be explicit</a:t>
            </a:r>
          </a:p>
        </p:txBody>
      </p:sp>
      <p:sp>
        <p:nvSpPr>
          <p:cNvPr id="11" name="Shape 9"/>
          <p:cNvSpPr/>
          <p:nvPr/>
        </p:nvSpPr>
        <p:spPr>
          <a:xfrm>
            <a:off x="9973987" y="6484306"/>
            <a:ext cx="7075762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73987" y="5253768"/>
            <a:ext cx="838200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15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926487" y="5197484"/>
            <a:ext cx="6306960" cy="43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kern="0" spc="-1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Energy cost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926487" y="5657566"/>
            <a:ext cx="6306960" cy="731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ambiguous files become a compute problem at scale</a:t>
            </a:r>
          </a:p>
        </p:txBody>
      </p:sp>
      <p:sp>
        <p:nvSpPr>
          <p:cNvPr id="15" name="Shape 13"/>
          <p:cNvSpPr/>
          <p:nvPr/>
        </p:nvSpPr>
        <p:spPr>
          <a:xfrm>
            <a:off x="9973987" y="8065469"/>
            <a:ext cx="7075762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73987" y="6834932"/>
            <a:ext cx="838200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15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926487" y="6778647"/>
            <a:ext cx="6306960" cy="43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kern="0" spc="-1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Hallucinations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926487" y="7238729"/>
            <a:ext cx="6306960" cy="731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guess when source material is ambiguous (an infrastructure problem, not a model problem)</a:t>
            </a:r>
          </a:p>
        </p:txBody>
      </p:sp>
      <p:sp>
        <p:nvSpPr>
          <p:cNvPr id="19" name="Text 17"/>
          <p:cNvSpPr/>
          <p:nvPr/>
        </p:nvSpPr>
        <p:spPr>
          <a:xfrm>
            <a:off x="9973987" y="8416095"/>
            <a:ext cx="838200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15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926487" y="8359811"/>
            <a:ext cx="6306960" cy="43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kern="0" spc="-1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provenance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0926487" y="8819892"/>
            <a:ext cx="6306960" cy="731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way to verify a file's origin or whether it has been altered</a:t>
            </a:r>
          </a:p>
        </p:txBody>
      </p:sp>
      <p:sp>
        <p:nvSpPr>
          <p:cNvPr id="22" name="Text 20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INSIGHT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6285845" cy="1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kern="0" spc="-8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47 years in content systems. The work is the moat.</a:t>
            </a:r>
            <a:br>
              <a:rPr lang="en-US" sz="4500" kern="0" spc="-8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</a:b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238250" y="3832527"/>
            <a:ext cx="9525" cy="2800201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46909" y="3832527"/>
            <a:ext cx="2171700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7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200+ sites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551918" y="3832527"/>
            <a:ext cx="13902766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the world's largest enterprise content programmes — Nissan-Renault (200+ websites, 30 languages), the BBC, Ford, McLaren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6909" y="4445902"/>
            <a:ext cx="2171700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7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8,000pp · 24d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551918" y="4445902"/>
            <a:ext cx="13902766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EE: 8,000 pages across three brand CMSs in 24 days · £450,000 saved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6909" y="5672651"/>
            <a:ext cx="2171700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7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Operator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551918" y="5672651"/>
            <a:ext cx="13902766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the diagnosis in 2024: files lack machine-native structure, state, intent, and provenance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6909" y="6286026"/>
            <a:ext cx="2171700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7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551918" y="6286026"/>
            <a:ext cx="13902766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enterprise solves that from scratch — MX is the infrastructure layer so no one has to solve it again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MX 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1697821" cy="154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kern="0" spc="-10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Make anything you publish — a video, a podcast, a PDF, an image, a web page — readable by machines.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238250" y="3616320"/>
            <a:ext cx="5041891" cy="5036276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65996" y="4082152"/>
            <a:ext cx="43119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9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ARTEFACT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65996" y="4630719"/>
            <a:ext cx="4311992" cy="571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kern="0" spc="-6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COGs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65996" y="5297469"/>
            <a:ext cx="4311992" cy="632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spc="216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PORTABLE, SELF-DESCRIBING FILES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5996" y="6078412"/>
            <a:ext cx="4186400" cy="1135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2A2A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portable, self-describing files. Structured metadata, human-readable content. The artefact.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662748" y="7547652"/>
            <a:ext cx="4186400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65996" y="7738139"/>
            <a:ext cx="4311992" cy="524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72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 on Markdown · YAML · HTML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22986" y="3616320"/>
            <a:ext cx="5041959" cy="5036276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50732" y="4082152"/>
            <a:ext cx="431206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9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REGISTRY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50732" y="4630719"/>
            <a:ext cx="4312061" cy="571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kern="0" spc="-6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REGINALD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050732" y="5297469"/>
            <a:ext cx="4312061" cy="632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spc="216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GENUINE · NOTARISED · LEGITIMATE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50732" y="6120286"/>
            <a:ext cx="4312061" cy="1094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2A2A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Registry for Genuine Information, Notarised Authentication, and Legitimate Documentation. Tells machines where COGs live and attests their integrity.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050731" y="7538127"/>
            <a:ext cx="4186467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50732" y="7709565"/>
            <a:ext cx="4312061" cy="553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72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Ed25519 attestation · alpha live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07791" y="3616320"/>
            <a:ext cx="5041891" cy="5036276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435536" y="4082152"/>
            <a:ext cx="43119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9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— STANDARDS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35536" y="4630719"/>
            <a:ext cx="4311992" cy="571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kern="0" spc="-6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Gathering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2435536" y="5297469"/>
            <a:ext cx="3503711" cy="632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kern="0" spc="216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STANDARDS BODY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35536" y="6120286"/>
            <a:ext cx="4311992" cy="1094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2A2A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independent standards body. Structurally separate from any commercial entity.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435536" y="7528563"/>
            <a:ext cx="4186400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435536" y="7747663"/>
            <a:ext cx="4311992" cy="51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72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Incorporated as TG Administration LTD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8250" y="9014519"/>
            <a:ext cx="1628584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2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 on Markdown, YAML, and HTML. Nothing proprietary. Nothing to install. Nothing to lock in.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3246120"/>
            <a:ext cx="640080" cy="64008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3246120"/>
            <a:ext cx="640080" cy="64008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3784" y="32461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MX IS NOT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6285845" cy="1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kern="0" spc="-8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Four collapses MX is not. Each rebuttal is one sentence.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238250" y="3184922"/>
            <a:ext cx="7708214" cy="642558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43009" y="3850589"/>
            <a:ext cx="7098695" cy="9525"/>
          </a:xfrm>
          <a:prstGeom prst="rect">
            <a:avLst/>
          </a:prstGeom>
          <a:solidFill>
            <a:srgbClr val="E8E2D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43009" y="3451595"/>
            <a:ext cx="2113048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kern="0" spc="81" dirty="0">
                <a:solidFill>
                  <a:srgbClr val="E8E2D2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WHATEVER YOU HAVE DONE STILL COUNTS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21972" y="3451595"/>
            <a:ext cx="2095933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kern="0" spc="27" dirty="0">
                <a:solidFill>
                  <a:srgbClr val="E8E2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MX is a superset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43009" y="4030671"/>
            <a:ext cx="7311656" cy="5351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E8E2D2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MX is a superset. Whatever you have already done in SEO, GEO, JSON-LD, or accessibility still counts — MX makes it travel, makes it verifiable, makes it complete.</a:t>
            </a:r>
            <a:br>
              <a:rPr lang="en-US" sz="1350" dirty="0">
                <a:solidFill>
                  <a:srgbClr val="E8E2D2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br>
              <a:rPr lang="en-US" sz="1350" dirty="0">
                <a:solidFill>
                  <a:srgbClr val="E8E2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br>
              <a:rPr lang="en-US" sz="1350" dirty="0">
                <a:solidFill>
                  <a:srgbClr val="E8E2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br>
              <a:rPr lang="en-US" sz="1350" dirty="0">
                <a:solidFill>
                  <a:srgbClr val="D8C8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br>
              <a:rPr lang="en-US" sz="1350" dirty="0">
                <a:solidFill>
                  <a:srgbClr val="D8C8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</a:b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708464" y="3640674"/>
            <a:ext cx="7561454" cy="1653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7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reader collapses MX into something they already know. Each is partly right. None is the whole shape. MX picks up where each one stops.</a:t>
            </a:r>
          </a:p>
        </p:txBody>
      </p:sp>
      <p:sp>
        <p:nvSpPr>
          <p:cNvPr id="11" name="Shape 9"/>
          <p:cNvSpPr/>
          <p:nvPr/>
        </p:nvSpPr>
        <p:spPr>
          <a:xfrm>
            <a:off x="9708464" y="5536068"/>
            <a:ext cx="7341218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708464" y="5708370"/>
            <a:ext cx="2747010" cy="33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kern="0" spc="6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SEO or GEO.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604050" y="5678063"/>
            <a:ext cx="457900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got you found. GEO gets you understood. MX gets you used.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708464" y="6135101"/>
            <a:ext cx="7341218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708464" y="6307403"/>
            <a:ext cx="2747010" cy="33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kern="0" spc="6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JSON-LD or schema.org.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604050" y="6202641"/>
            <a:ext cx="4579000" cy="43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JSON-LD describes entities on a web page. MX describes the file in every carrier (HTML, PDF, DOCX, EPUB, MP4, audio, CSV, Markdown) and binds it to a registry that attests origin and integrity.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708464" y="6734134"/>
            <a:ext cx="7341218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08464" y="6906437"/>
            <a:ext cx="2747010" cy="33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kern="0" spc="6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the Google web.dev agent guide (1 May 2026).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604050" y="6790892"/>
            <a:ext cx="4579000" cy="766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covered the rendered HTML page — semantic elements, stable layouts, the accessibility tree. MX picks up where Google stops: provenance, authentication, rights, lifecycle, off-web carriers.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708464" y="7652404"/>
            <a:ext cx="7341218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08464" y="7824706"/>
            <a:ext cx="2747010" cy="33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kern="0" spc="6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memory-pool architecture (LLM-wiki, vector store, knowledge base, sovereign runtime).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604050" y="7709161"/>
            <a:ext cx="4276491" cy="766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2A2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pool organises knowledge inside one system. MeetKai keeps the model sovereign; MX keeps the file's DNA intact when it leaves.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708464" y="9488943"/>
            <a:ext cx="7341218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708464" y="8570673"/>
            <a:ext cx="7341218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08464" y="8742976"/>
            <a:ext cx="2747010" cy="33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kern="0" spc="6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604050" y="8627431"/>
            <a:ext cx="4579000" cy="766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2A2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6285845" cy="154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kern="0" spc="-10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isn't metadata that describes. It's metadata that executes.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238250" y="3902070"/>
            <a:ext cx="5100475" cy="4381500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48001" y="4177402"/>
            <a:ext cx="168097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PUBLISHER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1991" y="4706825"/>
            <a:ext cx="912925" cy="589765"/>
          </a:xfrm>
          <a:prstGeom prst="rect">
            <a:avLst/>
          </a:prstGeom>
          <a:ln w="12989">
            <a:solidFill>
              <a:srgbClr val="C848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8330" y="4815063"/>
            <a:ext cx="620248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kern="0" spc="16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218768" y="5549153"/>
            <a:ext cx="3139440" cy="387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Holds the file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18768" y="5936551"/>
            <a:ext cx="3139440" cy="918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5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 by default. The publisher hosts; the registry never holds the file.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338725" y="3902070"/>
            <a:ext cx="5610482" cy="4381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92607" y="4168743"/>
            <a:ext cx="150271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E07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34119" y="4698166"/>
            <a:ext cx="1819694" cy="589765"/>
          </a:xfrm>
          <a:prstGeom prst="rect">
            <a:avLst/>
          </a:prstGeom>
          <a:ln w="12989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80458" y="4806404"/>
            <a:ext cx="1527017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kern="0" spc="168" dirty="0">
                <a:solidFill>
                  <a:srgbClr val="E07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DNS-LIKE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67659" y="5440277"/>
            <a:ext cx="1752546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850" i="1" dirty="0">
                <a:solidFill>
                  <a:srgbClr val="F5F1E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REGINALD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7574212" y="5990738"/>
            <a:ext cx="3139440" cy="1211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50" dirty="0">
                <a:solidFill>
                  <a:srgbClr val="F5F1E8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 to where the COG lives. Attests it hasn’t been altered. Holds proof of provenance for jurisdictions that demand it.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996087" y="7696944"/>
            <a:ext cx="4295757" cy="358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kern="0" spc="288" dirty="0">
                <a:solidFill>
                  <a:srgbClr val="F5F1E8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LOOKUP · ATTESTATION 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949207" y="3902070"/>
            <a:ext cx="5100543" cy="4381500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926443" y="4177402"/>
            <a:ext cx="114607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952298" y="4706825"/>
            <a:ext cx="1094293" cy="589765"/>
          </a:xfrm>
          <a:prstGeom prst="rect">
            <a:avLst/>
          </a:prstGeom>
          <a:ln w="12989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098637" y="4815063"/>
            <a:ext cx="801615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kern="0" spc="168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258801" y="5467933"/>
            <a:ext cx="2371886" cy="46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 executes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929724" y="5936551"/>
            <a:ext cx="3139440" cy="918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5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Resolves the COG, verifies provenance, executes safely. No re-reading. No guessing.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38250" y="8740675"/>
            <a:ext cx="7620000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38250" y="8825507"/>
            <a:ext cx="361950" cy="64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kern="0" spc="7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57336" y="8825507"/>
            <a:ext cx="7416941" cy="64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the way DNS works. </a:t>
            </a:r>
            <a:r>
              <a:rPr lang="en-US" sz="1800" dirty="0">
                <a:solidFill>
                  <a:srgbClr val="2A2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Layered, optional, federated. Signing is opt-in — the way DNSSEC layers on DNS.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429749" y="8740675"/>
            <a:ext cx="7620000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429749" y="8825507"/>
            <a:ext cx="361950" cy="64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kern="0" spc="7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48836" y="8825507"/>
            <a:ext cx="7416941" cy="64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Unsigned COGs are still discoverable. </a:t>
            </a:r>
            <a:r>
              <a:rPr lang="en-US" sz="1800" dirty="0">
                <a:solidFill>
                  <a:srgbClr val="2A2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COGs add cryptographic provenance on top.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MX DELIVERS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1697821" cy="154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kern="0" spc="-10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Three concrete benefits. One mechanism: attestation.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238250" y="3616320"/>
            <a:ext cx="5041891" cy="5036276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65996" y="4082152"/>
            <a:ext cx="43119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9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HALLUCINATIONS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65996" y="4630719"/>
            <a:ext cx="4311992" cy="571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kern="0" spc="-6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Fewer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65996" y="5297469"/>
            <a:ext cx="4311992" cy="632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spc="216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FACTS, NOT INFERENCES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5996" y="6078412"/>
            <a:ext cx="4186400" cy="1135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2A2A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Agents that read attested files hallucinate less — they have verified facts to cite rather than inferences to make.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662748" y="7547652"/>
            <a:ext cx="4186400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65996" y="7738139"/>
            <a:ext cx="4311992" cy="524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72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Compounds across every agent · every read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22986" y="3616320"/>
            <a:ext cx="5041959" cy="5036276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50732" y="4082152"/>
            <a:ext cx="431206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9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TOKENS &amp; ENERGY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50732" y="4630719"/>
            <a:ext cx="4312061" cy="571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kern="0" spc="-6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050732" y="5297469"/>
            <a:ext cx="4312061" cy="632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kern="0" spc="216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INFERENCE STEPS PER FILE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50732" y="6120286"/>
            <a:ext cx="4312061" cy="1094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2A2A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Fewer inference steps per file, multiplied across every agent that reads every file.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050731" y="7538127"/>
            <a:ext cx="4186467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50732" y="7709565"/>
            <a:ext cx="4312061" cy="553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72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Direct cost · direct carbon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07791" y="3616320"/>
            <a:ext cx="5041891" cy="5036276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435536" y="4082152"/>
            <a:ext cx="43119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9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— REGULATION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35536" y="4630719"/>
            <a:ext cx="4311992" cy="571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kern="0" spc="-6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Aligned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2435536" y="5297469"/>
            <a:ext cx="3503711" cy="632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kern="0" spc="216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AI ACT · EAA · DIGITAL RECORDS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35536" y="6120286"/>
            <a:ext cx="4311992" cy="1094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100" dirty="0">
                <a:solidFill>
                  <a:srgbClr val="2A2A2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EU AI Act, European Accessibility Act, digital-records legislation across multiple jurisdictions converge on provenance requirements. Attestation shifts from competitive advantage to regulatory expectation.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2435536" y="7528563"/>
            <a:ext cx="4186400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435536" y="7747663"/>
            <a:ext cx="4311992" cy="515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72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Already inside what the law is asking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8250" y="9014519"/>
            <a:ext cx="16285845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2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EACH BENEFIT COMPOUNDS · ATTESTATION IS THE MECHANISM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MX FITS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0890997" cy="1838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kern="0" spc="-10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Bare Metal owns the physical stack. MX is the missing logical layer for what enterprises publish.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238250" y="3692493"/>
            <a:ext cx="15811500" cy="684000"/>
          </a:xfrm>
          <a:prstGeom prst="rect">
            <a:avLst/>
          </a:prstGeom>
          <a:ln w="8659">
            <a:solidFill>
              <a:srgbClr val="D8D2C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57741" y="3701152"/>
            <a:ext cx="9525" cy="666682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1709" y="3834502"/>
            <a:ext cx="9392817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88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APPLICATIONS, AGENTS, ROBOTS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71200" y="3834502"/>
            <a:ext cx="5647331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i="1" kern="0" spc="-11" dirty="0">
                <a:solidFill>
                  <a:srgbClr val="6A625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Everything above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38250" y="4414580"/>
            <a:ext cx="15811500" cy="684000"/>
          </a:xfrm>
          <a:prstGeom prst="rect">
            <a:avLst/>
          </a:prstGeom>
          <a:solidFill>
            <a:srgbClr val="C8482B"/>
          </a:solidFill>
          <a:ln w="8659">
            <a:solidFill>
              <a:srgbClr val="C848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57741" y="4423239"/>
            <a:ext cx="9525" cy="666682"/>
          </a:xfrm>
          <a:prstGeom prst="rect">
            <a:avLst/>
          </a:prstGeom>
          <a:solidFill>
            <a:srgbClr val="FBF2E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51709" y="4556589"/>
            <a:ext cx="9392817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88" dirty="0">
                <a:solidFill>
                  <a:srgbClr val="FBF2E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FILE-NATIVE MACHINE RUNTIME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71200" y="4556589"/>
            <a:ext cx="5647331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b="1" i="1" kern="0" spc="-11" dirty="0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MX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38250" y="5136667"/>
            <a:ext cx="15811500" cy="684000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57741" y="5145327"/>
            <a:ext cx="9525" cy="666682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51709" y="5278677"/>
            <a:ext cx="9392817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88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SOVEREIGN AI RUNTIME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271200" y="5278677"/>
            <a:ext cx="5647331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kern="0" spc="-1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MeetKai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238250" y="5858754"/>
            <a:ext cx="15811500" cy="684000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57741" y="5867413"/>
            <a:ext cx="9525" cy="666682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51709" y="6000763"/>
            <a:ext cx="9392817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88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HETEROGENEOUS ORCHESTRATION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271200" y="6000763"/>
            <a:ext cx="5647331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kern="0" spc="-1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Callosum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238250" y="6580841"/>
            <a:ext cx="15811500" cy="684000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57741" y="6589500"/>
            <a:ext cx="9525" cy="666682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51709" y="6722850"/>
            <a:ext cx="9392817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88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RACK HARDWARE + OS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71200" y="6722850"/>
            <a:ext cx="5647331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kern="0" spc="-1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Oxide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238250" y="7302928"/>
            <a:ext cx="15811500" cy="684000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957741" y="7311587"/>
            <a:ext cx="9525" cy="666682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551709" y="7444937"/>
            <a:ext cx="9392817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88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COMPUTE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71200" y="7444937"/>
            <a:ext cx="5647331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kern="0" spc="-1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FluidStack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238250" y="8025015"/>
            <a:ext cx="15811500" cy="684000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957741" y="8033674"/>
            <a:ext cx="9525" cy="666682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51709" y="8167024"/>
            <a:ext cx="9392817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88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SILICON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271200" y="8167024"/>
            <a:ext cx="5647331" cy="438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kern="0" spc="-1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DreamBig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4716125" cy="2296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kern="0" spc="-10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Standards that win at this velocity are already published, governed, and operational when the wave arrives. MX is.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238249" y="6183220"/>
            <a:ext cx="7783237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38250" y="4425472"/>
            <a:ext cx="838200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15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190750" y="4369188"/>
            <a:ext cx="7035659" cy="43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kern="0" spc="-1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Agents can finally act on files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190750" y="4829269"/>
            <a:ext cx="7035659" cy="1078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Frontier models capable of acting on structured input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38248" y="7723235"/>
            <a:ext cx="7783237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8250" y="6353337"/>
            <a:ext cx="838200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15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190750" y="6297053"/>
            <a:ext cx="7035659" cy="43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kern="0" spc="-1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Ambiguity is now a line item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190750" y="6757135"/>
            <a:ext cx="7035659" cy="731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cost makes structural ambiguity expensive at enterprise scale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38250" y="7934501"/>
            <a:ext cx="838200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kern="0" spc="156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190750" y="7878217"/>
            <a:ext cx="7035659" cy="43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kern="0" spc="-1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Provenance is becoming law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90750" y="8338299"/>
            <a:ext cx="7035659" cy="731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pressure on AI provenance — EU AI Act, UK AI assurance regime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73987" y="4369188"/>
            <a:ext cx="7288035" cy="1405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700" kern="0" spc="-468" dirty="0">
                <a:solidFill>
                  <a:srgbClr val="E07A5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700</a:t>
            </a:r>
            <a:r>
              <a:rPr lang="en-US" sz="4800" kern="0" spc="-468" baseline="30000" dirty="0">
                <a:solidFill>
                  <a:srgbClr val="E07A5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%</a:t>
            </a:r>
            <a:endParaRPr lang="en-US" sz="11700" dirty="0"/>
          </a:p>
        </p:txBody>
      </p:sp>
      <p:sp>
        <p:nvSpPr>
          <p:cNvPr id="17" name="Text 15"/>
          <p:cNvSpPr/>
          <p:nvPr/>
        </p:nvSpPr>
        <p:spPr>
          <a:xfrm>
            <a:off x="9973987" y="5888520"/>
            <a:ext cx="7288035" cy="1424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Adobe Holiday 2025: 700% growth in AI-referred retail traffic. AI-referred users converting 30% higher than direct. Human browsing is becoming the exception.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973987" y="7522923"/>
            <a:ext cx="72880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8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ADOBE HOLIDAY 2025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6285845" cy="632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kern="0" spc="-8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 a prototype — a functioning ecosystem with growing institutional validation.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238250" y="2704883"/>
            <a:ext cx="10509227" cy="3320694"/>
          </a:xfrm>
          <a:prstGeom prst="rect">
            <a:avLst/>
          </a:prstGeom>
          <a:solidFill>
            <a:srgbClr val="1A1A1A"/>
          </a:solidFill>
          <a:ln w="8659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56419" y="2884965"/>
            <a:ext cx="1037507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E07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PUBLISHED · APR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56419" y="3281119"/>
            <a:ext cx="10375077" cy="653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100" kern="0" spc="-102" dirty="0">
                <a:solidFill>
                  <a:srgbClr val="E07A5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320pp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448252" y="4450595"/>
            <a:ext cx="10375077" cy="408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kern="0" spc="-13" dirty="0">
                <a:solidFill>
                  <a:srgbClr val="F5F1E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Books shipping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67650" y="4954256"/>
            <a:ext cx="7156397" cy="65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F5F1E8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Handbook published April 2026 (320 pages); Protocols pre-orders open for 1 July 2026 (800 pages)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42727" y="2704883"/>
            <a:ext cx="5206955" cy="3320694"/>
          </a:xfrm>
          <a:prstGeom prst="rect">
            <a:avLst/>
          </a:prstGeom>
          <a:solidFill>
            <a:srgbClr val="C8482B"/>
          </a:solidFill>
          <a:ln w="8659">
            <a:solidFill>
              <a:srgbClr val="C848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060895" y="2884965"/>
            <a:ext cx="491373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FBF2E6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ALPHA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33331" y="4529333"/>
            <a:ext cx="4913736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11" dirty="0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REGINALD alpha live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060895" y="4987814"/>
            <a:ext cx="4913736" cy="65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FBF2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 COGs, 2 test publishers, Ed25519 attestation; Leica Microsystems audit, 14,264 URLs across 10 locales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8250" y="6120827"/>
            <a:ext cx="5206955" cy="2546923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56419" y="6300909"/>
            <a:ext cx="491373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STANDARDS BODY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28855" y="7113662"/>
            <a:ext cx="4913736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1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Gathering Administration LTD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48252" y="7574526"/>
            <a:ext cx="4913736" cy="65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incorporated as an independent standards body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40455" y="6120827"/>
            <a:ext cx="5207022" cy="2546923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58623" y="6300909"/>
            <a:ext cx="491380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MONTH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31059" y="7113662"/>
            <a:ext cx="4913806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1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CMS Summit Frankfurt this month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750456" y="7574526"/>
            <a:ext cx="4913806" cy="65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presenting to 200 platform practitioners; second-day workshop confirmed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842727" y="6120827"/>
            <a:ext cx="5206955" cy="2546923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060895" y="6300909"/>
            <a:ext cx="491373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SPONSORS · SPEAKING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33331" y="7113662"/>
            <a:ext cx="4913736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1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Sponsors and speaking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52728" y="7574526"/>
            <a:ext cx="4913736" cy="655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IDHL sponsorship confirmed (team training July 2026); Mozilla Fest Barcelona invited for October 2026 with Mozilla in conversation as sponsor; Germany and Canada in active discussion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COMPETITIVE POSITION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6285845" cy="1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kern="0" spc="-8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competitor raised on an agent-OS narrative. None is file-native. The moat is architecture.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238250" y="6175758"/>
            <a:ext cx="40005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38500" y="4175508"/>
            <a:ext cx="9525" cy="4000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62077" y="6347181"/>
            <a:ext cx="20376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PROPRIETARY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25430" y="6347181"/>
            <a:ext cx="7894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71836" y="3775499"/>
            <a:ext cx="185929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EXECUTABLE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71836" y="8198873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QUERIED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55948" y="4249922"/>
            <a:ext cx="13679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300" i="1" kern="0" spc="-66" dirty="0">
                <a:solidFill>
                  <a:srgbClr val="C848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MX OS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333723" y="4823113"/>
            <a:ext cx="1733604" cy="384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50" kern="0" spc="16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ALONE IN THIS QUADRANT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43850" y="4643031"/>
            <a:ext cx="7805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43850" y="3869734"/>
            <a:ext cx="203484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8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COMPANY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354842" y="3869734"/>
            <a:ext cx="161521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8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008105" y="3869734"/>
            <a:ext cx="119545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kern="0" spc="18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FILE-NATIVE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279706" y="3869734"/>
            <a:ext cx="105555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kern="0" spc="18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411409" y="3869734"/>
            <a:ext cx="167644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kern="0" spc="18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EXECUTABLE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43850" y="5579972"/>
            <a:ext cx="7805900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43850" y="4785027"/>
            <a:ext cx="2132328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/dev/agents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452324" y="4806675"/>
            <a:ext cx="169172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$56M @ $500M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182099" y="4806675"/>
            <a:ext cx="12511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509375" y="4806675"/>
            <a:ext cx="11042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689785" y="4806675"/>
            <a:ext cx="13979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43850" y="6202006"/>
            <a:ext cx="7805900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43850" y="5721968"/>
            <a:ext cx="2132328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Letta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452324" y="5743615"/>
            <a:ext cx="169172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$10M @ $70M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182099" y="5743615"/>
            <a:ext cx="12511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Partial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509375" y="5743615"/>
            <a:ext cx="11042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Partial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689785" y="5743615"/>
            <a:ext cx="13979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43850" y="7138947"/>
            <a:ext cx="7805900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43850" y="6344002"/>
            <a:ext cx="2132328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E2B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452324" y="6365649"/>
            <a:ext cx="169172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$21M Series 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182099" y="6365649"/>
            <a:ext cx="12511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509375" y="6365649"/>
            <a:ext cx="11042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689785" y="6365649"/>
            <a:ext cx="13979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243850" y="7760980"/>
            <a:ext cx="7805900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243850" y="7280942"/>
            <a:ext cx="2132328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Cognition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452324" y="7302590"/>
            <a:ext cx="169172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$175M @ $2B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182099" y="7302590"/>
            <a:ext cx="12511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4509375" y="7302590"/>
            <a:ext cx="11042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689785" y="7302590"/>
            <a:ext cx="13979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091504" y="7941342"/>
            <a:ext cx="8110592" cy="6696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43850" y="8017236"/>
            <a:ext cx="2132328" cy="3848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F5F1E8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MX OS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1452324" y="8038883"/>
            <a:ext cx="169172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F5F1E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Pre-seed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3182099" y="8038883"/>
            <a:ext cx="125113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07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Yes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4509375" y="8038883"/>
            <a:ext cx="110426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07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5689785" y="8038883"/>
            <a:ext cx="139799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07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Yes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 REGINALD MACHINE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6285845" cy="154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kern="0" spc="-10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REGINALD for organisations that won't put their files on the internet. £25,000 per server per year.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238250" y="3806820"/>
            <a:ext cx="6797386" cy="570301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57336" y="4225907"/>
            <a:ext cx="613798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88" dirty="0">
                <a:solidFill>
                  <a:srgbClr val="F5F1E8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 SERVER · PER YEAR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57336" y="4660147"/>
            <a:ext cx="6137989" cy="1219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kern="0" spc="-279" dirty="0">
                <a:solidFill>
                  <a:srgbClr val="E07A5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 </a:t>
            </a:r>
            <a:r>
              <a:rPr lang="en-US" sz="9300" kern="0" spc="-279" dirty="0">
                <a:solidFill>
                  <a:srgbClr val="E07A5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25k</a:t>
            </a:r>
            <a:endParaRPr lang="en-US" sz="9300" dirty="0"/>
          </a:p>
        </p:txBody>
      </p:sp>
      <p:sp>
        <p:nvSpPr>
          <p:cNvPr id="8" name="Text 6"/>
          <p:cNvSpPr/>
          <p:nvPr/>
        </p:nvSpPr>
        <p:spPr>
          <a:xfrm>
            <a:off x="1657336" y="5993579"/>
            <a:ext cx="613798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Banks. Law firms. Government. Defence. Regulated buyers cannot deploy any other way.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57336" y="7204972"/>
            <a:ext cx="5959213" cy="9525"/>
          </a:xfrm>
          <a:prstGeom prst="rect">
            <a:avLst/>
          </a:prstGeom>
          <a:solidFill>
            <a:srgbClr val="F5F1E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57335" y="7456296"/>
            <a:ext cx="5575683" cy="741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F5F1E8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ENTERPRISE CLIENTS · 5-SERVER AVG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57335" y="8114866"/>
            <a:ext cx="6137989" cy="1135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£1.25M ARR from on-prem alone — before a single SaaS subscription.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892886" y="5373845"/>
            <a:ext cx="8156863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92886" y="4939605"/>
            <a:ext cx="41714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1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ORGANISATION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133310" y="4939605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kern="0" spc="21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591149" y="4939605"/>
            <a:ext cx="24586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kern="0" spc="21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ACV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92886" y="6136792"/>
            <a:ext cx="8156863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92886" y="5573004"/>
            <a:ext cx="417145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Mid-size law firm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133310" y="5611970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91149" y="5573004"/>
            <a:ext cx="245860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100" dirty="0">
                <a:solidFill>
                  <a:srgbClr val="C848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£50,000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892886" y="6899739"/>
            <a:ext cx="8156863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92886" y="6335951"/>
            <a:ext cx="417145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Regional bank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133310" y="6374917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591149" y="6335951"/>
            <a:ext cx="245860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100" dirty="0">
                <a:solidFill>
                  <a:srgbClr val="C848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£125,000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8892886" y="7662686"/>
            <a:ext cx="8156863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92886" y="7098898"/>
            <a:ext cx="417145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Global bank (per division)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3133310" y="7137864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10–20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591149" y="7098898"/>
            <a:ext cx="245860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100" dirty="0">
                <a:solidFill>
                  <a:srgbClr val="C848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£250,000–£500,000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892886" y="8425634"/>
            <a:ext cx="8156863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892886" y="7861846"/>
            <a:ext cx="417145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Government department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133310" y="7900811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5–10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591149" y="7861846"/>
            <a:ext cx="245860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100" dirty="0">
                <a:solidFill>
                  <a:srgbClr val="C848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£125,000–£250,000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8892886" y="9188581"/>
            <a:ext cx="8156863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892886" y="8624793"/>
            <a:ext cx="417145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Defence contractor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3133310" y="8663758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10+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591149" y="8624793"/>
            <a:ext cx="245860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100" dirty="0">
                <a:solidFill>
                  <a:srgbClr val="C848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£250,000+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FOUNDER CONTRIBUTION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6285845" cy="1543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kern="0" spc="-103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We've invested significantly in proving the core concepts before seeking outside capital.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238250" y="3806820"/>
            <a:ext cx="6797386" cy="570301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57336" y="4225907"/>
            <a:ext cx="613798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88" dirty="0">
                <a:solidFill>
                  <a:srgbClr val="F5F1E8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DOCUMENTED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57336" y="4660147"/>
            <a:ext cx="6137989" cy="1219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kern="0" spc="-279" dirty="0">
                <a:solidFill>
                  <a:srgbClr val="E07A5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£358–599k</a:t>
            </a:r>
            <a:endParaRPr lang="en-US" sz="9300" dirty="0"/>
          </a:p>
        </p:txBody>
      </p:sp>
      <p:sp>
        <p:nvSpPr>
          <p:cNvPr id="8" name="Text 6"/>
          <p:cNvSpPr/>
          <p:nvPr/>
        </p:nvSpPr>
        <p:spPr>
          <a:xfrm>
            <a:off x="1657336" y="5993579"/>
            <a:ext cx="613798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1E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Cash, foregone consultancy income, below-market time on framework, books, standards, plus 2.5 years of conferences, podcasts, and community engagement.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57336" y="7204972"/>
            <a:ext cx="5959213" cy="9525"/>
          </a:xfrm>
          <a:prstGeom prst="rect">
            <a:avLst/>
          </a:prstGeom>
          <a:solidFill>
            <a:srgbClr val="F5F1E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57335" y="7456296"/>
            <a:ext cx="5575683" cy="741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F5F1E8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THE NUMBER REPRESENTS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57335" y="8114866"/>
            <a:ext cx="6137989" cy="1135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Skin in the game across every line item — capital, labour, reputation.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892886" y="5373845"/>
            <a:ext cx="8156863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892886" y="4939605"/>
            <a:ext cx="41714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1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133310" y="4939605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kern="0" spc="21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591149" y="4939605"/>
            <a:ext cx="24586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kern="0" spc="21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AMOUNT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92886" y="6136792"/>
            <a:ext cx="8156863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92886" y="5573004"/>
            <a:ext cx="417145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Cash to contractors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133310" y="5611970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591149" y="5573004"/>
            <a:ext cx="245860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100" dirty="0">
                <a:solidFill>
                  <a:srgbClr val="C848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£60,000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892886" y="6899739"/>
            <a:ext cx="8156863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92886" y="6335951"/>
            <a:ext cx="417145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Conference travel and registration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133310" y="6374917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591149" y="6335951"/>
            <a:ext cx="245860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100" dirty="0">
                <a:solidFill>
                  <a:srgbClr val="C848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£8,000–£15,000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8892886" y="7662686"/>
            <a:ext cx="8156863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892886" y="7098898"/>
            <a:ext cx="417145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Foregone consultancy income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3133310" y="7137864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591149" y="7098898"/>
            <a:ext cx="245860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100" dirty="0">
                <a:solidFill>
                  <a:srgbClr val="C848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£130,000–£264,000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892886" y="8425634"/>
            <a:ext cx="8156863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892886" y="7861846"/>
            <a:ext cx="417145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Below-market time on framework, books, standards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133310" y="7900811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591149" y="7861846"/>
            <a:ext cx="245860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100" dirty="0">
                <a:solidFill>
                  <a:srgbClr val="C848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£100,000–£200,000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8892886" y="9188581"/>
            <a:ext cx="8156863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892886" y="8624793"/>
            <a:ext cx="417145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Conferences · podcasts · community (2.5y)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3133310" y="8663758"/>
            <a:ext cx="126736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591149" y="8624793"/>
            <a:ext cx="2458600" cy="411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2100" dirty="0">
                <a:solidFill>
                  <a:srgbClr val="C8482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£60,000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ASK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577240"/>
            <a:ext cx="16285845" cy="1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kern="0" spc="-81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Pre-Series A infrastructure round. Comfortable with a range; lead investor to shape the structure.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238250" y="4767844"/>
            <a:ext cx="7030302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8250" y="3108681"/>
            <a:ext cx="7030302" cy="1731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8250" y="3316499"/>
            <a:ext cx="724121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INVESTABLE ENTITY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8250" y="3693576"/>
            <a:ext cx="7241211" cy="5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850" kern="0" spc="-14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CogNovaMX Ltd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238250" y="4257364"/>
            <a:ext cx="724121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Investable entity: CogNovaMX Ltd — incorporated, 100% founder-owned. CogNovaMX is the trading name of Digital Domain Technologies Ltd.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8250" y="5005090"/>
            <a:ext cx="7030302" cy="2070537"/>
          </a:xfrm>
          <a:prstGeom prst="rect">
            <a:avLst/>
          </a:prstGeom>
          <a:solidFill>
            <a:srgbClr val="C848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4923" y="5214599"/>
            <a:ext cx="669186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FBF2E6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MILESTONE WE'RE BUYING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4923" y="5839339"/>
            <a:ext cx="6691865" cy="855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500+ paying publishers; Local REGINALD Machine in 10+ regulated-sector enterprises; valuation shifts from services multiples (2–5×) to platform multiples (50–100×).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238250" y="7380387"/>
            <a:ext cx="3229367" cy="1655375"/>
          </a:xfrm>
          <a:prstGeom prst="rect">
            <a:avLst/>
          </a:prstGeom>
          <a:solidFill>
            <a:srgbClr val="FBF8F0"/>
          </a:solidFill>
          <a:ln w="8659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75496" y="7598555"/>
            <a:ext cx="283752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75496" y="7994709"/>
            <a:ext cx="2837522" cy="464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kern="0" spc="-24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2–5×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75496" y="8497612"/>
            <a:ext cx="283752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29517" y="7380387"/>
            <a:ext cx="647700" cy="169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039117" y="7380387"/>
            <a:ext cx="3229435" cy="1655375"/>
          </a:xfrm>
          <a:prstGeom prst="rect">
            <a:avLst/>
          </a:prstGeom>
          <a:solidFill>
            <a:srgbClr val="1A1A1A"/>
          </a:solidFill>
          <a:ln w="8659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76363" y="7598555"/>
            <a:ext cx="28375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F5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 MILESTONE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76363" y="7994709"/>
            <a:ext cx="2837592" cy="464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kern="0" spc="-24" dirty="0">
                <a:solidFill>
                  <a:srgbClr val="E07A5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50–100×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276363" y="8497612"/>
            <a:ext cx="28375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5F1E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16302" y="3108681"/>
            <a:ext cx="796545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252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OF FUNDS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316298" y="4374802"/>
            <a:ext cx="7733447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16302" y="3647710"/>
            <a:ext cx="647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0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9226" y="3669357"/>
            <a:ext cx="7200240" cy="31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Three hires — senior engineer (REGINALD production), second 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9226" y="3986699"/>
            <a:ext cx="7200240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316301" y="5151009"/>
            <a:ext cx="7733447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316302" y="4423916"/>
            <a:ext cx="647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0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59226" y="4445564"/>
            <a:ext cx="7200240" cy="31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Local REGINALD Machine — on-prem enterprise licensing (prima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59226" y="4762906"/>
            <a:ext cx="7200240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316300" y="5927215"/>
            <a:ext cx="7733447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16302" y="5200122"/>
            <a:ext cx="647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0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9226" y="5221770"/>
            <a:ext cx="7200240" cy="31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Marketing and go-to-market; agency certification programme; 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059226" y="5539112"/>
            <a:ext cx="7200240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/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316302" y="6703421"/>
            <a:ext cx="7733447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316302" y="5976328"/>
            <a:ext cx="647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0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059226" y="5997976"/>
            <a:ext cx="7200240" cy="31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Local Reginald Machine — on-prem licensing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059226" y="6315319"/>
            <a:ext cx="7200240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revenue motion.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316299" y="7479627"/>
            <a:ext cx="7733447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316302" y="6752535"/>
            <a:ext cx="647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0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059226" y="6774182"/>
            <a:ext cx="7200240" cy="31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REGINALD SaaS hardening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059226" y="7091525"/>
            <a:ext cx="7200240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production scale.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316302" y="8255833"/>
            <a:ext cx="7733447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316302" y="7528741"/>
            <a:ext cx="647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0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059226" y="7550389"/>
            <a:ext cx="7200240" cy="31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Marketing and go-to-market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059226" y="7867731"/>
            <a:ext cx="7200240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Agency certification programme.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9316302" y="8986783"/>
            <a:ext cx="7733447" cy="9525"/>
          </a:xfrm>
          <a:prstGeom prst="rect">
            <a:avLst/>
          </a:prstGeom>
          <a:solidFill>
            <a:srgbClr val="D8D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316302" y="8304947"/>
            <a:ext cx="6477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108" dirty="0">
                <a:solidFill>
                  <a:srgbClr val="C848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0059226" y="8326595"/>
            <a:ext cx="7200240" cy="31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Gathering — operational support · reserve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059226" y="8643937"/>
            <a:ext cx="7200240" cy="29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6A6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 body · contingency.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D8D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6A62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5801555" y="533346"/>
            <a:ext cx="132439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24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1047750"/>
            <a:ext cx="16285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432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CONNECT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1" y="1562154"/>
            <a:ext cx="9483537" cy="2307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900" kern="0" spc="-247" dirty="0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machine layer for meaning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238250" y="4136813"/>
            <a:ext cx="12753975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i="1" dirty="0">
                <a:solidFill>
                  <a:srgbClr val="FBF2E6">
                    <a:alpha val="8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 everything you publish, everywhere, for every machine that reads it.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238250" y="5687399"/>
            <a:ext cx="6286500" cy="9525"/>
          </a:xfrm>
          <a:prstGeom prst="rect">
            <a:avLst/>
          </a:prstGeom>
          <a:solidFill>
            <a:srgbClr val="FBF2E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8250" y="5905567"/>
            <a:ext cx="6475095" cy="25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264" dirty="0">
                <a:solidFill>
                  <a:srgbClr val="FBF2E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8250" y="6195106"/>
            <a:ext cx="6475095" cy="62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300" kern="0" spc="-16" dirty="0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reginald.allabout.network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8286749" y="5687399"/>
            <a:ext cx="6286500" cy="9525"/>
          </a:xfrm>
          <a:prstGeom prst="rect">
            <a:avLst/>
          </a:prstGeom>
          <a:solidFill>
            <a:srgbClr val="FBF2E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86749" y="5905567"/>
            <a:ext cx="6475095" cy="25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264" dirty="0">
                <a:solidFill>
                  <a:srgbClr val="FBF2E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86749" y="6195106"/>
            <a:ext cx="6475095" cy="62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300" kern="0" spc="-16" dirty="0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tg.community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1238250" y="7086586"/>
            <a:ext cx="6286500" cy="9525"/>
          </a:xfrm>
          <a:prstGeom prst="rect">
            <a:avLst/>
          </a:prstGeom>
          <a:solidFill>
            <a:srgbClr val="FBF2E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8250" y="7304755"/>
            <a:ext cx="6475095" cy="25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264" dirty="0">
                <a:solidFill>
                  <a:srgbClr val="FBF2E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8250" y="7594293"/>
            <a:ext cx="6475095" cy="624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300" kern="0" spc="-16" dirty="0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allabout.network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8286749" y="7086586"/>
            <a:ext cx="6286500" cy="9525"/>
          </a:xfrm>
          <a:prstGeom prst="rect">
            <a:avLst/>
          </a:prstGeom>
          <a:solidFill>
            <a:srgbClr val="FBF2E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86749" y="7304755"/>
            <a:ext cx="6475095" cy="251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264" dirty="0">
                <a:solidFill>
                  <a:srgbClr val="FBF2E6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86749" y="7594293"/>
            <a:ext cx="6475095" cy="1211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300" kern="0" spc="-16" dirty="0">
                <a:solidFill>
                  <a:srgbClr val="FBF2E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info@cognovamx.com | Tom Cranstoun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238250" y="9547933"/>
            <a:ext cx="19187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Tom Cranstoun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47483" y="9547933"/>
            <a:ext cx="2179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FFFFFF">
                    <a:alpha val="1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55948" y="9547933"/>
            <a:ext cx="2627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info@cognovamx.com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782015" y="9547933"/>
            <a:ext cx="234393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36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allabout.network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3135</Words>
  <Application>Microsoft Macintosh PowerPoint</Application>
  <PresentationFormat>Custom</PresentationFormat>
  <Paragraphs>367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Inter</vt:lpstr>
      <vt:lpstr>JetBrains Mono</vt:lpstr>
      <vt:lpstr>Source Serif 4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 cranstoun</cp:lastModifiedBy>
  <cp:revision>5</cp:revision>
  <dcterms:created xsi:type="dcterms:W3CDTF">2026-05-06T18:22:45Z</dcterms:created>
  <dcterms:modified xsi:type="dcterms:W3CDTF">2026-05-07T21:46:59Z</dcterms:modified>
</cp:coreProperties>
</file>