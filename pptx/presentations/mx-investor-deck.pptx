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docProps/custom.xml" ContentType="application/vnd.openxmlformats-officedocument.custom-propertie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Mx1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5" d="100"/>
          <a:sy n="85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4811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1238250" y="952500"/>
            <a:ext cx="8109198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96" dirty="0">
                <a:solidFill>
                  <a:srgbClr val="FBF2E6">
                    <a:alpha val="85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MX OS · PRE-SERIES A · Investor Deck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5681951" y="952500"/>
            <a:ext cx="1443998" cy="411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100" i="1" kern="0" spc="-21" dirty="0" err="1">
                <a:solidFill>
                  <a:srgbClr val="FBF2E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CogNova</a:t>
            </a:r>
            <a:r>
              <a:rPr lang="en-US" sz="2100" kern="0" spc="-21" dirty="0" err="1">
                <a:solidFill>
                  <a:srgbClr val="FBF2E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MX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1238250" y="1686020"/>
            <a:ext cx="16285845" cy="354787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4000"/>
              </a:lnSpc>
              <a:buNone/>
            </a:pPr>
            <a:r>
              <a:rPr lang="en-US" sz="14700" kern="0" spc="-441" dirty="0">
                <a:solidFill>
                  <a:srgbClr val="FBF2E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MX: The machine layer for meaning.</a:t>
            </a:r>
            <a:endParaRPr lang="en-US" sz="14700" dirty="0"/>
          </a:p>
        </p:txBody>
      </p:sp>
      <p:sp>
        <p:nvSpPr>
          <p:cNvPr id="5" name="Text 3"/>
          <p:cNvSpPr/>
          <p:nvPr/>
        </p:nvSpPr>
        <p:spPr>
          <a:xfrm>
            <a:off x="1238250" y="5729139"/>
            <a:ext cx="12753975" cy="1133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3450" dirty="0">
                <a:solidFill>
                  <a:srgbClr val="FBF2E6">
                    <a:alpha val="92000"/>
                  </a:srgbClr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A universal file runtime. Built on open standards. Operational at alpha.</a:t>
            </a:r>
          </a:p>
        </p:txBody>
      </p:sp>
      <p:sp>
        <p:nvSpPr>
          <p:cNvPr id="6" name="Shape 4"/>
          <p:cNvSpPr/>
          <p:nvPr/>
        </p:nvSpPr>
        <p:spPr>
          <a:xfrm>
            <a:off x="1238250" y="8003909"/>
            <a:ext cx="15811500" cy="9525"/>
          </a:xfrm>
          <a:prstGeom prst="rect">
            <a:avLst/>
          </a:prstGeom>
          <a:solidFill>
            <a:srgbClr val="FBF2E6">
              <a:alpha val="3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238250" y="8690683"/>
            <a:ext cx="4591473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24" dirty="0">
                <a:solidFill>
                  <a:srgbClr val="FBF2E6">
                    <a:alpha val="85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TOM CRANSTOUN · FOUNDER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3743917" y="8279241"/>
            <a:ext cx="3305832" cy="7695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60000"/>
              </a:lnSpc>
              <a:buNone/>
            </a:pPr>
            <a:r>
              <a:rPr lang="en-US" sz="1800" kern="0" spc="324" dirty="0">
                <a:solidFill>
                  <a:srgbClr val="FBF2E6">
                    <a:alpha val="85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INFO@COGNOVAMX.COM ALLABOUT.NETWORK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15801555" y="533346"/>
            <a:ext cx="1324394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24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 / 15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238250" y="1047750"/>
            <a:ext cx="16285845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432" dirty="0">
                <a:solidFill>
                  <a:srgbClr val="C848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PROBLEM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8251" y="1577240"/>
            <a:ext cx="13033562" cy="15438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5700" kern="0" spc="-103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Machines cannot reliably act on the things you publish — videos, podcasts, PDFs, images, web pages — when they are designed for human eyes alone.</a:t>
            </a:r>
            <a:endParaRPr lang="en-US" sz="5700" dirty="0"/>
          </a:p>
        </p:txBody>
      </p:sp>
      <p:sp>
        <p:nvSpPr>
          <p:cNvPr id="5" name="Text 3"/>
          <p:cNvSpPr/>
          <p:nvPr/>
        </p:nvSpPr>
        <p:spPr>
          <a:xfrm>
            <a:off x="1238250" y="3997320"/>
            <a:ext cx="5440456" cy="12001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3000" kern="0" spc="-15" dirty="0">
                <a:solidFill>
                  <a:srgbClr val="2A2A28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Every enterprise AI deployment hits the same four failures: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238250" y="5353551"/>
            <a:ext cx="7063740" cy="20512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250" dirty="0">
                <a:solidFill>
                  <a:srgbClr val="2A2A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is not a web problem. It's a file problem. Contracts, policies, manufacturing specs, government archives, scientific papers — the substrate of every enterprise.</a:t>
            </a:r>
          </a:p>
        </p:txBody>
      </p:sp>
      <p:sp>
        <p:nvSpPr>
          <p:cNvPr id="7" name="Shape 5"/>
          <p:cNvSpPr/>
          <p:nvPr/>
        </p:nvSpPr>
        <p:spPr>
          <a:xfrm>
            <a:off x="9973987" y="4903142"/>
            <a:ext cx="7075762" cy="9525"/>
          </a:xfrm>
          <a:prstGeom prst="rect">
            <a:avLst/>
          </a:prstGeom>
          <a:solidFill>
            <a:srgbClr val="D8D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9973987" y="3672604"/>
            <a:ext cx="838200" cy="3848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kern="0" spc="156" dirty="0">
                <a:solidFill>
                  <a:srgbClr val="C848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10926487" y="3616320"/>
            <a:ext cx="6306960" cy="4324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700" kern="0" spc="-13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Wasted inference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10926487" y="4076402"/>
            <a:ext cx="6199462" cy="7315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dirty="0">
                <a:solidFill>
                  <a:srgbClr val="6A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agents recompute meaning that should already be explicit</a:t>
            </a:r>
          </a:p>
        </p:txBody>
      </p:sp>
      <p:sp>
        <p:nvSpPr>
          <p:cNvPr id="11" name="Shape 9"/>
          <p:cNvSpPr/>
          <p:nvPr/>
        </p:nvSpPr>
        <p:spPr>
          <a:xfrm>
            <a:off x="9973987" y="6484306"/>
            <a:ext cx="7075762" cy="9525"/>
          </a:xfrm>
          <a:prstGeom prst="rect">
            <a:avLst/>
          </a:prstGeom>
          <a:solidFill>
            <a:srgbClr val="D8D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9973987" y="5253768"/>
            <a:ext cx="838200" cy="3848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kern="0" spc="156" dirty="0">
                <a:solidFill>
                  <a:srgbClr val="C848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10926487" y="5197484"/>
            <a:ext cx="6306960" cy="4324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700" kern="0" spc="-13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Energy cost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10926487" y="5657566"/>
            <a:ext cx="6306960" cy="7315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dirty="0">
                <a:solidFill>
                  <a:srgbClr val="6A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ambiguous files become a compute problem at scale</a:t>
            </a:r>
          </a:p>
        </p:txBody>
      </p:sp>
      <p:sp>
        <p:nvSpPr>
          <p:cNvPr id="15" name="Shape 13"/>
          <p:cNvSpPr/>
          <p:nvPr/>
        </p:nvSpPr>
        <p:spPr>
          <a:xfrm>
            <a:off x="9973987" y="8065469"/>
            <a:ext cx="7075762" cy="9525"/>
          </a:xfrm>
          <a:prstGeom prst="rect">
            <a:avLst/>
          </a:prstGeom>
          <a:solidFill>
            <a:srgbClr val="D8D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9973987" y="6834932"/>
            <a:ext cx="838200" cy="3848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kern="0" spc="156" dirty="0">
                <a:solidFill>
                  <a:srgbClr val="C848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10926487" y="6778647"/>
            <a:ext cx="6306960" cy="4324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700" kern="0" spc="-13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Hallucinations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10926487" y="7238729"/>
            <a:ext cx="6306960" cy="7315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dirty="0">
                <a:solidFill>
                  <a:srgbClr val="6A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agents guess when source material is ambiguous (an infrastructure problem, not a model problem)</a:t>
            </a:r>
          </a:p>
        </p:txBody>
      </p:sp>
      <p:sp>
        <p:nvSpPr>
          <p:cNvPr id="19" name="Text 17"/>
          <p:cNvSpPr/>
          <p:nvPr/>
        </p:nvSpPr>
        <p:spPr>
          <a:xfrm>
            <a:off x="9973987" y="8416095"/>
            <a:ext cx="838200" cy="3848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kern="0" spc="156" dirty="0">
                <a:solidFill>
                  <a:srgbClr val="C848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10926487" y="8359811"/>
            <a:ext cx="6306960" cy="4324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700" kern="0" spc="-13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No provenance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10926487" y="8819892"/>
            <a:ext cx="6306960" cy="7315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dirty="0">
                <a:solidFill>
                  <a:srgbClr val="6A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way to verify a file's origin or whether it has been altered</a:t>
            </a:r>
          </a:p>
        </p:txBody>
      </p:sp>
      <p:sp>
        <p:nvSpPr>
          <p:cNvPr id="22" name="Text 20"/>
          <p:cNvSpPr/>
          <p:nvPr/>
        </p:nvSpPr>
        <p:spPr>
          <a:xfrm>
            <a:off x="1238250" y="9547933"/>
            <a:ext cx="1918760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Tom Cranstoun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3347483" y="9547933"/>
            <a:ext cx="217993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D8D2C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·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3755948" y="9547933"/>
            <a:ext cx="2627720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info@cognovamx.com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4782015" y="9547933"/>
            <a:ext cx="2343935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allabout.network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15801555" y="533346"/>
            <a:ext cx="1324394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24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 / 15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238250" y="1047750"/>
            <a:ext cx="16285845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432" dirty="0">
                <a:solidFill>
                  <a:srgbClr val="C848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INSIGHT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8250" y="1577240"/>
            <a:ext cx="16285845" cy="12266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4500" kern="0" spc="-81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47 years in content systems. The work is the moat.</a:t>
            </a:r>
            <a:br>
              <a:rPr lang="en-US" sz="4500" kern="0" spc="-81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</a:br>
            <a:endParaRPr lang="en-US" sz="4500" dirty="0"/>
          </a:p>
        </p:txBody>
      </p:sp>
      <p:sp>
        <p:nvSpPr>
          <p:cNvPr id="5" name="Shape 3"/>
          <p:cNvSpPr/>
          <p:nvPr/>
        </p:nvSpPr>
        <p:spPr>
          <a:xfrm>
            <a:off x="1238250" y="3832527"/>
            <a:ext cx="9525" cy="2800201"/>
          </a:xfrm>
          <a:prstGeom prst="rect">
            <a:avLst/>
          </a:prstGeom>
          <a:solidFill>
            <a:srgbClr val="D8D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246909" y="3832527"/>
            <a:ext cx="2171700" cy="3848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kern="0" spc="78" dirty="0">
                <a:solidFill>
                  <a:srgbClr val="C848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200+ sites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3551918" y="3832527"/>
            <a:ext cx="13902766" cy="3848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Led the world's largest enterprise content programmes — Nissan-Renault (200+ websites, 30 languages), the BBC, Ford, McLaren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46909" y="4445902"/>
            <a:ext cx="2171700" cy="3848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kern="0" spc="78" dirty="0">
                <a:solidFill>
                  <a:srgbClr val="C848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8,000pp · 24d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3551918" y="4445902"/>
            <a:ext cx="13902766" cy="3848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 EE: 8,000 pages across three brand CMSs in 24 days · £450,000 saved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246909" y="5672651"/>
            <a:ext cx="2171700" cy="3848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kern="0" spc="78" dirty="0">
                <a:solidFill>
                  <a:srgbClr val="C848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Operator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3551918" y="5672651"/>
            <a:ext cx="13902766" cy="3848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Published the diagnosis in 2024: files lack machine-native structure, state, intent, and provenance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46909" y="6286026"/>
            <a:ext cx="2171700" cy="3848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kern="0" spc="78" dirty="0">
                <a:solidFill>
                  <a:srgbClr val="C848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2024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3551918" y="6286026"/>
            <a:ext cx="13902766" cy="3848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enterprise solves that from scratch — MX is the infrastructure layer so no one has to solve it again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238250" y="9547933"/>
            <a:ext cx="1918760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Tom Cranstoun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347483" y="9547933"/>
            <a:ext cx="217993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D8D2C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·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3755948" y="9547933"/>
            <a:ext cx="2627720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info@cognovamx.com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4782015" y="9547933"/>
            <a:ext cx="2343935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allabout.network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15801555" y="533346"/>
            <a:ext cx="1324394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24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 / 15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238250" y="1047750"/>
            <a:ext cx="16285845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432" dirty="0">
                <a:solidFill>
                  <a:srgbClr val="C848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WHAT MX IS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8250" y="1577240"/>
            <a:ext cx="11697821" cy="15438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5700" kern="0" spc="-103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Make anything you publish — a video, a podcast, a PDF, an image, a web page — readable by machines.</a:t>
            </a:r>
            <a:endParaRPr lang="en-US" sz="5700" dirty="0"/>
          </a:p>
        </p:txBody>
      </p:sp>
      <p:sp>
        <p:nvSpPr>
          <p:cNvPr id="5" name="Shape 3"/>
          <p:cNvSpPr/>
          <p:nvPr/>
        </p:nvSpPr>
        <p:spPr>
          <a:xfrm>
            <a:off x="1238250" y="3616320"/>
            <a:ext cx="5041891" cy="5036276"/>
          </a:xfrm>
          <a:prstGeom prst="rect">
            <a:avLst/>
          </a:prstGeom>
          <a:solidFill>
            <a:srgbClr val="FBF8F0"/>
          </a:solidFill>
          <a:ln w="8659">
            <a:solidFill>
              <a:srgbClr val="D8D2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665996" y="4082152"/>
            <a:ext cx="4311992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96" dirty="0">
                <a:solidFill>
                  <a:srgbClr val="C848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 — ARTEFACT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65996" y="4630719"/>
            <a:ext cx="4311992" cy="5715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200" kern="0" spc="-63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COGs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1665996" y="5297469"/>
            <a:ext cx="4311992" cy="6323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kern="0" spc="216" dirty="0">
                <a:solidFill>
                  <a:srgbClr val="6A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PORTABLE, SELF-DESCRIBING FILES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665996" y="6078412"/>
            <a:ext cx="4186400" cy="11359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2100" dirty="0">
                <a:solidFill>
                  <a:srgbClr val="2A2A28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portable, self-describing files. Structured metadata, human-readable content. The artefact.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1662748" y="7547652"/>
            <a:ext cx="4186400" cy="9525"/>
          </a:xfrm>
          <a:prstGeom prst="rect">
            <a:avLst/>
          </a:prstGeom>
          <a:solidFill>
            <a:srgbClr val="D8D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665996" y="7738139"/>
            <a:ext cx="4311992" cy="5248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72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Built on Markdown · YAML · HTML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622986" y="3616320"/>
            <a:ext cx="5041959" cy="5036276"/>
          </a:xfrm>
          <a:prstGeom prst="rect">
            <a:avLst/>
          </a:prstGeom>
          <a:solidFill>
            <a:srgbClr val="FBF8F0"/>
          </a:solidFill>
          <a:ln w="8659">
            <a:solidFill>
              <a:srgbClr val="D8D2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050732" y="4082152"/>
            <a:ext cx="4312061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96" dirty="0">
                <a:solidFill>
                  <a:srgbClr val="C848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 — REGISTRY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050732" y="4630719"/>
            <a:ext cx="4312061" cy="5715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200" kern="0" spc="-63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REGINALD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7050732" y="5297469"/>
            <a:ext cx="4312061" cy="6323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kern="0" spc="216" dirty="0">
                <a:solidFill>
                  <a:srgbClr val="6A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GENUINE · NOTARISED · LEGITIMATE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7050732" y="6120286"/>
            <a:ext cx="4312061" cy="10940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2100" dirty="0">
                <a:solidFill>
                  <a:srgbClr val="2A2A28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Registry for Genuine Information, Notarised Authentication, and Legitimate Documentation. Tells machines where COGs live and attests their integrity.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7050731" y="7538127"/>
            <a:ext cx="4186467" cy="9525"/>
          </a:xfrm>
          <a:prstGeom prst="rect">
            <a:avLst/>
          </a:prstGeom>
          <a:solidFill>
            <a:srgbClr val="D8D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7050732" y="7709565"/>
            <a:ext cx="4312061" cy="5533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72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Ed25519 attestation · alpha live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12007791" y="3616320"/>
            <a:ext cx="5041891" cy="5036276"/>
          </a:xfrm>
          <a:prstGeom prst="rect">
            <a:avLst/>
          </a:prstGeom>
          <a:solidFill>
            <a:srgbClr val="FBF8F0"/>
          </a:solidFill>
          <a:ln w="8659">
            <a:solidFill>
              <a:srgbClr val="D8D2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12435536" y="4082152"/>
            <a:ext cx="4311992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96" dirty="0">
                <a:solidFill>
                  <a:srgbClr val="C848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 — STANDARDS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2435536" y="4630719"/>
            <a:ext cx="4311992" cy="5715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200" kern="0" spc="-63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The Gathering</a:t>
            </a:r>
            <a:endParaRPr lang="en-US" sz="4200" dirty="0"/>
          </a:p>
        </p:txBody>
      </p:sp>
      <p:sp>
        <p:nvSpPr>
          <p:cNvPr id="22" name="Text 20"/>
          <p:cNvSpPr/>
          <p:nvPr/>
        </p:nvSpPr>
        <p:spPr>
          <a:xfrm>
            <a:off x="12435536" y="5297469"/>
            <a:ext cx="3503711" cy="6323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kern="0" spc="216" dirty="0">
                <a:solidFill>
                  <a:srgbClr val="6A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INDEPENDENT STANDARDS BODY</a:t>
            </a: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12435536" y="6120286"/>
            <a:ext cx="4311992" cy="10940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2100" dirty="0">
                <a:solidFill>
                  <a:srgbClr val="2A2A28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independent standards body. Structurally separate from any commercial entity.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12435536" y="7528563"/>
            <a:ext cx="4186400" cy="9525"/>
          </a:xfrm>
          <a:prstGeom prst="rect">
            <a:avLst/>
          </a:prstGeom>
          <a:solidFill>
            <a:srgbClr val="D8D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12435536" y="7747663"/>
            <a:ext cx="4311992" cy="5152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72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Incorporated as TG Administration LTD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238250" y="9014519"/>
            <a:ext cx="16285845" cy="3848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kern="0" spc="20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Built on Markdown, YAML, and HTML. Nothing proprietary. Nothing to install. Nothing to lock in.</a:t>
            </a:r>
            <a:endParaRPr lang="en-US" sz="1950" dirty="0"/>
          </a:p>
        </p:txBody>
      </p:sp>
      <p:sp>
        <p:nvSpPr>
          <p:cNvPr id="27" name="Text 25"/>
          <p:cNvSpPr/>
          <p:nvPr/>
        </p:nvSpPr>
        <p:spPr>
          <a:xfrm>
            <a:off x="1238250" y="9547933"/>
            <a:ext cx="1918760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Tom Cranstoun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3347483" y="9547933"/>
            <a:ext cx="217993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D8D2C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·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3755948" y="9547933"/>
            <a:ext cx="2627720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info@cognovamx.com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4782015" y="9547933"/>
            <a:ext cx="2343935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allabout.network</a:t>
            </a:r>
            <a:endParaRPr lang="en-US" sz="1800" dirty="0"/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2152" y="3246120"/>
            <a:ext cx="640080" cy="640080"/>
          </a:xfrm>
          <a:prstGeom prst="rect">
            <a:avLst/>
          </a:prstGeom>
        </p:spPr>
      </p:pic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7968" y="3246120"/>
            <a:ext cx="640080" cy="640080"/>
          </a:xfrm>
          <a:prstGeom prst="rect">
            <a:avLst/>
          </a:prstGeom>
        </p:spPr>
      </p:pic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73784" y="3246120"/>
            <a:ext cx="64008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15801555" y="533346"/>
            <a:ext cx="1324394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24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 / 15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238250" y="1047750"/>
            <a:ext cx="16285845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432" dirty="0">
                <a:solidFill>
                  <a:srgbClr val="C848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WHAT MX IS NOT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8250" y="1577240"/>
            <a:ext cx="16285845" cy="12266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4500" kern="0" spc="-81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Four collapses MX is not. Each rebuttal is one sentence.</a:t>
            </a:r>
            <a:endParaRPr lang="en-US" sz="4500" dirty="0"/>
          </a:p>
        </p:txBody>
      </p:sp>
      <p:sp>
        <p:nvSpPr>
          <p:cNvPr id="5" name="Shape 3"/>
          <p:cNvSpPr/>
          <p:nvPr/>
        </p:nvSpPr>
        <p:spPr>
          <a:xfrm>
            <a:off x="1238250" y="3184922"/>
            <a:ext cx="7708214" cy="6425586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543009" y="3850589"/>
            <a:ext cx="7098695" cy="9525"/>
          </a:xfrm>
          <a:prstGeom prst="rect">
            <a:avLst/>
          </a:prstGeom>
          <a:solidFill>
            <a:srgbClr val="E8E2D2">
              <a:alpha val="1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543009" y="3451595"/>
            <a:ext cx="2113048" cy="3037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1350" kern="0" spc="81" dirty="0">
                <a:solidFill>
                  <a:srgbClr val="E8E2D2">
                    <a:alpha val="55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WHATEVER YOU HAVE DONE STILL COUNTS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621972" y="3451595"/>
            <a:ext cx="2095933" cy="3037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1350" kern="0" spc="27" dirty="0">
                <a:solidFill>
                  <a:srgbClr val="E8E2D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MX is a superset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1543009" y="4030671"/>
            <a:ext cx="7311656" cy="53512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1350" dirty="0">
                <a:solidFill>
                  <a:srgbClr val="E8E2D2">
                    <a:alpha val="4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MX is a superset. Whatever you have already done in SEO, GEO, JSON-LD, or accessibility still counts — MX makes it travel, makes it verifiable, makes it complete.</a:t>
            </a:r>
            <a:br>
              <a:rPr lang="en-US" sz="1350" dirty="0">
                <a:solidFill>
                  <a:srgbClr val="E8E2D2">
                    <a:alpha val="4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</a:br>
            <a:br>
              <a:rPr lang="en-US" sz="1350" dirty="0">
                <a:solidFill>
                  <a:srgbClr val="E8E2D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</a:br>
            <a:br>
              <a:rPr lang="en-US" sz="1350" dirty="0">
                <a:solidFill>
                  <a:srgbClr val="E8E2D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</a:br>
            <a:br>
              <a:rPr lang="en-US" sz="1350" dirty="0">
                <a:solidFill>
                  <a:srgbClr val="D8C89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</a:br>
            <a:br>
              <a:rPr lang="en-US" sz="1350" dirty="0">
                <a:solidFill>
                  <a:srgbClr val="D8C89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</a:b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9708464" y="3640674"/>
            <a:ext cx="7561454" cy="16532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2700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Every reader collapses MX into something they already know. Each is partly right. None is the whole shape. MX picks up where each one stops.</a:t>
            </a:r>
          </a:p>
        </p:txBody>
      </p:sp>
      <p:sp>
        <p:nvSpPr>
          <p:cNvPr id="11" name="Shape 9"/>
          <p:cNvSpPr/>
          <p:nvPr/>
        </p:nvSpPr>
        <p:spPr>
          <a:xfrm>
            <a:off x="9708464" y="5536068"/>
            <a:ext cx="7341218" cy="9525"/>
          </a:xfrm>
          <a:prstGeom prst="rect">
            <a:avLst/>
          </a:prstGeom>
          <a:solidFill>
            <a:srgbClr val="D8D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9708464" y="5708370"/>
            <a:ext cx="2747010" cy="3314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kern="0" spc="66" dirty="0">
                <a:solidFill>
                  <a:srgbClr val="C848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Not SEO or GEO.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2604050" y="5678063"/>
            <a:ext cx="4579000" cy="3595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875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SEO got you found. GEO gets you understood. MX gets you used.</a:t>
            </a:r>
            <a:endParaRPr lang="en-US" sz="1875" dirty="0"/>
          </a:p>
        </p:txBody>
      </p:sp>
      <p:sp>
        <p:nvSpPr>
          <p:cNvPr id="14" name="Shape 12"/>
          <p:cNvSpPr/>
          <p:nvPr/>
        </p:nvSpPr>
        <p:spPr>
          <a:xfrm>
            <a:off x="9708464" y="6135101"/>
            <a:ext cx="7341218" cy="9525"/>
          </a:xfrm>
          <a:prstGeom prst="rect">
            <a:avLst/>
          </a:prstGeom>
          <a:solidFill>
            <a:srgbClr val="D8D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9708464" y="6307403"/>
            <a:ext cx="2747010" cy="3314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kern="0" spc="66" dirty="0">
                <a:solidFill>
                  <a:srgbClr val="C848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Not JSON-LD or schema.org.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12604050" y="6202641"/>
            <a:ext cx="4579000" cy="434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875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JSON-LD describes entities on a web page. MX describes the file in every carrier (HTML, PDF, DOCX, EPUB, MP4, audio, CSV, Markdown) and binds it to a registry that attests origin and integrity.</a:t>
            </a:r>
            <a:endParaRPr lang="en-US" sz="1875" dirty="0"/>
          </a:p>
        </p:txBody>
      </p:sp>
      <p:sp>
        <p:nvSpPr>
          <p:cNvPr id="17" name="Shape 15"/>
          <p:cNvSpPr/>
          <p:nvPr/>
        </p:nvSpPr>
        <p:spPr>
          <a:xfrm>
            <a:off x="9708464" y="6734134"/>
            <a:ext cx="7341218" cy="9525"/>
          </a:xfrm>
          <a:prstGeom prst="rect">
            <a:avLst/>
          </a:prstGeom>
          <a:solidFill>
            <a:srgbClr val="D8D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9708464" y="6906437"/>
            <a:ext cx="2747010" cy="3314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kern="0" spc="66" dirty="0">
                <a:solidFill>
                  <a:srgbClr val="C848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Not the Google web.dev agent guide (1 May 2026).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12604050" y="6790892"/>
            <a:ext cx="4579000" cy="766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875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Google covered the rendered HTML page — semantic elements, stable layouts, the accessibility tree. MX picks up where Google stops: provenance, authentication, rights, lifecycle, off-web carriers.</a:t>
            </a:r>
            <a:endParaRPr lang="en-US" sz="1875" dirty="0"/>
          </a:p>
        </p:txBody>
      </p:sp>
      <p:sp>
        <p:nvSpPr>
          <p:cNvPr id="20" name="Shape 18"/>
          <p:cNvSpPr/>
          <p:nvPr/>
        </p:nvSpPr>
        <p:spPr>
          <a:xfrm>
            <a:off x="9708464" y="7652404"/>
            <a:ext cx="7341218" cy="9525"/>
          </a:xfrm>
          <a:prstGeom prst="rect">
            <a:avLst/>
          </a:prstGeom>
          <a:solidFill>
            <a:srgbClr val="D8D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9708464" y="7824706"/>
            <a:ext cx="2747010" cy="3314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kern="0" spc="66" dirty="0">
                <a:solidFill>
                  <a:srgbClr val="C848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Not memory-pool architecture (LLM-wiki, vector store, knowledge base, sovereign runtime).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12604050" y="7709161"/>
            <a:ext cx="4276491" cy="766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875" dirty="0">
                <a:solidFill>
                  <a:srgbClr val="2A2A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pool organises knowledge inside one system. MeetKai keeps the model sovereign; MX keeps the file's DNA intact when it leaves.</a:t>
            </a:r>
            <a:endParaRPr lang="en-US" sz="1875" dirty="0"/>
          </a:p>
        </p:txBody>
      </p:sp>
      <p:sp>
        <p:nvSpPr>
          <p:cNvPr id="23" name="Shape 21"/>
          <p:cNvSpPr/>
          <p:nvPr/>
        </p:nvSpPr>
        <p:spPr>
          <a:xfrm>
            <a:off x="9708464" y="9488943"/>
            <a:ext cx="7341218" cy="9525"/>
          </a:xfrm>
          <a:prstGeom prst="rect">
            <a:avLst/>
          </a:prstGeom>
          <a:solidFill>
            <a:srgbClr val="D8D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9708464" y="8570673"/>
            <a:ext cx="7341218" cy="9525"/>
          </a:xfrm>
          <a:prstGeom prst="rect">
            <a:avLst/>
          </a:prstGeom>
          <a:solidFill>
            <a:srgbClr val="D8D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9708464" y="8742976"/>
            <a:ext cx="2747010" cy="3314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kern="0" spc="66" dirty="0">
                <a:solidFill>
                  <a:srgbClr val="C848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/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12604050" y="8627431"/>
            <a:ext cx="4579000" cy="766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875" dirty="0">
                <a:solidFill>
                  <a:srgbClr val="2A2A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/>
            </a:r>
            <a:endParaRPr lang="en-US" sz="1875" dirty="0"/>
          </a:p>
        </p:txBody>
      </p:sp>
      <p:sp>
        <p:nvSpPr>
          <p:cNvPr id="27" name="Text 25"/>
          <p:cNvSpPr/>
          <p:nvPr/>
        </p:nvSpPr>
        <p:spPr>
          <a:xfrm>
            <a:off x="1238250" y="9547933"/>
            <a:ext cx="1918760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Tom Cranstoun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3347483" y="9547933"/>
            <a:ext cx="217993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D8D2C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·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3755948" y="9547933"/>
            <a:ext cx="2627720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info@cognovamx.com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4782015" y="9547933"/>
            <a:ext cx="2343935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allabout.network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15801555" y="533346"/>
            <a:ext cx="1324394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24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06 / 15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238250" y="1047750"/>
            <a:ext cx="16285845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432" dirty="0">
                <a:solidFill>
                  <a:srgbClr val="C848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HOW IT WORKS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8250" y="1577240"/>
            <a:ext cx="16285845" cy="15438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5700" kern="0" spc="-103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This isn't metadata that describes. It's metadata that executes.</a:t>
            </a:r>
            <a:endParaRPr lang="en-US" sz="5700" dirty="0"/>
          </a:p>
        </p:txBody>
      </p:sp>
      <p:sp>
        <p:nvSpPr>
          <p:cNvPr id="5" name="Shape 3"/>
          <p:cNvSpPr/>
          <p:nvPr/>
        </p:nvSpPr>
        <p:spPr>
          <a:xfrm>
            <a:off x="1238250" y="3902070"/>
            <a:ext cx="5100475" cy="4381500"/>
          </a:xfrm>
          <a:prstGeom prst="rect">
            <a:avLst/>
          </a:prstGeom>
          <a:solidFill>
            <a:srgbClr val="FBF8F0"/>
          </a:solidFill>
          <a:ln w="8659">
            <a:solidFill>
              <a:srgbClr val="D8D2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948001" y="4177402"/>
            <a:ext cx="1680973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800" kern="0" spc="324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PUBLISHER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331991" y="4706825"/>
            <a:ext cx="912925" cy="589765"/>
          </a:xfrm>
          <a:prstGeom prst="rect">
            <a:avLst/>
          </a:prstGeom>
          <a:ln w="12989">
            <a:solidFill>
              <a:srgbClr val="C848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478330" y="4815063"/>
            <a:ext cx="620248" cy="411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2100" kern="0" spc="168" dirty="0">
                <a:solidFill>
                  <a:srgbClr val="C848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COG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2218768" y="5549153"/>
            <a:ext cx="3139440" cy="38739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2400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Holds the file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218768" y="5936551"/>
            <a:ext cx="3139440" cy="9182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650" dirty="0">
                <a:solidFill>
                  <a:srgbClr val="6A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Sovereign by default. The publisher hosts; the registry never holds the file.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338725" y="3902070"/>
            <a:ext cx="5610482" cy="438150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392607" y="4168743"/>
            <a:ext cx="1502718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800" kern="0" spc="324" dirty="0">
                <a:solidFill>
                  <a:srgbClr val="E07A5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REGISTRY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8234119" y="4698166"/>
            <a:ext cx="1819694" cy="589765"/>
          </a:xfrm>
          <a:prstGeom prst="rect">
            <a:avLst/>
          </a:prstGeom>
          <a:ln w="12989">
            <a:solidFill>
              <a:srgbClr val="E07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8380458" y="4806404"/>
            <a:ext cx="1527017" cy="411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2100" kern="0" spc="168" dirty="0">
                <a:solidFill>
                  <a:srgbClr val="E07A5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DNS-LIKE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267659" y="5440277"/>
            <a:ext cx="1752546" cy="4362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2850" i="1" dirty="0">
                <a:solidFill>
                  <a:srgbClr val="F5F1E8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REGINALD</a:t>
            </a:r>
            <a:endParaRPr lang="en-US" sz="2850" dirty="0"/>
          </a:p>
        </p:txBody>
      </p:sp>
      <p:sp>
        <p:nvSpPr>
          <p:cNvPr id="16" name="Text 14"/>
          <p:cNvSpPr/>
          <p:nvPr/>
        </p:nvSpPr>
        <p:spPr>
          <a:xfrm>
            <a:off x="7574212" y="5990738"/>
            <a:ext cx="3139440" cy="12116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650" dirty="0">
                <a:solidFill>
                  <a:srgbClr val="F5F1E8">
                    <a:alpha val="7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Points to where the COG lives. Attests it hasn’t been altered. Holds proof of provenance for jurisdictions that demand it.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6996087" y="7696944"/>
            <a:ext cx="4295757" cy="3580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800" kern="0" spc="288" dirty="0">
                <a:solidFill>
                  <a:srgbClr val="F5F1E8">
                    <a:alpha val="5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← LOOKUP · ATTESTATION →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11949207" y="3902070"/>
            <a:ext cx="5100543" cy="4381500"/>
          </a:xfrm>
          <a:prstGeom prst="rect">
            <a:avLst/>
          </a:prstGeom>
          <a:solidFill>
            <a:srgbClr val="FBF8F0"/>
          </a:solidFill>
          <a:ln w="8659">
            <a:solidFill>
              <a:srgbClr val="D8D2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13926443" y="4177402"/>
            <a:ext cx="1146071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800" kern="0" spc="324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READER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3952298" y="4706825"/>
            <a:ext cx="1094293" cy="589765"/>
          </a:xfrm>
          <a:prstGeom prst="rect">
            <a:avLst/>
          </a:prstGeom>
          <a:ln w="12989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14098637" y="4815063"/>
            <a:ext cx="801615" cy="411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2100" kern="0" spc="168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EXEC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13258801" y="5467933"/>
            <a:ext cx="2371886" cy="4686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2200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Agent executes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2929724" y="5936551"/>
            <a:ext cx="3139440" cy="9182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650" dirty="0">
                <a:solidFill>
                  <a:srgbClr val="6A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Resolves the COG, verifies provenance, executes safely. No re-reading. No guessing.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238250" y="8740675"/>
            <a:ext cx="7620000" cy="9525"/>
          </a:xfrm>
          <a:prstGeom prst="rect">
            <a:avLst/>
          </a:prstGeom>
          <a:solidFill>
            <a:srgbClr val="D8D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1238250" y="8825507"/>
            <a:ext cx="361950" cy="6415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800" kern="0" spc="72" dirty="0">
                <a:solidFill>
                  <a:srgbClr val="C848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▸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657336" y="8825507"/>
            <a:ext cx="7416941" cy="6415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Works the way DNS works. </a:t>
            </a:r>
            <a:r>
              <a:rPr lang="en-US" sz="1800" dirty="0">
                <a:solidFill>
                  <a:srgbClr val="2A2A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Layered, optional, federated. Signing is opt-in — the way DNSSEC layers on DNS.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9429749" y="8740675"/>
            <a:ext cx="7620000" cy="9525"/>
          </a:xfrm>
          <a:prstGeom prst="rect">
            <a:avLst/>
          </a:prstGeom>
          <a:solidFill>
            <a:srgbClr val="D8D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9429749" y="8825507"/>
            <a:ext cx="361950" cy="6415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800" kern="0" spc="72" dirty="0">
                <a:solidFill>
                  <a:srgbClr val="C848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▸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9848836" y="8825507"/>
            <a:ext cx="7416941" cy="6415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Unsigned COGs are still discoverable. </a:t>
            </a:r>
            <a:r>
              <a:rPr lang="en-US" sz="1800" dirty="0">
                <a:solidFill>
                  <a:srgbClr val="2A2A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Signed COGs add cryptographic provenance on top.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238250" y="9547933"/>
            <a:ext cx="1918760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Tom Cranstoun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3347483" y="9547933"/>
            <a:ext cx="217993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D8D2C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·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3755948" y="9547933"/>
            <a:ext cx="2627720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info@cognovamx.com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14782015" y="9547933"/>
            <a:ext cx="2343935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allabout.network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15801555" y="533346"/>
            <a:ext cx="1324394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24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07 / 15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238250" y="1047750"/>
            <a:ext cx="16285845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432" dirty="0">
                <a:solidFill>
                  <a:srgbClr val="C848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WHAT MX DELIVERS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8250" y="1577240"/>
            <a:ext cx="11697821" cy="15438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5700" kern="0" spc="-103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Three concrete benefits. One mechanism: attestation.</a:t>
            </a:r>
            <a:endParaRPr lang="en-US" sz="5700" dirty="0"/>
          </a:p>
        </p:txBody>
      </p:sp>
      <p:sp>
        <p:nvSpPr>
          <p:cNvPr id="5" name="Shape 3"/>
          <p:cNvSpPr/>
          <p:nvPr/>
        </p:nvSpPr>
        <p:spPr>
          <a:xfrm>
            <a:off x="1238250" y="3616320"/>
            <a:ext cx="5041891" cy="5036276"/>
          </a:xfrm>
          <a:prstGeom prst="rect">
            <a:avLst/>
          </a:prstGeom>
          <a:solidFill>
            <a:srgbClr val="FBF8F0"/>
          </a:solidFill>
          <a:ln w="8659">
            <a:solidFill>
              <a:srgbClr val="D8D2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665996" y="4082152"/>
            <a:ext cx="4311992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96" dirty="0">
                <a:solidFill>
                  <a:srgbClr val="C848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 — HALLUCINATIONS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65996" y="4630719"/>
            <a:ext cx="4311992" cy="5715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200" kern="0" spc="-63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Fewer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1665996" y="5297469"/>
            <a:ext cx="4311992" cy="6323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kern="0" spc="216" dirty="0">
                <a:solidFill>
                  <a:srgbClr val="6A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VERIFIED FACTS, NOT INFERENCES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665996" y="6078412"/>
            <a:ext cx="4186400" cy="11359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2100" dirty="0">
                <a:solidFill>
                  <a:srgbClr val="2A2A28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Agents that read attested files hallucinate less — they have verified facts to cite rather than inferences to make.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1662748" y="7547652"/>
            <a:ext cx="4186400" cy="9525"/>
          </a:xfrm>
          <a:prstGeom prst="rect">
            <a:avLst/>
          </a:prstGeom>
          <a:solidFill>
            <a:srgbClr val="D8D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665996" y="7738139"/>
            <a:ext cx="4311992" cy="5248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72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Compounds across every agent · every read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622986" y="3616320"/>
            <a:ext cx="5041959" cy="5036276"/>
          </a:xfrm>
          <a:prstGeom prst="rect">
            <a:avLst/>
          </a:prstGeom>
          <a:solidFill>
            <a:srgbClr val="FBF8F0"/>
          </a:solidFill>
          <a:ln w="8659">
            <a:solidFill>
              <a:srgbClr val="D8D2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050732" y="4082152"/>
            <a:ext cx="4312061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96" dirty="0">
                <a:solidFill>
                  <a:srgbClr val="C848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 — TOKENS &amp; ENERGY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050732" y="4630719"/>
            <a:ext cx="4312061" cy="5715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200" kern="0" spc="-63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Lower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7050732" y="5297469"/>
            <a:ext cx="4312061" cy="6323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kern="0" spc="216" dirty="0">
                <a:solidFill>
                  <a:srgbClr val="6A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FEWER INFERENCE STEPS PER FILE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7050732" y="6120286"/>
            <a:ext cx="4312061" cy="10940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2100" dirty="0">
                <a:solidFill>
                  <a:srgbClr val="2A2A28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Fewer inference steps per file, multiplied across every agent that reads every file.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7050731" y="7538127"/>
            <a:ext cx="4186467" cy="9525"/>
          </a:xfrm>
          <a:prstGeom prst="rect">
            <a:avLst/>
          </a:prstGeom>
          <a:solidFill>
            <a:srgbClr val="D8D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7050732" y="7709565"/>
            <a:ext cx="4312061" cy="5533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72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Direct cost · direct carbon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12007791" y="3616320"/>
            <a:ext cx="5041891" cy="5036276"/>
          </a:xfrm>
          <a:prstGeom prst="rect">
            <a:avLst/>
          </a:prstGeom>
          <a:solidFill>
            <a:srgbClr val="FBF8F0"/>
          </a:solidFill>
          <a:ln w="8659">
            <a:solidFill>
              <a:srgbClr val="D8D2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12435536" y="4082152"/>
            <a:ext cx="4311992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96" dirty="0">
                <a:solidFill>
                  <a:srgbClr val="C848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 — REGULATION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2435536" y="4630719"/>
            <a:ext cx="4311992" cy="5715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200" kern="0" spc="-63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Aligned</a:t>
            </a:r>
            <a:endParaRPr lang="en-US" sz="4200" dirty="0"/>
          </a:p>
        </p:txBody>
      </p:sp>
      <p:sp>
        <p:nvSpPr>
          <p:cNvPr id="22" name="Text 20"/>
          <p:cNvSpPr/>
          <p:nvPr/>
        </p:nvSpPr>
        <p:spPr>
          <a:xfrm>
            <a:off x="12435536" y="5297469"/>
            <a:ext cx="3503711" cy="6323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kern="0" spc="216" dirty="0">
                <a:solidFill>
                  <a:srgbClr val="6A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EU AI ACT · EAA · DIGITAL RECORDS</a:t>
            </a: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12435536" y="6120286"/>
            <a:ext cx="4311992" cy="10940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2100" dirty="0">
                <a:solidFill>
                  <a:srgbClr val="2A2A28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EU AI Act, European Accessibility Act, digital-records legislation across multiple jurisdictions converge on provenance requirements. Attestation shifts from competitive advantage to regulatory expectation.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12435536" y="7528563"/>
            <a:ext cx="4186400" cy="9525"/>
          </a:xfrm>
          <a:prstGeom prst="rect">
            <a:avLst/>
          </a:prstGeom>
          <a:solidFill>
            <a:srgbClr val="D8D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12435536" y="7747663"/>
            <a:ext cx="4311992" cy="5152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72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Already inside what the law is asking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238250" y="9014519"/>
            <a:ext cx="16285845" cy="3848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kern="0" spc="20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EACH BENEFIT COMPOUNDS · ATTESTATION IS THE MECHANISM</a:t>
            </a:r>
            <a:endParaRPr lang="en-US" sz="1950" dirty="0"/>
          </a:p>
        </p:txBody>
      </p:sp>
      <p:sp>
        <p:nvSpPr>
          <p:cNvPr id="27" name="Text 25"/>
          <p:cNvSpPr/>
          <p:nvPr/>
        </p:nvSpPr>
        <p:spPr>
          <a:xfrm>
            <a:off x="1238250" y="9547933"/>
            <a:ext cx="1918760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Tom Cranstoun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3347483" y="9547933"/>
            <a:ext cx="217993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D8D2C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·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3755948" y="9547933"/>
            <a:ext cx="2627720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info@cognovamx.com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4782015" y="9547933"/>
            <a:ext cx="2343935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allabout.network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15801555" y="533346"/>
            <a:ext cx="1324394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24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08 / 15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238250" y="1047750"/>
            <a:ext cx="16285845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432" dirty="0">
                <a:solidFill>
                  <a:srgbClr val="C848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WHERE MX FITS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8250" y="1577240"/>
            <a:ext cx="10890997" cy="18383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5700" kern="0" spc="-103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Bare Metal owns the physical stack. MX is the missing logical layer for what enterprises publish.</a:t>
            </a:r>
            <a:endParaRPr lang="en-US" sz="5700" dirty="0"/>
          </a:p>
        </p:txBody>
      </p:sp>
      <p:sp>
        <p:nvSpPr>
          <p:cNvPr id="5" name="Shape 3"/>
          <p:cNvSpPr/>
          <p:nvPr/>
        </p:nvSpPr>
        <p:spPr>
          <a:xfrm>
            <a:off x="1238250" y="3692493"/>
            <a:ext cx="15811500" cy="684000"/>
          </a:xfrm>
          <a:prstGeom prst="rect">
            <a:avLst/>
          </a:prstGeom>
          <a:ln w="8659">
            <a:solidFill>
              <a:srgbClr val="D8D2C4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0957741" y="3701152"/>
            <a:ext cx="9525" cy="666682"/>
          </a:xfrm>
          <a:prstGeom prst="rect">
            <a:avLst/>
          </a:prstGeom>
          <a:solidFill>
            <a:srgbClr val="D8D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551709" y="3834502"/>
            <a:ext cx="9392817" cy="4380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288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APPLICATIONS, AGENTS, ROBOTS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271200" y="3834502"/>
            <a:ext cx="5647331" cy="4380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250" i="1" kern="0" spc="-11" dirty="0">
                <a:solidFill>
                  <a:srgbClr val="6A6258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Everything above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1238250" y="4414580"/>
            <a:ext cx="15811500" cy="684000"/>
          </a:xfrm>
          <a:prstGeom prst="rect">
            <a:avLst/>
          </a:prstGeom>
          <a:solidFill>
            <a:srgbClr val="C8482B"/>
          </a:solidFill>
          <a:ln w="8659">
            <a:solidFill>
              <a:srgbClr val="C848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0957741" y="4423239"/>
            <a:ext cx="9525" cy="666682"/>
          </a:xfrm>
          <a:prstGeom prst="rect">
            <a:avLst/>
          </a:prstGeom>
          <a:solidFill>
            <a:srgbClr val="FBF2E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551709" y="4556589"/>
            <a:ext cx="9392817" cy="4380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288" dirty="0">
                <a:solidFill>
                  <a:srgbClr val="FBF2E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FILE-NATIVE MACHINE RUNTIME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1271200" y="4556589"/>
            <a:ext cx="5647331" cy="4380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250" b="1" i="1" kern="0" spc="-11" dirty="0">
                <a:solidFill>
                  <a:srgbClr val="FBF2E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MX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1238250" y="5136667"/>
            <a:ext cx="15811500" cy="684000"/>
          </a:xfrm>
          <a:prstGeom prst="rect">
            <a:avLst/>
          </a:prstGeom>
          <a:solidFill>
            <a:srgbClr val="FBF8F0"/>
          </a:solidFill>
          <a:ln w="8659">
            <a:solidFill>
              <a:srgbClr val="D8D2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10957741" y="5145327"/>
            <a:ext cx="9525" cy="666682"/>
          </a:xfrm>
          <a:prstGeom prst="rect">
            <a:avLst/>
          </a:prstGeom>
          <a:solidFill>
            <a:srgbClr val="D8D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551709" y="5278677"/>
            <a:ext cx="9392817" cy="4380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288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SOVEREIGN AI RUNTIME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271200" y="5278677"/>
            <a:ext cx="5647331" cy="4380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250" kern="0" spc="-11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MeetKai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1238250" y="5858754"/>
            <a:ext cx="15811500" cy="684000"/>
          </a:xfrm>
          <a:prstGeom prst="rect">
            <a:avLst/>
          </a:prstGeom>
          <a:solidFill>
            <a:srgbClr val="FBF8F0"/>
          </a:solidFill>
          <a:ln w="8659">
            <a:solidFill>
              <a:srgbClr val="D8D2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10957741" y="5867413"/>
            <a:ext cx="9525" cy="666682"/>
          </a:xfrm>
          <a:prstGeom prst="rect">
            <a:avLst/>
          </a:prstGeom>
          <a:solidFill>
            <a:srgbClr val="D8D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1551709" y="6000763"/>
            <a:ext cx="9392817" cy="4380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288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HETEROGENEOUS ORCHESTRATION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1271200" y="6000763"/>
            <a:ext cx="5647331" cy="4380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250" kern="0" spc="-11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Callosum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1238250" y="6580841"/>
            <a:ext cx="15811500" cy="684000"/>
          </a:xfrm>
          <a:prstGeom prst="rect">
            <a:avLst/>
          </a:prstGeom>
          <a:solidFill>
            <a:srgbClr val="FBF8F0"/>
          </a:solidFill>
          <a:ln w="8659">
            <a:solidFill>
              <a:srgbClr val="D8D2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10957741" y="6589500"/>
            <a:ext cx="9525" cy="666682"/>
          </a:xfrm>
          <a:prstGeom prst="rect">
            <a:avLst/>
          </a:prstGeom>
          <a:solidFill>
            <a:srgbClr val="D8D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1551709" y="6722850"/>
            <a:ext cx="9392817" cy="4380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288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RACK HARDWARE + OS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1271200" y="6722850"/>
            <a:ext cx="5647331" cy="4380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250" kern="0" spc="-11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Oxide</a:t>
            </a:r>
            <a:endParaRPr lang="en-US" sz="2250" dirty="0"/>
          </a:p>
        </p:txBody>
      </p:sp>
      <p:sp>
        <p:nvSpPr>
          <p:cNvPr id="25" name="Shape 23"/>
          <p:cNvSpPr/>
          <p:nvPr/>
        </p:nvSpPr>
        <p:spPr>
          <a:xfrm>
            <a:off x="1238250" y="7302928"/>
            <a:ext cx="15811500" cy="684000"/>
          </a:xfrm>
          <a:prstGeom prst="rect">
            <a:avLst/>
          </a:prstGeom>
          <a:solidFill>
            <a:srgbClr val="FBF8F0"/>
          </a:solidFill>
          <a:ln w="8659">
            <a:solidFill>
              <a:srgbClr val="D8D2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10957741" y="7311587"/>
            <a:ext cx="9525" cy="666682"/>
          </a:xfrm>
          <a:prstGeom prst="rect">
            <a:avLst/>
          </a:prstGeom>
          <a:solidFill>
            <a:srgbClr val="D8D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1551709" y="7444937"/>
            <a:ext cx="9392817" cy="4380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288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COMPUTE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1271200" y="7444937"/>
            <a:ext cx="5647331" cy="4380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250" kern="0" spc="-11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FluidStack</a:t>
            </a:r>
            <a:endParaRPr lang="en-US" sz="2250" dirty="0"/>
          </a:p>
        </p:txBody>
      </p:sp>
      <p:sp>
        <p:nvSpPr>
          <p:cNvPr id="29" name="Shape 27"/>
          <p:cNvSpPr/>
          <p:nvPr/>
        </p:nvSpPr>
        <p:spPr>
          <a:xfrm>
            <a:off x="1238250" y="8025015"/>
            <a:ext cx="15811500" cy="684000"/>
          </a:xfrm>
          <a:prstGeom prst="rect">
            <a:avLst/>
          </a:prstGeom>
          <a:solidFill>
            <a:srgbClr val="FBF8F0"/>
          </a:solidFill>
          <a:ln w="8659">
            <a:solidFill>
              <a:srgbClr val="D8D2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10957741" y="8033674"/>
            <a:ext cx="9525" cy="666682"/>
          </a:xfrm>
          <a:prstGeom prst="rect">
            <a:avLst/>
          </a:prstGeom>
          <a:solidFill>
            <a:srgbClr val="D8D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1551709" y="8167024"/>
            <a:ext cx="9392817" cy="4380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288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SILICON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1271200" y="8167024"/>
            <a:ext cx="5647331" cy="4380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250" kern="0" spc="-11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DreamBig</a:t>
            </a:r>
            <a:endParaRPr lang="en-US" sz="2250" dirty="0"/>
          </a:p>
        </p:txBody>
      </p:sp>
      <p:sp>
        <p:nvSpPr>
          <p:cNvPr id="33" name="Text 31"/>
          <p:cNvSpPr/>
          <p:nvPr/>
        </p:nvSpPr>
        <p:spPr>
          <a:xfrm>
            <a:off x="1238250" y="9547933"/>
            <a:ext cx="1918760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Tom Cranstoun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3347483" y="9547933"/>
            <a:ext cx="217993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D8D2C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·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3755948" y="9547933"/>
            <a:ext cx="2627720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info@cognovamx.com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14782015" y="9547933"/>
            <a:ext cx="2343935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allabout.network</a:t>
            </a:r>
            <a:endParaRPr lang="en-US" sz="1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15801555" y="533346"/>
            <a:ext cx="1324394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24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09 / 15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238250" y="1047750"/>
            <a:ext cx="16285845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432" dirty="0">
                <a:solidFill>
                  <a:srgbClr val="C848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WHY NOW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8250" y="1577240"/>
            <a:ext cx="14716125" cy="22967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5700" kern="0" spc="-103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Standards that win at this velocity are already published, governed, and operational when the wave arrives. MX is.</a:t>
            </a:r>
            <a:endParaRPr lang="en-US" sz="5700" dirty="0"/>
          </a:p>
        </p:txBody>
      </p:sp>
      <p:sp>
        <p:nvSpPr>
          <p:cNvPr id="5" name="Shape 3"/>
          <p:cNvSpPr/>
          <p:nvPr/>
        </p:nvSpPr>
        <p:spPr>
          <a:xfrm>
            <a:off x="1238249" y="6183220"/>
            <a:ext cx="7783237" cy="9525"/>
          </a:xfrm>
          <a:prstGeom prst="rect">
            <a:avLst/>
          </a:prstGeom>
          <a:solidFill>
            <a:srgbClr val="D8D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238250" y="4425472"/>
            <a:ext cx="838200" cy="3848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kern="0" spc="156" dirty="0">
                <a:solidFill>
                  <a:srgbClr val="C848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2190750" y="4369188"/>
            <a:ext cx="7035659" cy="4324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700" kern="0" spc="-13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Agents can finally act on files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2190750" y="4829269"/>
            <a:ext cx="7035659" cy="10782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dirty="0">
                <a:solidFill>
                  <a:srgbClr val="6A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Frontier models capable of acting on structured input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1238248" y="7723235"/>
            <a:ext cx="7783237" cy="9525"/>
          </a:xfrm>
          <a:prstGeom prst="rect">
            <a:avLst/>
          </a:prstGeom>
          <a:solidFill>
            <a:srgbClr val="D8D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238250" y="6353337"/>
            <a:ext cx="838200" cy="3848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kern="0" spc="156" dirty="0">
                <a:solidFill>
                  <a:srgbClr val="C848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2190750" y="6297053"/>
            <a:ext cx="7035659" cy="4324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700" kern="0" spc="-13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Ambiguity is now a line item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2190750" y="6757135"/>
            <a:ext cx="7035659" cy="7315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dirty="0">
                <a:solidFill>
                  <a:srgbClr val="6A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Inference cost makes structural ambiguity expensive at enterprise scale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1238250" y="7934501"/>
            <a:ext cx="838200" cy="3848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kern="0" spc="156" dirty="0">
                <a:solidFill>
                  <a:srgbClr val="C848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2190750" y="7878217"/>
            <a:ext cx="7035659" cy="4324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700" kern="0" spc="-13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Provenance is becoming law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2190750" y="8338299"/>
            <a:ext cx="7035659" cy="7315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dirty="0">
                <a:solidFill>
                  <a:srgbClr val="6A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Regulatory pressure on AI provenance — EU AI Act, UK AI assurance regime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9973987" y="4369188"/>
            <a:ext cx="7288035" cy="14050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1700" kern="0" spc="-468" dirty="0">
                <a:solidFill>
                  <a:srgbClr val="E07A5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700</a:t>
            </a:r>
            <a:r>
              <a:rPr lang="en-US" sz="4800" kern="0" spc="-468" baseline="30000" dirty="0">
                <a:solidFill>
                  <a:srgbClr val="E07A5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%</a:t>
            </a:r>
            <a:endParaRPr lang="en-US" sz="11700" dirty="0"/>
          </a:p>
        </p:txBody>
      </p:sp>
      <p:sp>
        <p:nvSpPr>
          <p:cNvPr id="17" name="Text 15"/>
          <p:cNvSpPr/>
          <p:nvPr/>
        </p:nvSpPr>
        <p:spPr>
          <a:xfrm>
            <a:off x="9973987" y="5888520"/>
            <a:ext cx="7288035" cy="14249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dirty="0">
                <a:solidFill>
                  <a:srgbClr val="1A1A1A">
                    <a:alpha val="8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Adobe Holiday 2025: 700% growth in AI-referred retail traffic. AI-referred users converting 30% higher than direct. Human browsing is becoming the exception.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9973987" y="7522923"/>
            <a:ext cx="7288035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180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ADOBE HOLIDAY 2025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38250" y="9547933"/>
            <a:ext cx="1918760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Tom Cranstoun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3347483" y="9547933"/>
            <a:ext cx="217993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D8D2C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·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3755948" y="9547933"/>
            <a:ext cx="2627720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info@cognovamx.com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4782015" y="9547933"/>
            <a:ext cx="2343935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allabout.network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15801555" y="533346"/>
            <a:ext cx="1324394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24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10 / 15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238250" y="1047750"/>
            <a:ext cx="16285845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432" dirty="0">
                <a:solidFill>
                  <a:srgbClr val="C848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TRACTION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8250" y="1577240"/>
            <a:ext cx="16285845" cy="63239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4500" kern="0" spc="-81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Not a prototype — a functioning ecosystem with growing institutional validation.</a:t>
            </a:r>
            <a:endParaRPr lang="en-US" sz="4500" dirty="0"/>
          </a:p>
        </p:txBody>
      </p:sp>
      <p:sp>
        <p:nvSpPr>
          <p:cNvPr id="5" name="Shape 3"/>
          <p:cNvSpPr/>
          <p:nvPr/>
        </p:nvSpPr>
        <p:spPr>
          <a:xfrm>
            <a:off x="1238250" y="2704883"/>
            <a:ext cx="10509227" cy="3320694"/>
          </a:xfrm>
          <a:prstGeom prst="rect">
            <a:avLst/>
          </a:prstGeom>
          <a:solidFill>
            <a:srgbClr val="1A1A1A"/>
          </a:solidFill>
          <a:ln w="8659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456419" y="2884965"/>
            <a:ext cx="10375077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252" dirty="0">
                <a:solidFill>
                  <a:srgbClr val="E07A5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PUBLISHED · APR 2026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456419" y="3281119"/>
            <a:ext cx="10375077" cy="6533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5100" kern="0" spc="-102" dirty="0">
                <a:solidFill>
                  <a:srgbClr val="E07A5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320pp</a:t>
            </a:r>
            <a:endParaRPr lang="en-US" sz="5100" dirty="0"/>
          </a:p>
        </p:txBody>
      </p:sp>
      <p:sp>
        <p:nvSpPr>
          <p:cNvPr id="8" name="Text 6"/>
          <p:cNvSpPr/>
          <p:nvPr/>
        </p:nvSpPr>
        <p:spPr>
          <a:xfrm>
            <a:off x="1448252" y="4450595"/>
            <a:ext cx="10375077" cy="4084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700" kern="0" spc="-13" dirty="0">
                <a:solidFill>
                  <a:srgbClr val="F5F1E8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Books shipping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1467650" y="4954256"/>
            <a:ext cx="7156397" cy="6551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800" dirty="0">
                <a:solidFill>
                  <a:srgbClr val="F5F1E8">
                    <a:alpha val="7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Handbook published April 2026 (320 pages); Protocols pre-orders open for 1 July 2026 (800 pages)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1842727" y="2704883"/>
            <a:ext cx="5206955" cy="3320694"/>
          </a:xfrm>
          <a:prstGeom prst="rect">
            <a:avLst/>
          </a:prstGeom>
          <a:solidFill>
            <a:srgbClr val="C8482B"/>
          </a:solidFill>
          <a:ln w="8659">
            <a:solidFill>
              <a:srgbClr val="C848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2060895" y="2884965"/>
            <a:ext cx="4913736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252" dirty="0">
                <a:solidFill>
                  <a:srgbClr val="FBF2E6">
                    <a:alpha val="85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LIVE ALPHA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2033331" y="4529333"/>
            <a:ext cx="4913736" cy="3260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100" kern="0" spc="-11" dirty="0">
                <a:solidFill>
                  <a:srgbClr val="FBF2E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REGINALD alpha live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12060895" y="4987814"/>
            <a:ext cx="4913736" cy="6551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800" dirty="0">
                <a:solidFill>
                  <a:srgbClr val="FBF2E6">
                    <a:alpha val="8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89 COGs, 2 test publishers, Ed25519 attestation; Leica Microsystems audit, 14,264 URLs across 10 locales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1238250" y="6120827"/>
            <a:ext cx="5206955" cy="2546923"/>
          </a:xfrm>
          <a:prstGeom prst="rect">
            <a:avLst/>
          </a:prstGeom>
          <a:solidFill>
            <a:srgbClr val="FBF8F0"/>
          </a:solidFill>
          <a:ln w="8659">
            <a:solidFill>
              <a:srgbClr val="D8D2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456419" y="6300909"/>
            <a:ext cx="4913736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252" dirty="0">
                <a:solidFill>
                  <a:srgbClr val="C848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STANDARDS BODY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428855" y="7113662"/>
            <a:ext cx="4913736" cy="3260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100" kern="0" spc="-11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The Gathering Administration LTD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1448252" y="7574526"/>
            <a:ext cx="4913736" cy="6551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800" dirty="0">
                <a:solidFill>
                  <a:srgbClr val="6A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incorporated as an independent standards body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540455" y="6120827"/>
            <a:ext cx="5207022" cy="2546923"/>
          </a:xfrm>
          <a:prstGeom prst="rect">
            <a:avLst/>
          </a:prstGeom>
          <a:solidFill>
            <a:srgbClr val="FBF8F0"/>
          </a:solidFill>
          <a:ln w="8659">
            <a:solidFill>
              <a:srgbClr val="D8D2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758623" y="6300909"/>
            <a:ext cx="4913806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252" dirty="0">
                <a:solidFill>
                  <a:srgbClr val="C848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THIS MONTH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731059" y="7113662"/>
            <a:ext cx="4913806" cy="3260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100" kern="0" spc="-11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CMS Summit Frankfurt this month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6750456" y="7574526"/>
            <a:ext cx="4913806" cy="6551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800" dirty="0">
                <a:solidFill>
                  <a:srgbClr val="6A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presenting to 200 platform practitioners; second-day workshop confirmed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1842727" y="6120827"/>
            <a:ext cx="5206955" cy="2546923"/>
          </a:xfrm>
          <a:prstGeom prst="rect">
            <a:avLst/>
          </a:prstGeom>
          <a:solidFill>
            <a:srgbClr val="FBF8F0"/>
          </a:solidFill>
          <a:ln w="8659">
            <a:solidFill>
              <a:srgbClr val="D8D2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12060895" y="6300909"/>
            <a:ext cx="4913736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252" dirty="0">
                <a:solidFill>
                  <a:srgbClr val="C848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SPONSORS · SPEAKING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2033331" y="7113662"/>
            <a:ext cx="4913736" cy="3260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100" kern="0" spc="-11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Sponsors and speaking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12052728" y="7574526"/>
            <a:ext cx="4913736" cy="6551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800" dirty="0">
                <a:solidFill>
                  <a:srgbClr val="6A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IDHL sponsorship confirmed (team training July 2026); Mozilla Fest Barcelona invited for October 2026 with Mozilla in conversation as sponsor; Germany and Canada in active discussion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238250" y="9547933"/>
            <a:ext cx="1918760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Tom Cranstoun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3347483" y="9547933"/>
            <a:ext cx="217993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D8D2C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·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3755948" y="9547933"/>
            <a:ext cx="2627720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info@cognovamx.com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4782015" y="9547933"/>
            <a:ext cx="2343935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allabout.network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15801555" y="533346"/>
            <a:ext cx="1324394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24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11 / 15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238250" y="1047750"/>
            <a:ext cx="16285845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432" dirty="0">
                <a:solidFill>
                  <a:srgbClr val="C848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COMPETITIVE POSITION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8250" y="1577240"/>
            <a:ext cx="16285845" cy="12266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4500" kern="0" spc="-81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Every competitor raised on an agent-OS narrative. None is file-native. The moat is architecture.</a:t>
            </a:r>
            <a:endParaRPr lang="en-US" sz="4500" dirty="0"/>
          </a:p>
        </p:txBody>
      </p:sp>
      <p:sp>
        <p:nvSpPr>
          <p:cNvPr id="5" name="Shape 3"/>
          <p:cNvSpPr/>
          <p:nvPr/>
        </p:nvSpPr>
        <p:spPr>
          <a:xfrm>
            <a:off x="1238250" y="6175758"/>
            <a:ext cx="4000500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238500" y="4175508"/>
            <a:ext cx="9525" cy="400050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162077" y="6347181"/>
            <a:ext cx="2037619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24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PROPRIETARY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25430" y="6347181"/>
            <a:ext cx="789493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40000"/>
              </a:lnSpc>
              <a:buNone/>
            </a:pPr>
            <a:r>
              <a:rPr lang="en-US" sz="1800" kern="0" spc="324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OPEN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371836" y="3775499"/>
            <a:ext cx="1859296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24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EXECUTABLE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371836" y="8198873"/>
            <a:ext cx="1324394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24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QUERIED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755948" y="4249922"/>
            <a:ext cx="136790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3300" i="1" kern="0" spc="-66" dirty="0">
                <a:solidFill>
                  <a:srgbClr val="C8482B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MX OS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3333723" y="4823113"/>
            <a:ext cx="1733604" cy="3847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050" kern="0" spc="168" dirty="0">
                <a:solidFill>
                  <a:srgbClr val="C848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— ALONE IN THIS QUADRANT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9243850" y="4643031"/>
            <a:ext cx="7805900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243850" y="3869734"/>
            <a:ext cx="2034846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180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COMPANY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1354842" y="3869734"/>
            <a:ext cx="1615218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180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FUNDING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3008105" y="3869734"/>
            <a:ext cx="1195455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800" kern="0" spc="180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FILE-NATIVE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4279706" y="3869734"/>
            <a:ext cx="1055557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800" kern="0" spc="180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OPEN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5411409" y="3869734"/>
            <a:ext cx="1676441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800" kern="0" spc="180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EXECUTABLE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243850" y="5579972"/>
            <a:ext cx="7805900" cy="9525"/>
          </a:xfrm>
          <a:prstGeom prst="rect">
            <a:avLst/>
          </a:prstGeom>
          <a:solidFill>
            <a:srgbClr val="D8D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9243850" y="4785027"/>
            <a:ext cx="2132328" cy="3848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/dev/agents</a:t>
            </a:r>
            <a:endParaRPr lang="en-US" sz="1950" dirty="0"/>
          </a:p>
        </p:txBody>
      </p:sp>
      <p:sp>
        <p:nvSpPr>
          <p:cNvPr id="21" name="Text 19"/>
          <p:cNvSpPr/>
          <p:nvPr/>
        </p:nvSpPr>
        <p:spPr>
          <a:xfrm>
            <a:off x="11452324" y="4806675"/>
            <a:ext cx="1691729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$56M @ $500M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3182099" y="4806675"/>
            <a:ext cx="1251130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800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4509375" y="4806675"/>
            <a:ext cx="1104264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800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5689785" y="4806675"/>
            <a:ext cx="1397997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800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243850" y="6202006"/>
            <a:ext cx="7805900" cy="9525"/>
          </a:xfrm>
          <a:prstGeom prst="rect">
            <a:avLst/>
          </a:prstGeom>
          <a:solidFill>
            <a:srgbClr val="D8D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9243850" y="5721968"/>
            <a:ext cx="2132328" cy="3848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Letta</a:t>
            </a:r>
            <a:endParaRPr lang="en-US" sz="1950" dirty="0"/>
          </a:p>
        </p:txBody>
      </p:sp>
      <p:sp>
        <p:nvSpPr>
          <p:cNvPr id="27" name="Text 25"/>
          <p:cNvSpPr/>
          <p:nvPr/>
        </p:nvSpPr>
        <p:spPr>
          <a:xfrm>
            <a:off x="11452324" y="5743615"/>
            <a:ext cx="1691729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$10M @ $70M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3182099" y="5743615"/>
            <a:ext cx="1251130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800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Partial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4509375" y="5743615"/>
            <a:ext cx="1104264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800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Partial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5689785" y="5743615"/>
            <a:ext cx="1397997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800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9243850" y="7138947"/>
            <a:ext cx="7805900" cy="9525"/>
          </a:xfrm>
          <a:prstGeom prst="rect">
            <a:avLst/>
          </a:prstGeom>
          <a:solidFill>
            <a:srgbClr val="D8D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9243850" y="6344002"/>
            <a:ext cx="2132328" cy="3848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E2B</a:t>
            </a:r>
            <a:endParaRPr lang="en-US" sz="1950" dirty="0"/>
          </a:p>
        </p:txBody>
      </p:sp>
      <p:sp>
        <p:nvSpPr>
          <p:cNvPr id="33" name="Text 31"/>
          <p:cNvSpPr/>
          <p:nvPr/>
        </p:nvSpPr>
        <p:spPr>
          <a:xfrm>
            <a:off x="11452324" y="6365649"/>
            <a:ext cx="1691729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$21M Series A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13182099" y="6365649"/>
            <a:ext cx="1251130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800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14509375" y="6365649"/>
            <a:ext cx="1104264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800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15689785" y="6365649"/>
            <a:ext cx="1397997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800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9243850" y="7760980"/>
            <a:ext cx="7805900" cy="9525"/>
          </a:xfrm>
          <a:prstGeom prst="rect">
            <a:avLst/>
          </a:prstGeom>
          <a:solidFill>
            <a:srgbClr val="D8D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9243850" y="7280942"/>
            <a:ext cx="2132328" cy="3848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Cognition</a:t>
            </a:r>
            <a:endParaRPr lang="en-US" sz="1950" dirty="0"/>
          </a:p>
        </p:txBody>
      </p:sp>
      <p:sp>
        <p:nvSpPr>
          <p:cNvPr id="39" name="Text 37"/>
          <p:cNvSpPr/>
          <p:nvPr/>
        </p:nvSpPr>
        <p:spPr>
          <a:xfrm>
            <a:off x="11452324" y="7302590"/>
            <a:ext cx="1691729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$175M @ $2B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13182099" y="7302590"/>
            <a:ext cx="1251130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800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</a:t>
            </a:r>
            <a:endParaRPr lang="en-US" sz="1800" dirty="0"/>
          </a:p>
        </p:txBody>
      </p:sp>
      <p:sp>
        <p:nvSpPr>
          <p:cNvPr id="41" name="Text 39"/>
          <p:cNvSpPr/>
          <p:nvPr/>
        </p:nvSpPr>
        <p:spPr>
          <a:xfrm>
            <a:off x="14509375" y="7302590"/>
            <a:ext cx="1104264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800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15689785" y="7302590"/>
            <a:ext cx="1397997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800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</a:t>
            </a:r>
            <a:endParaRPr lang="en-US" sz="1800" dirty="0"/>
          </a:p>
        </p:txBody>
      </p:sp>
      <p:sp>
        <p:nvSpPr>
          <p:cNvPr id="43" name="Shape 41"/>
          <p:cNvSpPr/>
          <p:nvPr/>
        </p:nvSpPr>
        <p:spPr>
          <a:xfrm>
            <a:off x="9091504" y="7941342"/>
            <a:ext cx="8110592" cy="66965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9243850" y="8017236"/>
            <a:ext cx="2132328" cy="3848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i="1" dirty="0">
                <a:solidFill>
                  <a:srgbClr val="F5F1E8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MX OS</a:t>
            </a:r>
            <a:endParaRPr lang="en-US" sz="1950" dirty="0"/>
          </a:p>
        </p:txBody>
      </p:sp>
      <p:sp>
        <p:nvSpPr>
          <p:cNvPr id="45" name="Text 43"/>
          <p:cNvSpPr/>
          <p:nvPr/>
        </p:nvSpPr>
        <p:spPr>
          <a:xfrm>
            <a:off x="11452324" y="8038883"/>
            <a:ext cx="1691729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F5F1E8">
                    <a:alpha val="7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Pre-seed</a:t>
            </a:r>
            <a:endParaRPr lang="en-US" sz="1800" dirty="0"/>
          </a:p>
        </p:txBody>
      </p:sp>
      <p:sp>
        <p:nvSpPr>
          <p:cNvPr id="46" name="Text 44"/>
          <p:cNvSpPr/>
          <p:nvPr/>
        </p:nvSpPr>
        <p:spPr>
          <a:xfrm>
            <a:off x="13182099" y="8038883"/>
            <a:ext cx="1251130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800" b="1" dirty="0">
                <a:solidFill>
                  <a:srgbClr val="E07A5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Yes</a:t>
            </a:r>
            <a:endParaRPr lang="en-US" sz="1800" dirty="0"/>
          </a:p>
        </p:txBody>
      </p:sp>
      <p:sp>
        <p:nvSpPr>
          <p:cNvPr id="47" name="Text 45"/>
          <p:cNvSpPr/>
          <p:nvPr/>
        </p:nvSpPr>
        <p:spPr>
          <a:xfrm>
            <a:off x="14509375" y="8038883"/>
            <a:ext cx="1104264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800" b="1" dirty="0">
                <a:solidFill>
                  <a:srgbClr val="E07A5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Yes</a:t>
            </a:r>
            <a:endParaRPr lang="en-US" sz="1800" dirty="0"/>
          </a:p>
        </p:txBody>
      </p:sp>
      <p:sp>
        <p:nvSpPr>
          <p:cNvPr id="48" name="Text 46"/>
          <p:cNvSpPr/>
          <p:nvPr/>
        </p:nvSpPr>
        <p:spPr>
          <a:xfrm>
            <a:off x="15689785" y="8038883"/>
            <a:ext cx="1397997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800" b="1" dirty="0">
                <a:solidFill>
                  <a:srgbClr val="E07A5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Yes</a:t>
            </a:r>
            <a:endParaRPr lang="en-US" sz="1800" dirty="0"/>
          </a:p>
        </p:txBody>
      </p:sp>
      <p:sp>
        <p:nvSpPr>
          <p:cNvPr id="49" name="Text 47"/>
          <p:cNvSpPr/>
          <p:nvPr/>
        </p:nvSpPr>
        <p:spPr>
          <a:xfrm>
            <a:off x="1238250" y="9547933"/>
            <a:ext cx="1918760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Tom Cranstoun</a:t>
            </a:r>
            <a:endParaRPr lang="en-US" sz="1800" dirty="0"/>
          </a:p>
        </p:txBody>
      </p:sp>
      <p:sp>
        <p:nvSpPr>
          <p:cNvPr id="50" name="Text 48"/>
          <p:cNvSpPr/>
          <p:nvPr/>
        </p:nvSpPr>
        <p:spPr>
          <a:xfrm>
            <a:off x="3347483" y="9547933"/>
            <a:ext cx="217993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D8D2C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·</a:t>
            </a:r>
            <a:endParaRPr lang="en-US" sz="1800" dirty="0"/>
          </a:p>
        </p:txBody>
      </p:sp>
      <p:sp>
        <p:nvSpPr>
          <p:cNvPr id="51" name="Text 49"/>
          <p:cNvSpPr/>
          <p:nvPr/>
        </p:nvSpPr>
        <p:spPr>
          <a:xfrm>
            <a:off x="3755948" y="9547933"/>
            <a:ext cx="2627720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info@cognovamx.com</a:t>
            </a:r>
            <a:endParaRPr lang="en-US" sz="1800" dirty="0"/>
          </a:p>
        </p:txBody>
      </p:sp>
      <p:sp>
        <p:nvSpPr>
          <p:cNvPr id="52" name="Text 50"/>
          <p:cNvSpPr/>
          <p:nvPr/>
        </p:nvSpPr>
        <p:spPr>
          <a:xfrm>
            <a:off x="14782015" y="9547933"/>
            <a:ext cx="2343935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allabout.network</a:t>
            </a:r>
            <a:endParaRPr lang="en-US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15801555" y="533346"/>
            <a:ext cx="1324394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24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 / 15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238250" y="1047750"/>
            <a:ext cx="16285845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432" dirty="0">
                <a:solidFill>
                  <a:srgbClr val="C848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LOCAL REGINALD MACHINE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8250" y="1577240"/>
            <a:ext cx="16285845" cy="15438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5700" kern="0" spc="-103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REGINALD for organisations that won't put their files on the internet. £25,000 per server per year.</a:t>
            </a:r>
            <a:endParaRPr lang="en-US" sz="5700" dirty="0"/>
          </a:p>
        </p:txBody>
      </p:sp>
      <p:sp>
        <p:nvSpPr>
          <p:cNvPr id="5" name="Shape 3"/>
          <p:cNvSpPr/>
          <p:nvPr/>
        </p:nvSpPr>
        <p:spPr>
          <a:xfrm>
            <a:off x="1238250" y="3806820"/>
            <a:ext cx="6797386" cy="5703013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657336" y="4225907"/>
            <a:ext cx="6137989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288" dirty="0">
                <a:solidFill>
                  <a:srgbClr val="F5F1E8">
                    <a:alpha val="6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PER SERVER · PER YEAR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57336" y="4660147"/>
            <a:ext cx="6137989" cy="12191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6000" kern="0" spc="-279" dirty="0">
                <a:solidFill>
                  <a:srgbClr val="E07A5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£ </a:t>
            </a:r>
            <a:r>
              <a:rPr lang="en-US" sz="9300" kern="0" spc="-279" dirty="0">
                <a:solidFill>
                  <a:srgbClr val="E07A5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25k</a:t>
            </a:r>
            <a:endParaRPr lang="en-US" sz="9300" dirty="0"/>
          </a:p>
        </p:txBody>
      </p:sp>
      <p:sp>
        <p:nvSpPr>
          <p:cNvPr id="8" name="Text 6"/>
          <p:cNvSpPr/>
          <p:nvPr/>
        </p:nvSpPr>
        <p:spPr>
          <a:xfrm>
            <a:off x="1657336" y="5993579"/>
            <a:ext cx="6137989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F5F1E8">
                    <a:alpha val="8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Banks. Law firms. Government. Defence. Regulated buyers cannot deploy any other way.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657336" y="7204972"/>
            <a:ext cx="5959213" cy="9525"/>
          </a:xfrm>
          <a:prstGeom prst="rect">
            <a:avLst/>
          </a:prstGeom>
          <a:solidFill>
            <a:srgbClr val="F5F1E8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657335" y="7456296"/>
            <a:ext cx="5575683" cy="74117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252" dirty="0">
                <a:solidFill>
                  <a:srgbClr val="F5F1E8">
                    <a:alpha val="55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10 ENTERPRISE CLIENTS · 5-SERVER AVG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657335" y="8114866"/>
            <a:ext cx="6137989" cy="11354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400" i="1" dirty="0">
                <a:solidFill>
                  <a:srgbClr val="FBF2E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£1.25M ARR from on-prem alone — before a single SaaS subscription.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8892886" y="5373845"/>
            <a:ext cx="8156863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892886" y="4939605"/>
            <a:ext cx="4171450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216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ORGANISATION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3133310" y="4939605"/>
            <a:ext cx="1267366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40000"/>
              </a:lnSpc>
              <a:buNone/>
            </a:pPr>
            <a:r>
              <a:rPr lang="en-US" sz="1800" kern="0" spc="216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SERVERS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4591149" y="4939605"/>
            <a:ext cx="2458600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40000"/>
              </a:lnSpc>
              <a:buNone/>
            </a:pPr>
            <a:r>
              <a:rPr lang="en-US" sz="1800" kern="0" spc="216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ACV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8892886" y="6136792"/>
            <a:ext cx="8156863" cy="9525"/>
          </a:xfrm>
          <a:prstGeom prst="rect">
            <a:avLst/>
          </a:prstGeom>
          <a:solidFill>
            <a:srgbClr val="D8D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892886" y="5573004"/>
            <a:ext cx="4171450" cy="411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100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Mid-size law firm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3133310" y="5611970"/>
            <a:ext cx="1267366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40000"/>
              </a:lnSpc>
              <a:buNone/>
            </a:pPr>
            <a:r>
              <a:rPr lang="en-US" sz="1800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4591149" y="5573004"/>
            <a:ext cx="2458600" cy="411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40000"/>
              </a:lnSpc>
              <a:buNone/>
            </a:pPr>
            <a:r>
              <a:rPr lang="en-US" sz="2100" dirty="0">
                <a:solidFill>
                  <a:srgbClr val="C8482B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£50,000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8892886" y="6899739"/>
            <a:ext cx="8156863" cy="9525"/>
          </a:xfrm>
          <a:prstGeom prst="rect">
            <a:avLst/>
          </a:prstGeom>
          <a:solidFill>
            <a:srgbClr val="D8D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8892886" y="6335951"/>
            <a:ext cx="4171450" cy="411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100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Regional bank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13133310" y="6374917"/>
            <a:ext cx="1267366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40000"/>
              </a:lnSpc>
              <a:buNone/>
            </a:pPr>
            <a:r>
              <a:rPr lang="en-US" sz="1800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4591149" y="6335951"/>
            <a:ext cx="2458600" cy="411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40000"/>
              </a:lnSpc>
              <a:buNone/>
            </a:pPr>
            <a:r>
              <a:rPr lang="en-US" sz="2100" dirty="0">
                <a:solidFill>
                  <a:srgbClr val="C8482B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£125,000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8892886" y="7662686"/>
            <a:ext cx="8156863" cy="9525"/>
          </a:xfrm>
          <a:prstGeom prst="rect">
            <a:avLst/>
          </a:prstGeom>
          <a:solidFill>
            <a:srgbClr val="D8D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8892886" y="7098898"/>
            <a:ext cx="4171450" cy="411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100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Global bank (per division)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13133310" y="7137864"/>
            <a:ext cx="1267366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40000"/>
              </a:lnSpc>
              <a:buNone/>
            </a:pPr>
            <a:r>
              <a:rPr lang="en-US" sz="1800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10–20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4591149" y="7098898"/>
            <a:ext cx="2458600" cy="411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40000"/>
              </a:lnSpc>
              <a:buNone/>
            </a:pPr>
            <a:r>
              <a:rPr lang="en-US" sz="2100" dirty="0">
                <a:solidFill>
                  <a:srgbClr val="C8482B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£250,000–£500,000</a:t>
            </a:r>
            <a:endParaRPr lang="en-US" sz="2100" dirty="0"/>
          </a:p>
        </p:txBody>
      </p:sp>
      <p:sp>
        <p:nvSpPr>
          <p:cNvPr id="28" name="Shape 26"/>
          <p:cNvSpPr/>
          <p:nvPr/>
        </p:nvSpPr>
        <p:spPr>
          <a:xfrm>
            <a:off x="8892886" y="8425634"/>
            <a:ext cx="8156863" cy="9525"/>
          </a:xfrm>
          <a:prstGeom prst="rect">
            <a:avLst/>
          </a:prstGeom>
          <a:solidFill>
            <a:srgbClr val="D8D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8892886" y="7861846"/>
            <a:ext cx="4171450" cy="411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100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Government department</a:t>
            </a:r>
            <a:endParaRPr lang="en-US" sz="2100" dirty="0"/>
          </a:p>
        </p:txBody>
      </p:sp>
      <p:sp>
        <p:nvSpPr>
          <p:cNvPr id="30" name="Text 28"/>
          <p:cNvSpPr/>
          <p:nvPr/>
        </p:nvSpPr>
        <p:spPr>
          <a:xfrm>
            <a:off x="13133310" y="7900811"/>
            <a:ext cx="1267366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40000"/>
              </a:lnSpc>
              <a:buNone/>
            </a:pPr>
            <a:r>
              <a:rPr lang="en-US" sz="1800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5–10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4591149" y="7861846"/>
            <a:ext cx="2458600" cy="411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40000"/>
              </a:lnSpc>
              <a:buNone/>
            </a:pPr>
            <a:r>
              <a:rPr lang="en-US" sz="2100" dirty="0">
                <a:solidFill>
                  <a:srgbClr val="C8482B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£125,000–£250,000</a:t>
            </a:r>
            <a:endParaRPr lang="en-US" sz="2100" dirty="0"/>
          </a:p>
        </p:txBody>
      </p:sp>
      <p:sp>
        <p:nvSpPr>
          <p:cNvPr id="32" name="Shape 30"/>
          <p:cNvSpPr/>
          <p:nvPr/>
        </p:nvSpPr>
        <p:spPr>
          <a:xfrm>
            <a:off x="8892886" y="9188581"/>
            <a:ext cx="8156863" cy="9525"/>
          </a:xfrm>
          <a:prstGeom prst="rect">
            <a:avLst/>
          </a:prstGeom>
          <a:solidFill>
            <a:srgbClr val="D8D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8892886" y="8624793"/>
            <a:ext cx="4171450" cy="411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100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Defence contractor</a:t>
            </a:r>
            <a:endParaRPr lang="en-US" sz="2100" dirty="0"/>
          </a:p>
        </p:txBody>
      </p:sp>
      <p:sp>
        <p:nvSpPr>
          <p:cNvPr id="34" name="Text 32"/>
          <p:cNvSpPr/>
          <p:nvPr/>
        </p:nvSpPr>
        <p:spPr>
          <a:xfrm>
            <a:off x="13133310" y="8663758"/>
            <a:ext cx="1267366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40000"/>
              </a:lnSpc>
              <a:buNone/>
            </a:pPr>
            <a:r>
              <a:rPr lang="en-US" sz="1800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10+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14591149" y="8624793"/>
            <a:ext cx="2458600" cy="411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40000"/>
              </a:lnSpc>
              <a:buNone/>
            </a:pPr>
            <a:r>
              <a:rPr lang="en-US" sz="2100" dirty="0">
                <a:solidFill>
                  <a:srgbClr val="C8482B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£250,000+</a:t>
            </a:r>
            <a:endParaRPr lang="en-US" sz="2100" dirty="0"/>
          </a:p>
        </p:txBody>
      </p:sp>
      <p:sp>
        <p:nvSpPr>
          <p:cNvPr id="36" name="Text 34"/>
          <p:cNvSpPr/>
          <p:nvPr/>
        </p:nvSpPr>
        <p:spPr>
          <a:xfrm>
            <a:off x="1238250" y="9547933"/>
            <a:ext cx="1918760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Tom Cranstoun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3347483" y="9547933"/>
            <a:ext cx="217993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D8D2C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·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3755948" y="9547933"/>
            <a:ext cx="2627720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info@cognovamx.com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4782015" y="9547933"/>
            <a:ext cx="2343935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allabout.network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15801555" y="533346"/>
            <a:ext cx="1324394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24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13 / 15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238250" y="1047750"/>
            <a:ext cx="16285845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432" dirty="0">
                <a:solidFill>
                  <a:srgbClr val="C848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FOUNDER CONTRIBUTION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8250" y="1577240"/>
            <a:ext cx="16285845" cy="15438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5700" kern="0" spc="-103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We've invested significantly in proving the core concepts before seeking outside capital.</a:t>
            </a:r>
            <a:endParaRPr lang="en-US" sz="5700" dirty="0"/>
          </a:p>
        </p:txBody>
      </p:sp>
      <p:sp>
        <p:nvSpPr>
          <p:cNvPr id="5" name="Shape 3"/>
          <p:cNvSpPr/>
          <p:nvPr/>
        </p:nvSpPr>
        <p:spPr>
          <a:xfrm>
            <a:off x="1238250" y="3806820"/>
            <a:ext cx="6797386" cy="5703013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657336" y="4225907"/>
            <a:ext cx="6137989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288" dirty="0">
                <a:solidFill>
                  <a:srgbClr val="F5F1E8">
                    <a:alpha val="6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TOTAL DOCUMENTED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57336" y="4660147"/>
            <a:ext cx="6137989" cy="12191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6000" kern="0" spc="-279" dirty="0">
                <a:solidFill>
                  <a:srgbClr val="E07A5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£358–599k</a:t>
            </a:r>
            <a:endParaRPr lang="en-US" sz="9300" dirty="0"/>
          </a:p>
        </p:txBody>
      </p:sp>
      <p:sp>
        <p:nvSpPr>
          <p:cNvPr id="8" name="Text 6"/>
          <p:cNvSpPr/>
          <p:nvPr/>
        </p:nvSpPr>
        <p:spPr>
          <a:xfrm>
            <a:off x="1657336" y="5993579"/>
            <a:ext cx="6137989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F5F1E8">
                    <a:alpha val="8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Cash, foregone consultancy income, below-market time on framework, books, standards, plus 2.5 years of conferences, podcasts, and community engagement.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657336" y="7204972"/>
            <a:ext cx="5959213" cy="9525"/>
          </a:xfrm>
          <a:prstGeom prst="rect">
            <a:avLst/>
          </a:prstGeom>
          <a:solidFill>
            <a:srgbClr val="F5F1E8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657335" y="7456296"/>
            <a:ext cx="5575683" cy="74117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252" dirty="0">
                <a:solidFill>
                  <a:srgbClr val="F5F1E8">
                    <a:alpha val="55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WHAT THE NUMBER REPRESENTS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657335" y="8114866"/>
            <a:ext cx="6137989" cy="11354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400" i="1" dirty="0">
                <a:solidFill>
                  <a:srgbClr val="FBF2E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Skin in the game across every line item — capital, labour, reputation.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8892886" y="5373845"/>
            <a:ext cx="8156863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892886" y="4939605"/>
            <a:ext cx="4171450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216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ITEM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3133310" y="4939605"/>
            <a:ext cx="1267366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40000"/>
              </a:lnSpc>
              <a:buNone/>
            </a:pPr>
            <a:r>
              <a:rPr lang="en-US" sz="1800" kern="0" spc="216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/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4591149" y="4939605"/>
            <a:ext cx="2458600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40000"/>
              </a:lnSpc>
              <a:buNone/>
            </a:pPr>
            <a:r>
              <a:rPr lang="en-US" sz="1800" kern="0" spc="216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AMOUNT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8892886" y="6136792"/>
            <a:ext cx="8156863" cy="9525"/>
          </a:xfrm>
          <a:prstGeom prst="rect">
            <a:avLst/>
          </a:prstGeom>
          <a:solidFill>
            <a:srgbClr val="D8D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892886" y="5573004"/>
            <a:ext cx="4171450" cy="411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100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Cash to contractors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3133310" y="5611970"/>
            <a:ext cx="1267366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40000"/>
              </a:lnSpc>
              <a:buNone/>
            </a:pPr>
            <a:r>
              <a:rPr lang="en-US" sz="1800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/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4591149" y="5573004"/>
            <a:ext cx="2458600" cy="411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40000"/>
              </a:lnSpc>
              <a:buNone/>
            </a:pPr>
            <a:r>
              <a:rPr lang="en-US" sz="2100" dirty="0">
                <a:solidFill>
                  <a:srgbClr val="C8482B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£60,000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8892886" y="6899739"/>
            <a:ext cx="8156863" cy="9525"/>
          </a:xfrm>
          <a:prstGeom prst="rect">
            <a:avLst/>
          </a:prstGeom>
          <a:solidFill>
            <a:srgbClr val="D8D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8892886" y="6335951"/>
            <a:ext cx="4171450" cy="411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100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Conference travel and registration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13133310" y="6374917"/>
            <a:ext cx="1267366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40000"/>
              </a:lnSpc>
              <a:buNone/>
            </a:pPr>
            <a:r>
              <a:rPr lang="en-US" sz="1800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/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4591149" y="6335951"/>
            <a:ext cx="2458600" cy="411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40000"/>
              </a:lnSpc>
              <a:buNone/>
            </a:pPr>
            <a:r>
              <a:rPr lang="en-US" sz="2100" dirty="0">
                <a:solidFill>
                  <a:srgbClr val="C8482B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£8,000–£15,000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8892886" y="7662686"/>
            <a:ext cx="8156863" cy="9525"/>
          </a:xfrm>
          <a:prstGeom prst="rect">
            <a:avLst/>
          </a:prstGeom>
          <a:solidFill>
            <a:srgbClr val="D8D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8892886" y="7098898"/>
            <a:ext cx="4171450" cy="411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100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Foregone consultancy income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13133310" y="7137864"/>
            <a:ext cx="1267366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40000"/>
              </a:lnSpc>
              <a:buNone/>
            </a:pPr>
            <a:r>
              <a:rPr lang="en-US" sz="1800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/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4591149" y="7098898"/>
            <a:ext cx="2458600" cy="411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40000"/>
              </a:lnSpc>
              <a:buNone/>
            </a:pPr>
            <a:r>
              <a:rPr lang="en-US" sz="2100" dirty="0">
                <a:solidFill>
                  <a:srgbClr val="C8482B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£130,000–£264,000</a:t>
            </a:r>
            <a:endParaRPr lang="en-US" sz="2100" dirty="0"/>
          </a:p>
        </p:txBody>
      </p:sp>
      <p:sp>
        <p:nvSpPr>
          <p:cNvPr id="28" name="Shape 26"/>
          <p:cNvSpPr/>
          <p:nvPr/>
        </p:nvSpPr>
        <p:spPr>
          <a:xfrm>
            <a:off x="8892886" y="8425634"/>
            <a:ext cx="8156863" cy="9525"/>
          </a:xfrm>
          <a:prstGeom prst="rect">
            <a:avLst/>
          </a:prstGeom>
          <a:solidFill>
            <a:srgbClr val="D8D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8892886" y="7861846"/>
            <a:ext cx="4171450" cy="411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100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Below-market time on framework, books, standards</a:t>
            </a:r>
            <a:endParaRPr lang="en-US" sz="2100" dirty="0"/>
          </a:p>
        </p:txBody>
      </p:sp>
      <p:sp>
        <p:nvSpPr>
          <p:cNvPr id="30" name="Text 28"/>
          <p:cNvSpPr/>
          <p:nvPr/>
        </p:nvSpPr>
        <p:spPr>
          <a:xfrm>
            <a:off x="13133310" y="7900811"/>
            <a:ext cx="1267366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40000"/>
              </a:lnSpc>
              <a:buNone/>
            </a:pPr>
            <a:r>
              <a:rPr lang="en-US" sz="1800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/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4591149" y="7861846"/>
            <a:ext cx="2458600" cy="411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40000"/>
              </a:lnSpc>
              <a:buNone/>
            </a:pPr>
            <a:r>
              <a:rPr lang="en-US" sz="2100" dirty="0">
                <a:solidFill>
                  <a:srgbClr val="C8482B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£100,000–£200,000</a:t>
            </a:r>
            <a:endParaRPr lang="en-US" sz="2100" dirty="0"/>
          </a:p>
        </p:txBody>
      </p:sp>
      <p:sp>
        <p:nvSpPr>
          <p:cNvPr id="32" name="Shape 30"/>
          <p:cNvSpPr/>
          <p:nvPr/>
        </p:nvSpPr>
        <p:spPr>
          <a:xfrm>
            <a:off x="8892886" y="9188581"/>
            <a:ext cx="8156863" cy="9525"/>
          </a:xfrm>
          <a:prstGeom prst="rect">
            <a:avLst/>
          </a:prstGeom>
          <a:solidFill>
            <a:srgbClr val="D8D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8892886" y="8624793"/>
            <a:ext cx="4171450" cy="411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100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Conferences · podcasts · community (2.5y)</a:t>
            </a:r>
            <a:endParaRPr lang="en-US" sz="2100" dirty="0"/>
          </a:p>
        </p:txBody>
      </p:sp>
      <p:sp>
        <p:nvSpPr>
          <p:cNvPr id="34" name="Text 32"/>
          <p:cNvSpPr/>
          <p:nvPr/>
        </p:nvSpPr>
        <p:spPr>
          <a:xfrm>
            <a:off x="13133310" y="8663758"/>
            <a:ext cx="1267366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40000"/>
              </a:lnSpc>
              <a:buNone/>
            </a:pPr>
            <a:r>
              <a:rPr lang="en-US" sz="1800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/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14591149" y="8624793"/>
            <a:ext cx="2458600" cy="411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40000"/>
              </a:lnSpc>
              <a:buNone/>
            </a:pPr>
            <a:r>
              <a:rPr lang="en-US" sz="2100" dirty="0">
                <a:solidFill>
                  <a:srgbClr val="C8482B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£60,000</a:t>
            </a:r>
            <a:endParaRPr lang="en-US" sz="2100" dirty="0"/>
          </a:p>
        </p:txBody>
      </p:sp>
      <p:sp>
        <p:nvSpPr>
          <p:cNvPr id="36" name="Text 34"/>
          <p:cNvSpPr/>
          <p:nvPr/>
        </p:nvSpPr>
        <p:spPr>
          <a:xfrm>
            <a:off x="1238250" y="9547933"/>
            <a:ext cx="1918760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Tom Cranstoun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3347483" y="9547933"/>
            <a:ext cx="217993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D8D2C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·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3755948" y="9547933"/>
            <a:ext cx="2627720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info@cognovamx.com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4782015" y="9547933"/>
            <a:ext cx="2343935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allabout.network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15801555" y="533346"/>
            <a:ext cx="1324394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24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14 / 15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238250" y="1047750"/>
            <a:ext cx="16285845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432" dirty="0">
                <a:solidFill>
                  <a:srgbClr val="C848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ASK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8250" y="1577240"/>
            <a:ext cx="16285845" cy="12266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4500" kern="0" spc="-81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Pre-Series A infrastructure round. Comfortable with a range; lead investor to shape the structure.</a:t>
            </a:r>
            <a:endParaRPr lang="en-US" sz="4500" dirty="0"/>
          </a:p>
        </p:txBody>
      </p:sp>
      <p:sp>
        <p:nvSpPr>
          <p:cNvPr id="5" name="Shape 3"/>
          <p:cNvSpPr/>
          <p:nvPr/>
        </p:nvSpPr>
        <p:spPr>
          <a:xfrm>
            <a:off x="1238250" y="4767844"/>
            <a:ext cx="7030302" cy="9525"/>
          </a:xfrm>
          <a:prstGeom prst="rect">
            <a:avLst/>
          </a:prstGeom>
          <a:solidFill>
            <a:srgbClr val="D8D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238250" y="3108681"/>
            <a:ext cx="7030302" cy="17318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238250" y="3316499"/>
            <a:ext cx="7241211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252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INVESTABLE ENTITY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38250" y="3693576"/>
            <a:ext cx="7241211" cy="5447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850" kern="0" spc="-14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CogNovaMX Ltd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1238250" y="4257364"/>
            <a:ext cx="7241211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6A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Investable entity: CogNovaMX Ltd — incorporated, 100% founder-owned. CogNovaMX is the trading name of Digital Domain Technologies Ltd.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238250" y="5005090"/>
            <a:ext cx="7030302" cy="2070537"/>
          </a:xfrm>
          <a:prstGeom prst="rect">
            <a:avLst/>
          </a:prstGeom>
          <a:solidFill>
            <a:srgbClr val="C848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504923" y="5214599"/>
            <a:ext cx="6691865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252" dirty="0">
                <a:solidFill>
                  <a:srgbClr val="FBF2E6">
                    <a:alpha val="85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MILESTONE WE'RE BUYING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504923" y="5839339"/>
            <a:ext cx="6691865" cy="8553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650" b="1" dirty="0">
                <a:solidFill>
                  <a:srgbClr val="FBF2E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500+ paying publishers; Local REGINALD Machine in 10+ regulated-sector enterprises; valuation shifts from services multiples (2–5×) to platform multiples (50–100×).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1238250" y="7380387"/>
            <a:ext cx="3229367" cy="1655375"/>
          </a:xfrm>
          <a:prstGeom prst="rect">
            <a:avLst/>
          </a:prstGeom>
          <a:solidFill>
            <a:srgbClr val="FBF8F0"/>
          </a:solidFill>
          <a:ln w="8659">
            <a:solidFill>
              <a:srgbClr val="D8D2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475496" y="7598555"/>
            <a:ext cx="2837522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252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TODAY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475496" y="7994709"/>
            <a:ext cx="2837522" cy="46483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400" kern="0" spc="-24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2–5×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475496" y="8497612"/>
            <a:ext cx="2837522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Services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429517" y="7380387"/>
            <a:ext cx="647700" cy="1693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210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→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5039117" y="7380387"/>
            <a:ext cx="3229435" cy="1655375"/>
          </a:xfrm>
          <a:prstGeom prst="rect">
            <a:avLst/>
          </a:prstGeom>
          <a:solidFill>
            <a:srgbClr val="1A1A1A"/>
          </a:solidFill>
          <a:ln w="8659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276363" y="7598555"/>
            <a:ext cx="2837592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252" dirty="0">
                <a:solidFill>
                  <a:srgbClr val="F5F1E8">
                    <a:alpha val="65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AT MILESTONE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5276363" y="7994709"/>
            <a:ext cx="2837592" cy="46483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400" kern="0" spc="-24" dirty="0">
                <a:solidFill>
                  <a:srgbClr val="E07A5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50–100×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5276363" y="8497612"/>
            <a:ext cx="2837592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F5F1E8">
                    <a:alpha val="65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Platform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316302" y="3108681"/>
            <a:ext cx="7965451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252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USE OF FUNDS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9316298" y="4374802"/>
            <a:ext cx="7733447" cy="9525"/>
          </a:xfrm>
          <a:prstGeom prst="rect">
            <a:avLst/>
          </a:prstGeom>
          <a:solidFill>
            <a:srgbClr val="D8D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9316302" y="3647710"/>
            <a:ext cx="647700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108" dirty="0">
                <a:solidFill>
                  <a:srgbClr val="C848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0059226" y="3669357"/>
            <a:ext cx="7200240" cy="312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Three hires — senior engineer (REGINALD production), second 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0059226" y="3986699"/>
            <a:ext cx="7200240" cy="2952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500" dirty="0">
                <a:solidFill>
                  <a:srgbClr val="6A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/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9316301" y="5151009"/>
            <a:ext cx="7733447" cy="9525"/>
          </a:xfrm>
          <a:prstGeom prst="rect">
            <a:avLst/>
          </a:prstGeom>
          <a:solidFill>
            <a:srgbClr val="D8D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9316302" y="4423916"/>
            <a:ext cx="647700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108" dirty="0">
                <a:solidFill>
                  <a:srgbClr val="C848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0059226" y="4445564"/>
            <a:ext cx="7200240" cy="312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Local REGINALD Machine — on-prem enterprise licensing (prima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0059226" y="4762906"/>
            <a:ext cx="7200240" cy="2952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500" dirty="0">
                <a:solidFill>
                  <a:srgbClr val="6A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/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9316300" y="5927215"/>
            <a:ext cx="7733447" cy="9525"/>
          </a:xfrm>
          <a:prstGeom prst="rect">
            <a:avLst/>
          </a:prstGeom>
          <a:solidFill>
            <a:srgbClr val="D8D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9316302" y="5200122"/>
            <a:ext cx="647700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108" dirty="0">
                <a:solidFill>
                  <a:srgbClr val="C848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10059226" y="5221770"/>
            <a:ext cx="7200240" cy="312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Marketing and go-to-market; agency certification programme; 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10059226" y="5539112"/>
            <a:ext cx="7200240" cy="2952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500" dirty="0">
                <a:solidFill>
                  <a:srgbClr val="6A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/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9316302" y="6703421"/>
            <a:ext cx="7733447" cy="9525"/>
          </a:xfrm>
          <a:prstGeom prst="rect">
            <a:avLst/>
          </a:prstGeom>
          <a:solidFill>
            <a:srgbClr val="D8D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9316302" y="5976328"/>
            <a:ext cx="647700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108" dirty="0">
                <a:solidFill>
                  <a:srgbClr val="C848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10059226" y="5997976"/>
            <a:ext cx="7200240" cy="312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Local Reginald Machine — on-prem licensing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10059226" y="6315319"/>
            <a:ext cx="7200240" cy="2952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500" dirty="0">
                <a:solidFill>
                  <a:srgbClr val="6A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Primary revenue motion.</a:t>
            </a:r>
            <a:endParaRPr lang="en-US" sz="1500" dirty="0"/>
          </a:p>
        </p:txBody>
      </p:sp>
      <p:sp>
        <p:nvSpPr>
          <p:cNvPr id="39" name="Shape 37"/>
          <p:cNvSpPr/>
          <p:nvPr/>
        </p:nvSpPr>
        <p:spPr>
          <a:xfrm>
            <a:off x="9316299" y="7479627"/>
            <a:ext cx="7733447" cy="9525"/>
          </a:xfrm>
          <a:prstGeom prst="rect">
            <a:avLst/>
          </a:prstGeom>
          <a:solidFill>
            <a:srgbClr val="D8D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9316302" y="6752535"/>
            <a:ext cx="647700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108" dirty="0">
                <a:solidFill>
                  <a:srgbClr val="C848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</a:t>
            </a:r>
            <a:endParaRPr lang="en-US" sz="1800" dirty="0"/>
          </a:p>
        </p:txBody>
      </p:sp>
      <p:sp>
        <p:nvSpPr>
          <p:cNvPr id="41" name="Text 39"/>
          <p:cNvSpPr/>
          <p:nvPr/>
        </p:nvSpPr>
        <p:spPr>
          <a:xfrm>
            <a:off x="10059226" y="6774182"/>
            <a:ext cx="7200240" cy="312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REGINALD SaaS hardening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10059226" y="7091525"/>
            <a:ext cx="7200240" cy="2952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500" dirty="0">
                <a:solidFill>
                  <a:srgbClr val="6A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production scale.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9316302" y="8255833"/>
            <a:ext cx="7733447" cy="9525"/>
          </a:xfrm>
          <a:prstGeom prst="rect">
            <a:avLst/>
          </a:prstGeom>
          <a:solidFill>
            <a:srgbClr val="D8D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9316302" y="7528741"/>
            <a:ext cx="647700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108" dirty="0">
                <a:solidFill>
                  <a:srgbClr val="C848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06</a:t>
            </a:r>
            <a:endParaRPr lang="en-US" sz="1800" dirty="0"/>
          </a:p>
        </p:txBody>
      </p:sp>
      <p:sp>
        <p:nvSpPr>
          <p:cNvPr id="45" name="Text 43"/>
          <p:cNvSpPr/>
          <p:nvPr/>
        </p:nvSpPr>
        <p:spPr>
          <a:xfrm>
            <a:off x="10059226" y="7550389"/>
            <a:ext cx="7200240" cy="312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Marketing and go-to-market</a:t>
            </a:r>
            <a:endParaRPr lang="en-US" sz="1800" dirty="0"/>
          </a:p>
        </p:txBody>
      </p:sp>
      <p:sp>
        <p:nvSpPr>
          <p:cNvPr id="46" name="Text 44"/>
          <p:cNvSpPr/>
          <p:nvPr/>
        </p:nvSpPr>
        <p:spPr>
          <a:xfrm>
            <a:off x="10059226" y="7867731"/>
            <a:ext cx="7200240" cy="2952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500" dirty="0">
                <a:solidFill>
                  <a:srgbClr val="6A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Agency certification programme.</a:t>
            </a:r>
            <a:endParaRPr lang="en-US" sz="1500" dirty="0"/>
          </a:p>
        </p:txBody>
      </p:sp>
      <p:sp>
        <p:nvSpPr>
          <p:cNvPr id="47" name="Shape 45"/>
          <p:cNvSpPr/>
          <p:nvPr/>
        </p:nvSpPr>
        <p:spPr>
          <a:xfrm>
            <a:off x="9316302" y="8986783"/>
            <a:ext cx="7733447" cy="9525"/>
          </a:xfrm>
          <a:prstGeom prst="rect">
            <a:avLst/>
          </a:prstGeom>
          <a:solidFill>
            <a:srgbClr val="D8D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9316302" y="8304947"/>
            <a:ext cx="647700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108" dirty="0">
                <a:solidFill>
                  <a:srgbClr val="C848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07</a:t>
            </a:r>
            <a:endParaRPr lang="en-US" sz="1800" dirty="0"/>
          </a:p>
        </p:txBody>
      </p:sp>
      <p:sp>
        <p:nvSpPr>
          <p:cNvPr id="49" name="Text 47"/>
          <p:cNvSpPr/>
          <p:nvPr/>
        </p:nvSpPr>
        <p:spPr>
          <a:xfrm>
            <a:off x="10059226" y="8326595"/>
            <a:ext cx="7200240" cy="312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The Gathering — operational support · reserve</a:t>
            </a:r>
            <a:endParaRPr lang="en-US" sz="1800" dirty="0"/>
          </a:p>
        </p:txBody>
      </p:sp>
      <p:sp>
        <p:nvSpPr>
          <p:cNvPr id="50" name="Text 48"/>
          <p:cNvSpPr/>
          <p:nvPr/>
        </p:nvSpPr>
        <p:spPr>
          <a:xfrm>
            <a:off x="10059226" y="8643937"/>
            <a:ext cx="7200240" cy="2952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500" dirty="0">
                <a:solidFill>
                  <a:srgbClr val="6A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Standards body · contingency.</a:t>
            </a:r>
            <a:endParaRPr lang="en-US" sz="1500" dirty="0"/>
          </a:p>
        </p:txBody>
      </p:sp>
      <p:sp>
        <p:nvSpPr>
          <p:cNvPr id="51" name="Text 49"/>
          <p:cNvSpPr/>
          <p:nvPr/>
        </p:nvSpPr>
        <p:spPr>
          <a:xfrm>
            <a:off x="1238250" y="9547933"/>
            <a:ext cx="1918760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Tom Cranstoun</a:t>
            </a:r>
            <a:endParaRPr lang="en-US" sz="1800" dirty="0"/>
          </a:p>
        </p:txBody>
      </p:sp>
      <p:sp>
        <p:nvSpPr>
          <p:cNvPr id="52" name="Text 50"/>
          <p:cNvSpPr/>
          <p:nvPr/>
        </p:nvSpPr>
        <p:spPr>
          <a:xfrm>
            <a:off x="3347483" y="9547933"/>
            <a:ext cx="217993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D8D2C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·</a:t>
            </a:r>
            <a:endParaRPr lang="en-US" sz="1800" dirty="0"/>
          </a:p>
        </p:txBody>
      </p:sp>
      <p:sp>
        <p:nvSpPr>
          <p:cNvPr id="53" name="Text 51"/>
          <p:cNvSpPr/>
          <p:nvPr/>
        </p:nvSpPr>
        <p:spPr>
          <a:xfrm>
            <a:off x="3755948" y="9547933"/>
            <a:ext cx="2627720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info@cognovamx.com</a:t>
            </a:r>
            <a:endParaRPr lang="en-US" sz="1800" dirty="0"/>
          </a:p>
        </p:txBody>
      </p:sp>
      <p:sp>
        <p:nvSpPr>
          <p:cNvPr id="54" name="Text 52"/>
          <p:cNvSpPr/>
          <p:nvPr/>
        </p:nvSpPr>
        <p:spPr>
          <a:xfrm>
            <a:off x="14782015" y="9547933"/>
            <a:ext cx="2343935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allabout.network</a:t>
            </a:r>
            <a:endParaRPr lang="en-US" sz="1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15801555" y="533346"/>
            <a:ext cx="1324394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24" dirty="0">
                <a:solidFill>
                  <a:srgbClr val="FFFFFF">
                    <a:alpha val="55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 / 15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238250" y="1047750"/>
            <a:ext cx="16285845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432" dirty="0">
                <a:solidFill>
                  <a:srgbClr val="FFFFFF">
                    <a:alpha val="7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CONNECT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8251" y="1562154"/>
            <a:ext cx="9483537" cy="230799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9900" kern="0" spc="-247" dirty="0">
                <a:solidFill>
                  <a:srgbClr val="FBF2E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The machine layer for meaning</a:t>
            </a:r>
            <a:endParaRPr lang="en-US" sz="9900" dirty="0"/>
          </a:p>
        </p:txBody>
      </p:sp>
      <p:sp>
        <p:nvSpPr>
          <p:cNvPr id="5" name="Text 3"/>
          <p:cNvSpPr/>
          <p:nvPr/>
        </p:nvSpPr>
        <p:spPr>
          <a:xfrm>
            <a:off x="1238250" y="4136813"/>
            <a:ext cx="12753975" cy="483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700" i="1" dirty="0">
                <a:solidFill>
                  <a:srgbClr val="FBF2E6">
                    <a:alpha val="85000"/>
                  </a:srgbClr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for everything you publish, everywhere, for every machine that reads it.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1238250" y="5687399"/>
            <a:ext cx="6286500" cy="9525"/>
          </a:xfrm>
          <a:prstGeom prst="rect">
            <a:avLst/>
          </a:prstGeom>
          <a:solidFill>
            <a:srgbClr val="FBF2E6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238250" y="5905567"/>
            <a:ext cx="6475095" cy="2514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200" kern="0" spc="264" dirty="0">
                <a:solidFill>
                  <a:srgbClr val="FBF2E6">
                    <a:alpha val="75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REGISTRY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38250" y="6195106"/>
            <a:ext cx="6475095" cy="6248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3300" kern="0" spc="-16" dirty="0">
                <a:solidFill>
                  <a:srgbClr val="FBF2E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reginald.allabout.network</a:t>
            </a:r>
            <a:endParaRPr lang="en-US" sz="3300" dirty="0"/>
          </a:p>
        </p:txBody>
      </p:sp>
      <p:sp>
        <p:nvSpPr>
          <p:cNvPr id="9" name="Shape 7"/>
          <p:cNvSpPr/>
          <p:nvPr/>
        </p:nvSpPr>
        <p:spPr>
          <a:xfrm>
            <a:off x="8286749" y="5687399"/>
            <a:ext cx="6286500" cy="9525"/>
          </a:xfrm>
          <a:prstGeom prst="rect">
            <a:avLst/>
          </a:prstGeom>
          <a:solidFill>
            <a:srgbClr val="FBF2E6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286749" y="5905567"/>
            <a:ext cx="6475095" cy="2514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200" kern="0" spc="264" dirty="0">
                <a:solidFill>
                  <a:srgbClr val="FBF2E6">
                    <a:alpha val="75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STANDARDS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86749" y="6195106"/>
            <a:ext cx="6475095" cy="6248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3300" kern="0" spc="-16" dirty="0">
                <a:solidFill>
                  <a:srgbClr val="FBF2E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tg.community</a:t>
            </a:r>
            <a:endParaRPr lang="en-US" sz="3300" dirty="0"/>
          </a:p>
        </p:txBody>
      </p:sp>
      <p:sp>
        <p:nvSpPr>
          <p:cNvPr id="12" name="Shape 10"/>
          <p:cNvSpPr/>
          <p:nvPr/>
        </p:nvSpPr>
        <p:spPr>
          <a:xfrm>
            <a:off x="1238250" y="7086586"/>
            <a:ext cx="6286500" cy="9525"/>
          </a:xfrm>
          <a:prstGeom prst="rect">
            <a:avLst/>
          </a:prstGeom>
          <a:solidFill>
            <a:srgbClr val="FBF2E6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238250" y="7304755"/>
            <a:ext cx="6475095" cy="2514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200" kern="0" spc="264" dirty="0">
                <a:solidFill>
                  <a:srgbClr val="FBF2E6">
                    <a:alpha val="75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WEB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38250" y="7594293"/>
            <a:ext cx="6475095" cy="6248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3300" kern="0" spc="-16" dirty="0">
                <a:solidFill>
                  <a:srgbClr val="FBF2E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allabout.network</a:t>
            </a:r>
            <a:endParaRPr lang="en-US" sz="3300" dirty="0"/>
          </a:p>
        </p:txBody>
      </p:sp>
      <p:sp>
        <p:nvSpPr>
          <p:cNvPr id="15" name="Shape 13"/>
          <p:cNvSpPr/>
          <p:nvPr/>
        </p:nvSpPr>
        <p:spPr>
          <a:xfrm>
            <a:off x="8286749" y="7086586"/>
            <a:ext cx="6286500" cy="9525"/>
          </a:xfrm>
          <a:prstGeom prst="rect">
            <a:avLst/>
          </a:prstGeom>
          <a:solidFill>
            <a:srgbClr val="FBF2E6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286749" y="7304755"/>
            <a:ext cx="6475095" cy="2514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200" kern="0" spc="264" dirty="0">
                <a:solidFill>
                  <a:srgbClr val="FBF2E6">
                    <a:alpha val="75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CONTACT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86749" y="7594293"/>
            <a:ext cx="6475095" cy="121154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3300" kern="0" spc="-16" dirty="0">
                <a:solidFill>
                  <a:srgbClr val="FBF2E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info@cognovamx.com | Tom Cranstoun</a:t>
            </a:r>
            <a:endParaRPr lang="en-US" sz="3300" dirty="0"/>
          </a:p>
        </p:txBody>
      </p:sp>
      <p:sp>
        <p:nvSpPr>
          <p:cNvPr id="18" name="Text 16"/>
          <p:cNvSpPr/>
          <p:nvPr/>
        </p:nvSpPr>
        <p:spPr>
          <a:xfrm>
            <a:off x="1238250" y="9547933"/>
            <a:ext cx="1918760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FFFFFF">
                    <a:alpha val="55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Tom Cranstoun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3347483" y="9547933"/>
            <a:ext cx="217993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FFFFFF">
                    <a:alpha val="18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·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3755948" y="9547933"/>
            <a:ext cx="2627720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FFFFFF">
                    <a:alpha val="55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info@cognovamx.com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4782015" y="9547933"/>
            <a:ext cx="2343935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FFFFFF">
                    <a:alpha val="55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allabout.network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3135</Words>
  <Application>Microsoft Macintosh PowerPoint</Application>
  <PresentationFormat>Custom</PresentationFormat>
  <Paragraphs>367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Inter</vt:lpstr>
      <vt:lpstr>JetBrains Mono</vt:lpstr>
      <vt:lpstr>Source Serif 4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tom cranstoun</cp:lastModifiedBy>
  <cp:revision>5</cp:revision>
  <dcterms:created xsi:type="dcterms:W3CDTF">2026-05-06T18:22:45Z</dcterms:created>
  <dcterms:modified xsi:type="dcterms:W3CDTF">2026-05-07T21:46:59Z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x:title">
    <vt:lpwstr>Mx Investor Deck</vt:lpwstr>
  </property>
  <property fmtid="{D5CDD505-2E9C-101B-9397-08002B2CF9AE}" pid="3" name="mx:description">
    <vt:lpwstr>TODO: describe mx-investor-deck.pptx (auto-skeleton; enrich before publishing).</vt:lpwstr>
  </property>
  <property fmtid="{D5CDD505-2E9C-101B-9397-08002B2CF9AE}" pid="4" name="mx:author">
    <vt:lpwstr>MX Graph Builder</vt:lpwstr>
  </property>
  <property fmtid="{D5CDD505-2E9C-101B-9397-08002B2CF9AE}" pid="5" name="mx:version">
    <vt:lpwstr>1.0</vt:lpwstr>
  </property>
  <property fmtid="{D5CDD505-2E9C-101B-9397-08002B2CF9AE}" pid="6" name="mx:created">
    <vt:lpwstr>2026-05-09</vt:lpwstr>
  </property>
  <property fmtid="{D5CDD505-2E9C-101B-9397-08002B2CF9AE}" pid="7" name="mx:modified">
    <vt:lpwstr>2026-05-09</vt:lpwstr>
  </property>
  <property fmtid="{D5CDD505-2E9C-101B-9397-08002B2CF9AE}" pid="8" name="mx:status">
    <vt:lpwstr>active</vt:lpwstr>
  </property>
  <property fmtid="{D5CDD505-2E9C-101B-9397-08002B2CF9AE}" pid="9" name="mx:contentType">
    <vt:lpwstr>presentation</vt:lpwstr>
  </property>
  <property fmtid="{D5CDD505-2E9C-101B-9397-08002B2CF9AE}" pid="10" name="mx:audience">
    <vt:lpwstr>humans,machines</vt:lpwstr>
  </property>
  <property fmtid="{D5CDD505-2E9C-101B-9397-08002B2CF9AE}" pid="11" name="mx:aiAssistance">
    <vt:lpwstr>unknown</vt:lpwstr>
  </property>
  <property fmtid="{D5CDD505-2E9C-101B-9397-08002B2CF9AE}" pid="12" name="mx:aiEditable">
    <vt:lpwstr>false</vt:lpwstr>
  </property>
  <property fmtid="{D5CDD505-2E9C-101B-9397-08002B2CF9AE}" pid="13" name="mx:contentPolicy">
    <vt:lpwstr>TODO: state reuse and citation policy for this asset.</vt:lpwstr>
  </property>
  <property fmtid="{D5CDD505-2E9C-101B-9397-08002B2CF9AE}" pid="14" name="mx:canonicalUri">
    <vt:lpwstr>https://raw.githubusercontent.com/Digital-Domain-Technologies-Ltd/MX-outputs/main/pptx/presentations/mx-investor-deck.pptx</vt:lpwstr>
  </property>
  <property fmtid="{D5CDD505-2E9C-101B-9397-08002B2CF9AE}" pid="15" name="mx:servedAt">
    <vt:lpwstr>https://raw.githubusercontent.com/Digital-Domain-Technologies-Ltd/MX-outputs/main/pptx/presentations/mx-investor-deck.pptx</vt:lpwstr>
  </property>
  <property fmtid="{D5CDD505-2E9C-101B-9397-08002B2CF9AE}" pid="16" name="mx:license">
    <vt:lpwstr>proprietary</vt:lpwstr>
  </property>
  <property fmtid="{D5CDD505-2E9C-101B-9397-08002B2CF9AE}" pid="17" name="mx:runbook">
    <vt:lpwstr>Asset carrying MX metadata in its carrier. Read these fields to learn what the file is, who it is for, and how it may be reused.</vt:lpwstr>
  </property>
  <property fmtid="{D5CDD505-2E9C-101B-9397-08002B2CF9AE}" pid="18" name="mx:sourceFrontmatter">
    <vt:lpwstr>---
title: Mx Investor Deck
description: "TODO: describe mx-investor-deck.pptx (auto-skeleton; enrich before publishing)."
author: MX Graph Builder
created: 2026-05-09
modified: 2026-05-09
version: "1.0"
mx:
  status: active
  contentType: presentation
  audience: [humans, machines]
  aiAssistance: unknown
  aiEditable: "false"
  contentPolicy: "TODO: state reuse and citation policy for this asset."
  canonicalUri: "https://raw.githubusercontent.com/Digital-Domain-Technologies-Ltd/MX-outputs/main/pptx/presentations/mx-investor-deck.pptx"
  servedAt: "https://raw.githubusercontent.com/Digital-Domain-Technologies-Ltd/MX-outputs/main/pptx/presentations/mx-investor-deck.pptx"
  license: proprietary
  runbook: Asset carrying MX metadata in its carrier. Read these fields to learn what the file is, who it is for, and how it may be reused.
---</vt:lpwstr>
  </property>
</Properties>
</file>